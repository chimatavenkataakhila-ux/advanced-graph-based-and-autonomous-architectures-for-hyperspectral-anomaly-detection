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277" r:id="rId3"/>
    <p:sldId id="279" r:id="rId4"/>
    <p:sldId id="280" r:id="rId5"/>
    <p:sldId id="278" r:id="rId6"/>
    <p:sldId id="260" r:id="rId7"/>
    <p:sldId id="407" r:id="rId8"/>
    <p:sldId id="259" r:id="rId9"/>
    <p:sldId id="281" r:id="rId10"/>
    <p:sldId id="382" r:id="rId11"/>
    <p:sldId id="399" r:id="rId12"/>
    <p:sldId id="400" r:id="rId13"/>
    <p:sldId id="401" r:id="rId14"/>
    <p:sldId id="376" r:id="rId15"/>
    <p:sldId id="402" r:id="rId16"/>
    <p:sldId id="364" r:id="rId17"/>
    <p:sldId id="365" r:id="rId18"/>
    <p:sldId id="409" r:id="rId19"/>
    <p:sldId id="403" r:id="rId20"/>
    <p:sldId id="405" r:id="rId21"/>
    <p:sldId id="404" r:id="rId22"/>
    <p:sldId id="386" r:id="rId23"/>
    <p:sldId id="398" r:id="rId24"/>
    <p:sldId id="406" r:id="rId25"/>
    <p:sldId id="393" r:id="rId26"/>
    <p:sldId id="397" r:id="rId27"/>
    <p:sldId id="40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6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BE2782-B7C7-4DB6-A4EF-E521B8E97F17}" type="datetimeFigureOut">
              <a:rPr lang="en-IN" smtClean="0"/>
              <a:t>18-04-2026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FACD84-9E63-424B-BD00-9CC634471E35}" type="slidenum">
              <a:rPr lang="en-IN" smtClean="0"/>
              <a:t>‹#›</a:t>
            </a:fld>
            <a:endParaRPr lang="en-IN"/>
          </a:p>
        </p:txBody>
      </p:sp>
    </p:spTree>
    <p:extLst>
      <p:ext uri="{BB962C8B-B14F-4D97-AF65-F5344CB8AC3E}">
        <p14:creationId xmlns:p14="http://schemas.microsoft.com/office/powerpoint/2010/main" val="3118716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7669-39C1-4779-4736-2EBA12343B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0F4BD9C-3F5C-2206-3FA7-ABFDADD0E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9D3EA42-7B8A-BEC4-F87F-3554B0D0DE98}"/>
              </a:ext>
            </a:extLst>
          </p:cNvPr>
          <p:cNvSpPr>
            <a:spLocks noGrp="1"/>
          </p:cNvSpPr>
          <p:nvPr>
            <p:ph type="dt" sz="half" idx="10"/>
          </p:nvPr>
        </p:nvSpPr>
        <p:spPr/>
        <p:txBody>
          <a:bodyPr/>
          <a:lstStyle/>
          <a:p>
            <a:fld id="{4B3C68EA-C030-497A-83D5-133D6E813EF4}" type="datetimeFigureOut">
              <a:rPr lang="en-IN" smtClean="0"/>
              <a:t>18-04-2026</a:t>
            </a:fld>
            <a:endParaRPr lang="en-IN"/>
          </a:p>
        </p:txBody>
      </p:sp>
      <p:sp>
        <p:nvSpPr>
          <p:cNvPr id="5" name="Footer Placeholder 4">
            <a:extLst>
              <a:ext uri="{FF2B5EF4-FFF2-40B4-BE49-F238E27FC236}">
                <a16:creationId xmlns:a16="http://schemas.microsoft.com/office/drawing/2014/main" id="{587668D1-12A5-CD2E-16DE-1D9C581F1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688EAA-9D86-05FA-62A6-E9191AFCDF4A}"/>
              </a:ext>
            </a:extLst>
          </p:cNvPr>
          <p:cNvSpPr>
            <a:spLocks noGrp="1"/>
          </p:cNvSpPr>
          <p:nvPr>
            <p:ph type="sldNum" sz="quarter" idx="12"/>
          </p:nvPr>
        </p:nvSpPr>
        <p:spPr/>
        <p:txBody>
          <a:bodyPr/>
          <a:lstStyle/>
          <a:p>
            <a:fld id="{42D6B6E9-3EA0-4A7C-8E6E-BA1525F29292}" type="slidenum">
              <a:rPr lang="en-IN" smtClean="0"/>
              <a:t>‹#›</a:t>
            </a:fld>
            <a:endParaRPr lang="en-IN"/>
          </a:p>
        </p:txBody>
      </p:sp>
    </p:spTree>
    <p:extLst>
      <p:ext uri="{BB962C8B-B14F-4D97-AF65-F5344CB8AC3E}">
        <p14:creationId xmlns:p14="http://schemas.microsoft.com/office/powerpoint/2010/main" val="770460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A3743-2CBE-B8F4-475D-14C378CC69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44A783-77DB-3E62-A6DB-7F3F2AE61B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9B1210-322F-1BAB-3D75-75AEA714D5A7}"/>
              </a:ext>
            </a:extLst>
          </p:cNvPr>
          <p:cNvSpPr>
            <a:spLocks noGrp="1"/>
          </p:cNvSpPr>
          <p:nvPr>
            <p:ph type="dt" sz="half" idx="10"/>
          </p:nvPr>
        </p:nvSpPr>
        <p:spPr/>
        <p:txBody>
          <a:bodyPr/>
          <a:lstStyle/>
          <a:p>
            <a:fld id="{4B3C68EA-C030-497A-83D5-133D6E813EF4}" type="datetimeFigureOut">
              <a:rPr lang="en-IN" smtClean="0"/>
              <a:t>18-04-2026</a:t>
            </a:fld>
            <a:endParaRPr lang="en-IN"/>
          </a:p>
        </p:txBody>
      </p:sp>
      <p:sp>
        <p:nvSpPr>
          <p:cNvPr id="5" name="Footer Placeholder 4">
            <a:extLst>
              <a:ext uri="{FF2B5EF4-FFF2-40B4-BE49-F238E27FC236}">
                <a16:creationId xmlns:a16="http://schemas.microsoft.com/office/drawing/2014/main" id="{814A4594-4A64-8648-FA14-EB6AA2CE67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A9A51D-1C5F-F99C-7AAF-C1BAA364169B}"/>
              </a:ext>
            </a:extLst>
          </p:cNvPr>
          <p:cNvSpPr>
            <a:spLocks noGrp="1"/>
          </p:cNvSpPr>
          <p:nvPr>
            <p:ph type="sldNum" sz="quarter" idx="12"/>
          </p:nvPr>
        </p:nvSpPr>
        <p:spPr/>
        <p:txBody>
          <a:bodyPr/>
          <a:lstStyle/>
          <a:p>
            <a:fld id="{42D6B6E9-3EA0-4A7C-8E6E-BA1525F29292}" type="slidenum">
              <a:rPr lang="en-IN" smtClean="0"/>
              <a:t>‹#›</a:t>
            </a:fld>
            <a:endParaRPr lang="en-IN"/>
          </a:p>
        </p:txBody>
      </p:sp>
    </p:spTree>
    <p:extLst>
      <p:ext uri="{BB962C8B-B14F-4D97-AF65-F5344CB8AC3E}">
        <p14:creationId xmlns:p14="http://schemas.microsoft.com/office/powerpoint/2010/main" val="834269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C0AE6-D68D-EF43-93FD-ABA1F05191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AE65E4B-8A2E-F996-EBDA-6CA8D0B5E2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F56B29-2978-2306-5173-8F901D3B966A}"/>
              </a:ext>
            </a:extLst>
          </p:cNvPr>
          <p:cNvSpPr>
            <a:spLocks noGrp="1"/>
          </p:cNvSpPr>
          <p:nvPr>
            <p:ph type="dt" sz="half" idx="10"/>
          </p:nvPr>
        </p:nvSpPr>
        <p:spPr/>
        <p:txBody>
          <a:bodyPr/>
          <a:lstStyle/>
          <a:p>
            <a:fld id="{4B3C68EA-C030-497A-83D5-133D6E813EF4}" type="datetimeFigureOut">
              <a:rPr lang="en-IN" smtClean="0"/>
              <a:t>18-04-2026</a:t>
            </a:fld>
            <a:endParaRPr lang="en-IN"/>
          </a:p>
        </p:txBody>
      </p:sp>
      <p:sp>
        <p:nvSpPr>
          <p:cNvPr id="5" name="Footer Placeholder 4">
            <a:extLst>
              <a:ext uri="{FF2B5EF4-FFF2-40B4-BE49-F238E27FC236}">
                <a16:creationId xmlns:a16="http://schemas.microsoft.com/office/drawing/2014/main" id="{6B93971D-EEB4-965E-18D8-7EF87F7A32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B2E00D-951A-923D-83BC-9CB663004476}"/>
              </a:ext>
            </a:extLst>
          </p:cNvPr>
          <p:cNvSpPr>
            <a:spLocks noGrp="1"/>
          </p:cNvSpPr>
          <p:nvPr>
            <p:ph type="sldNum" sz="quarter" idx="12"/>
          </p:nvPr>
        </p:nvSpPr>
        <p:spPr/>
        <p:txBody>
          <a:bodyPr/>
          <a:lstStyle/>
          <a:p>
            <a:fld id="{42D6B6E9-3EA0-4A7C-8E6E-BA1525F29292}" type="slidenum">
              <a:rPr lang="en-IN" smtClean="0"/>
              <a:t>‹#›</a:t>
            </a:fld>
            <a:endParaRPr lang="en-IN"/>
          </a:p>
        </p:txBody>
      </p:sp>
    </p:spTree>
    <p:extLst>
      <p:ext uri="{BB962C8B-B14F-4D97-AF65-F5344CB8AC3E}">
        <p14:creationId xmlns:p14="http://schemas.microsoft.com/office/powerpoint/2010/main" val="4163813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CE1C-777F-D02C-E551-46D67271CC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5611CE-0499-AD2A-2A2E-D87B54F04C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B8302D2-F370-4F06-B189-735DAE0FA8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D9E46C1-91E9-15AA-3EEA-287F35AB3539}"/>
              </a:ext>
            </a:extLst>
          </p:cNvPr>
          <p:cNvSpPr>
            <a:spLocks noGrp="1"/>
          </p:cNvSpPr>
          <p:nvPr>
            <p:ph type="dt" sz="half" idx="10"/>
          </p:nvPr>
        </p:nvSpPr>
        <p:spPr/>
        <p:txBody>
          <a:bodyPr/>
          <a:lstStyle/>
          <a:p>
            <a:fld id="{4B3C68EA-C030-497A-83D5-133D6E813EF4}" type="datetimeFigureOut">
              <a:rPr lang="en-IN" smtClean="0"/>
              <a:t>18-04-2026</a:t>
            </a:fld>
            <a:endParaRPr lang="en-IN"/>
          </a:p>
        </p:txBody>
      </p:sp>
      <p:sp>
        <p:nvSpPr>
          <p:cNvPr id="6" name="Footer Placeholder 5">
            <a:extLst>
              <a:ext uri="{FF2B5EF4-FFF2-40B4-BE49-F238E27FC236}">
                <a16:creationId xmlns:a16="http://schemas.microsoft.com/office/drawing/2014/main" id="{FDD3E69A-68EF-7DE9-6BB3-58820BE26A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CF1148-5546-5CC0-12FF-C75B022F5D40}"/>
              </a:ext>
            </a:extLst>
          </p:cNvPr>
          <p:cNvSpPr>
            <a:spLocks noGrp="1"/>
          </p:cNvSpPr>
          <p:nvPr>
            <p:ph type="sldNum" sz="quarter" idx="12"/>
          </p:nvPr>
        </p:nvSpPr>
        <p:spPr/>
        <p:txBody>
          <a:bodyPr/>
          <a:lstStyle/>
          <a:p>
            <a:fld id="{42D6B6E9-3EA0-4A7C-8E6E-BA1525F29292}" type="slidenum">
              <a:rPr lang="en-IN" smtClean="0"/>
              <a:t>‹#›</a:t>
            </a:fld>
            <a:endParaRPr lang="en-IN"/>
          </a:p>
        </p:txBody>
      </p:sp>
    </p:spTree>
    <p:extLst>
      <p:ext uri="{BB962C8B-B14F-4D97-AF65-F5344CB8AC3E}">
        <p14:creationId xmlns:p14="http://schemas.microsoft.com/office/powerpoint/2010/main" val="1341284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638D2-F3CB-EC87-343B-FBF87F8E5F4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4DA40D-1BE0-3796-D1BA-D1813FE065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08BA43-4CEF-EA17-F8FE-178E3F6754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4D4431E-50FE-00CC-0461-3D7B5D020D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2CA0BB-7235-8FD0-B860-B6E8FA12CD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E4C0C8-F7B9-9DED-C32D-CFBFCC3F3A7F}"/>
              </a:ext>
            </a:extLst>
          </p:cNvPr>
          <p:cNvSpPr>
            <a:spLocks noGrp="1"/>
          </p:cNvSpPr>
          <p:nvPr>
            <p:ph type="dt" sz="half" idx="10"/>
          </p:nvPr>
        </p:nvSpPr>
        <p:spPr/>
        <p:txBody>
          <a:bodyPr/>
          <a:lstStyle/>
          <a:p>
            <a:fld id="{4B3C68EA-C030-497A-83D5-133D6E813EF4}" type="datetimeFigureOut">
              <a:rPr lang="en-IN" smtClean="0"/>
              <a:t>18-04-2026</a:t>
            </a:fld>
            <a:endParaRPr lang="en-IN"/>
          </a:p>
        </p:txBody>
      </p:sp>
      <p:sp>
        <p:nvSpPr>
          <p:cNvPr id="8" name="Footer Placeholder 7">
            <a:extLst>
              <a:ext uri="{FF2B5EF4-FFF2-40B4-BE49-F238E27FC236}">
                <a16:creationId xmlns:a16="http://schemas.microsoft.com/office/drawing/2014/main" id="{27E52D6D-B57E-3338-9D58-4CCCD79D4B4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DCBA995-7A11-E3CC-CE91-4B52632D7C56}"/>
              </a:ext>
            </a:extLst>
          </p:cNvPr>
          <p:cNvSpPr>
            <a:spLocks noGrp="1"/>
          </p:cNvSpPr>
          <p:nvPr>
            <p:ph type="sldNum" sz="quarter" idx="12"/>
          </p:nvPr>
        </p:nvSpPr>
        <p:spPr/>
        <p:txBody>
          <a:bodyPr/>
          <a:lstStyle/>
          <a:p>
            <a:fld id="{42D6B6E9-3EA0-4A7C-8E6E-BA1525F29292}" type="slidenum">
              <a:rPr lang="en-IN" smtClean="0"/>
              <a:t>‹#›</a:t>
            </a:fld>
            <a:endParaRPr lang="en-IN"/>
          </a:p>
        </p:txBody>
      </p:sp>
    </p:spTree>
    <p:extLst>
      <p:ext uri="{BB962C8B-B14F-4D97-AF65-F5344CB8AC3E}">
        <p14:creationId xmlns:p14="http://schemas.microsoft.com/office/powerpoint/2010/main" val="2950189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17EB-FE98-7CE2-220A-84A5EA75428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B9937F-9F1F-D5B2-EC40-AD0446A9A979}"/>
              </a:ext>
            </a:extLst>
          </p:cNvPr>
          <p:cNvSpPr>
            <a:spLocks noGrp="1"/>
          </p:cNvSpPr>
          <p:nvPr>
            <p:ph type="dt" sz="half" idx="10"/>
          </p:nvPr>
        </p:nvSpPr>
        <p:spPr/>
        <p:txBody>
          <a:bodyPr/>
          <a:lstStyle/>
          <a:p>
            <a:fld id="{4B3C68EA-C030-497A-83D5-133D6E813EF4}" type="datetimeFigureOut">
              <a:rPr lang="en-IN" smtClean="0"/>
              <a:t>18-04-2026</a:t>
            </a:fld>
            <a:endParaRPr lang="en-IN"/>
          </a:p>
        </p:txBody>
      </p:sp>
      <p:sp>
        <p:nvSpPr>
          <p:cNvPr id="4" name="Footer Placeholder 3">
            <a:extLst>
              <a:ext uri="{FF2B5EF4-FFF2-40B4-BE49-F238E27FC236}">
                <a16:creationId xmlns:a16="http://schemas.microsoft.com/office/drawing/2014/main" id="{13859DF3-51B2-D379-F35A-D855A840E83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1FBDD8B-03C7-8CFC-1CCD-118E50EBB2C3}"/>
              </a:ext>
            </a:extLst>
          </p:cNvPr>
          <p:cNvSpPr>
            <a:spLocks noGrp="1"/>
          </p:cNvSpPr>
          <p:nvPr>
            <p:ph type="sldNum" sz="quarter" idx="12"/>
          </p:nvPr>
        </p:nvSpPr>
        <p:spPr/>
        <p:txBody>
          <a:bodyPr/>
          <a:lstStyle/>
          <a:p>
            <a:fld id="{42D6B6E9-3EA0-4A7C-8E6E-BA1525F29292}" type="slidenum">
              <a:rPr lang="en-IN" smtClean="0"/>
              <a:t>‹#›</a:t>
            </a:fld>
            <a:endParaRPr lang="en-IN"/>
          </a:p>
        </p:txBody>
      </p:sp>
    </p:spTree>
    <p:extLst>
      <p:ext uri="{BB962C8B-B14F-4D97-AF65-F5344CB8AC3E}">
        <p14:creationId xmlns:p14="http://schemas.microsoft.com/office/powerpoint/2010/main" val="1566967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35CFF5-2A67-522D-5EDF-E992045AC8EA}"/>
              </a:ext>
            </a:extLst>
          </p:cNvPr>
          <p:cNvSpPr>
            <a:spLocks noGrp="1"/>
          </p:cNvSpPr>
          <p:nvPr>
            <p:ph type="dt" sz="half" idx="10"/>
          </p:nvPr>
        </p:nvSpPr>
        <p:spPr/>
        <p:txBody>
          <a:bodyPr/>
          <a:lstStyle/>
          <a:p>
            <a:fld id="{4B3C68EA-C030-497A-83D5-133D6E813EF4}" type="datetimeFigureOut">
              <a:rPr lang="en-IN" smtClean="0"/>
              <a:t>18-04-2026</a:t>
            </a:fld>
            <a:endParaRPr lang="en-IN"/>
          </a:p>
        </p:txBody>
      </p:sp>
      <p:sp>
        <p:nvSpPr>
          <p:cNvPr id="3" name="Footer Placeholder 2">
            <a:extLst>
              <a:ext uri="{FF2B5EF4-FFF2-40B4-BE49-F238E27FC236}">
                <a16:creationId xmlns:a16="http://schemas.microsoft.com/office/drawing/2014/main" id="{D9BC7EE4-AD0B-4959-0632-4A361BA6F2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97720C8-66A3-E8BC-A338-25CF8FEA7E02}"/>
              </a:ext>
            </a:extLst>
          </p:cNvPr>
          <p:cNvSpPr>
            <a:spLocks noGrp="1"/>
          </p:cNvSpPr>
          <p:nvPr>
            <p:ph type="sldNum" sz="quarter" idx="12"/>
          </p:nvPr>
        </p:nvSpPr>
        <p:spPr/>
        <p:txBody>
          <a:bodyPr/>
          <a:lstStyle/>
          <a:p>
            <a:fld id="{42D6B6E9-3EA0-4A7C-8E6E-BA1525F29292}" type="slidenum">
              <a:rPr lang="en-IN" smtClean="0"/>
              <a:t>‹#›</a:t>
            </a:fld>
            <a:endParaRPr lang="en-IN"/>
          </a:p>
        </p:txBody>
      </p:sp>
    </p:spTree>
    <p:extLst>
      <p:ext uri="{BB962C8B-B14F-4D97-AF65-F5344CB8AC3E}">
        <p14:creationId xmlns:p14="http://schemas.microsoft.com/office/powerpoint/2010/main" val="2333021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45C2-6BEC-B153-DDC4-0B7D857F21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1A9C174-51BA-3559-F7AA-3E28AC72BB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A454C7A-D4EA-FB74-17E0-82237B4EA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1488D8-B2DF-463D-9140-0171A9BA39FA}"/>
              </a:ext>
            </a:extLst>
          </p:cNvPr>
          <p:cNvSpPr>
            <a:spLocks noGrp="1"/>
          </p:cNvSpPr>
          <p:nvPr>
            <p:ph type="dt" sz="half" idx="10"/>
          </p:nvPr>
        </p:nvSpPr>
        <p:spPr/>
        <p:txBody>
          <a:bodyPr/>
          <a:lstStyle/>
          <a:p>
            <a:fld id="{4B3C68EA-C030-497A-83D5-133D6E813EF4}" type="datetimeFigureOut">
              <a:rPr lang="en-IN" smtClean="0"/>
              <a:t>18-04-2026</a:t>
            </a:fld>
            <a:endParaRPr lang="en-IN"/>
          </a:p>
        </p:txBody>
      </p:sp>
      <p:sp>
        <p:nvSpPr>
          <p:cNvPr id="6" name="Footer Placeholder 5">
            <a:extLst>
              <a:ext uri="{FF2B5EF4-FFF2-40B4-BE49-F238E27FC236}">
                <a16:creationId xmlns:a16="http://schemas.microsoft.com/office/drawing/2014/main" id="{B38F00E6-C754-48E8-5846-80AE9F6C2A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75B17E-CBB9-9199-01E8-E5AF1B2ED2A0}"/>
              </a:ext>
            </a:extLst>
          </p:cNvPr>
          <p:cNvSpPr>
            <a:spLocks noGrp="1"/>
          </p:cNvSpPr>
          <p:nvPr>
            <p:ph type="sldNum" sz="quarter" idx="12"/>
          </p:nvPr>
        </p:nvSpPr>
        <p:spPr/>
        <p:txBody>
          <a:bodyPr/>
          <a:lstStyle/>
          <a:p>
            <a:fld id="{42D6B6E9-3EA0-4A7C-8E6E-BA1525F29292}" type="slidenum">
              <a:rPr lang="en-IN" smtClean="0"/>
              <a:t>‹#›</a:t>
            </a:fld>
            <a:endParaRPr lang="en-IN"/>
          </a:p>
        </p:txBody>
      </p:sp>
    </p:spTree>
    <p:extLst>
      <p:ext uri="{BB962C8B-B14F-4D97-AF65-F5344CB8AC3E}">
        <p14:creationId xmlns:p14="http://schemas.microsoft.com/office/powerpoint/2010/main" val="278214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3A43C-E5C7-2842-F524-2B262F9A60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4CE8663-95A7-0147-184D-116DB1075A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27AF519-9AF5-2A47-6982-9DBF166501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B10D1D-9086-E81F-3D25-3D68FE7516F2}"/>
              </a:ext>
            </a:extLst>
          </p:cNvPr>
          <p:cNvSpPr>
            <a:spLocks noGrp="1"/>
          </p:cNvSpPr>
          <p:nvPr>
            <p:ph type="dt" sz="half" idx="10"/>
          </p:nvPr>
        </p:nvSpPr>
        <p:spPr/>
        <p:txBody>
          <a:bodyPr/>
          <a:lstStyle/>
          <a:p>
            <a:fld id="{4B3C68EA-C030-497A-83D5-133D6E813EF4}" type="datetimeFigureOut">
              <a:rPr lang="en-IN" smtClean="0"/>
              <a:t>18-04-2026</a:t>
            </a:fld>
            <a:endParaRPr lang="en-IN"/>
          </a:p>
        </p:txBody>
      </p:sp>
      <p:sp>
        <p:nvSpPr>
          <p:cNvPr id="6" name="Footer Placeholder 5">
            <a:extLst>
              <a:ext uri="{FF2B5EF4-FFF2-40B4-BE49-F238E27FC236}">
                <a16:creationId xmlns:a16="http://schemas.microsoft.com/office/drawing/2014/main" id="{8BAC0654-F27C-1D1B-FD96-22B990D13A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A1A6CC-7AFD-1B48-8BAA-610738D42AF0}"/>
              </a:ext>
            </a:extLst>
          </p:cNvPr>
          <p:cNvSpPr>
            <a:spLocks noGrp="1"/>
          </p:cNvSpPr>
          <p:nvPr>
            <p:ph type="sldNum" sz="quarter" idx="12"/>
          </p:nvPr>
        </p:nvSpPr>
        <p:spPr/>
        <p:txBody>
          <a:bodyPr/>
          <a:lstStyle/>
          <a:p>
            <a:fld id="{42D6B6E9-3EA0-4A7C-8E6E-BA1525F29292}" type="slidenum">
              <a:rPr lang="en-IN" smtClean="0"/>
              <a:t>‹#›</a:t>
            </a:fld>
            <a:endParaRPr lang="en-IN"/>
          </a:p>
        </p:txBody>
      </p:sp>
    </p:spTree>
    <p:extLst>
      <p:ext uri="{BB962C8B-B14F-4D97-AF65-F5344CB8AC3E}">
        <p14:creationId xmlns:p14="http://schemas.microsoft.com/office/powerpoint/2010/main" val="526489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1164C-592F-70E9-CF49-CAE3CF9EE17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0C06EE-2C45-D6DE-6B34-D145478C2D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02648C-5232-5510-347E-5FD8D1F80E50}"/>
              </a:ext>
            </a:extLst>
          </p:cNvPr>
          <p:cNvSpPr>
            <a:spLocks noGrp="1"/>
          </p:cNvSpPr>
          <p:nvPr>
            <p:ph type="dt" sz="half" idx="10"/>
          </p:nvPr>
        </p:nvSpPr>
        <p:spPr/>
        <p:txBody>
          <a:bodyPr/>
          <a:lstStyle/>
          <a:p>
            <a:fld id="{4B3C68EA-C030-497A-83D5-133D6E813EF4}" type="datetimeFigureOut">
              <a:rPr lang="en-IN" smtClean="0"/>
              <a:t>18-04-2026</a:t>
            </a:fld>
            <a:endParaRPr lang="en-IN"/>
          </a:p>
        </p:txBody>
      </p:sp>
      <p:sp>
        <p:nvSpPr>
          <p:cNvPr id="5" name="Footer Placeholder 4">
            <a:extLst>
              <a:ext uri="{FF2B5EF4-FFF2-40B4-BE49-F238E27FC236}">
                <a16:creationId xmlns:a16="http://schemas.microsoft.com/office/drawing/2014/main" id="{A4CE7A7D-BB2F-D103-4B9B-AEA8C38116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0A787C-7BD0-6F43-C2E9-21AE4D1F3B9C}"/>
              </a:ext>
            </a:extLst>
          </p:cNvPr>
          <p:cNvSpPr>
            <a:spLocks noGrp="1"/>
          </p:cNvSpPr>
          <p:nvPr>
            <p:ph type="sldNum" sz="quarter" idx="12"/>
          </p:nvPr>
        </p:nvSpPr>
        <p:spPr/>
        <p:txBody>
          <a:bodyPr/>
          <a:lstStyle/>
          <a:p>
            <a:fld id="{42D6B6E9-3EA0-4A7C-8E6E-BA1525F29292}" type="slidenum">
              <a:rPr lang="en-IN" smtClean="0"/>
              <a:t>‹#›</a:t>
            </a:fld>
            <a:endParaRPr lang="en-IN"/>
          </a:p>
        </p:txBody>
      </p:sp>
    </p:spTree>
    <p:extLst>
      <p:ext uri="{BB962C8B-B14F-4D97-AF65-F5344CB8AC3E}">
        <p14:creationId xmlns:p14="http://schemas.microsoft.com/office/powerpoint/2010/main" val="837817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E94A9F-BF87-781F-A888-4D092B766E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DAD7E5-BAD2-2004-FDF8-AF8A8D6DB8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DFBB22-589F-3A8D-96E7-C6052BA78CB5}"/>
              </a:ext>
            </a:extLst>
          </p:cNvPr>
          <p:cNvSpPr>
            <a:spLocks noGrp="1"/>
          </p:cNvSpPr>
          <p:nvPr>
            <p:ph type="dt" sz="half" idx="10"/>
          </p:nvPr>
        </p:nvSpPr>
        <p:spPr/>
        <p:txBody>
          <a:bodyPr/>
          <a:lstStyle/>
          <a:p>
            <a:fld id="{4B3C68EA-C030-497A-83D5-133D6E813EF4}" type="datetimeFigureOut">
              <a:rPr lang="en-IN" smtClean="0"/>
              <a:t>18-04-2026</a:t>
            </a:fld>
            <a:endParaRPr lang="en-IN"/>
          </a:p>
        </p:txBody>
      </p:sp>
      <p:sp>
        <p:nvSpPr>
          <p:cNvPr id="5" name="Footer Placeholder 4">
            <a:extLst>
              <a:ext uri="{FF2B5EF4-FFF2-40B4-BE49-F238E27FC236}">
                <a16:creationId xmlns:a16="http://schemas.microsoft.com/office/drawing/2014/main" id="{7FE89E8F-DC48-8238-94D8-2AF0B9FDD7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E2E3D3-E942-4E0A-0B3F-086CCF8D2FB4}"/>
              </a:ext>
            </a:extLst>
          </p:cNvPr>
          <p:cNvSpPr>
            <a:spLocks noGrp="1"/>
          </p:cNvSpPr>
          <p:nvPr>
            <p:ph type="sldNum" sz="quarter" idx="12"/>
          </p:nvPr>
        </p:nvSpPr>
        <p:spPr/>
        <p:txBody>
          <a:bodyPr/>
          <a:lstStyle/>
          <a:p>
            <a:fld id="{42D6B6E9-3EA0-4A7C-8E6E-BA1525F29292}" type="slidenum">
              <a:rPr lang="en-IN" smtClean="0"/>
              <a:t>‹#›</a:t>
            </a:fld>
            <a:endParaRPr lang="en-IN"/>
          </a:p>
        </p:txBody>
      </p:sp>
    </p:spTree>
    <p:extLst>
      <p:ext uri="{BB962C8B-B14F-4D97-AF65-F5344CB8AC3E}">
        <p14:creationId xmlns:p14="http://schemas.microsoft.com/office/powerpoint/2010/main" val="904452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E9467B-DDB5-5F25-6EFC-D331C98B60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23C640-7183-401C-FCEC-E3AA9FDF61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E14C1D-5AC6-D0E2-E035-57F8BF89DB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3C68EA-C030-497A-83D5-133D6E813EF4}" type="datetimeFigureOut">
              <a:rPr lang="en-IN" smtClean="0"/>
              <a:t>18-04-2026</a:t>
            </a:fld>
            <a:endParaRPr lang="en-IN"/>
          </a:p>
        </p:txBody>
      </p:sp>
      <p:sp>
        <p:nvSpPr>
          <p:cNvPr id="5" name="Footer Placeholder 4">
            <a:extLst>
              <a:ext uri="{FF2B5EF4-FFF2-40B4-BE49-F238E27FC236}">
                <a16:creationId xmlns:a16="http://schemas.microsoft.com/office/drawing/2014/main" id="{F2105A22-AF63-63F8-0DD0-9E90C906D5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CB67ABB-FFC4-73E4-C0E7-BC6F7CBC57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D6B6E9-3EA0-4A7C-8E6E-BA1525F29292}" type="slidenum">
              <a:rPr lang="en-IN" smtClean="0"/>
              <a:t>‹#›</a:t>
            </a:fld>
            <a:endParaRPr lang="en-IN"/>
          </a:p>
        </p:txBody>
      </p:sp>
    </p:spTree>
    <p:extLst>
      <p:ext uri="{BB962C8B-B14F-4D97-AF65-F5344CB8AC3E}">
        <p14:creationId xmlns:p14="http://schemas.microsoft.com/office/powerpoint/2010/main" val="3532818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EE0B9A7-9905-D655-041A-8A27B642629E}"/>
              </a:ext>
            </a:extLst>
          </p:cNvPr>
          <p:cNvSpPr>
            <a:spLocks noGrp="1"/>
          </p:cNvSpPr>
          <p:nvPr/>
        </p:nvSpPr>
        <p:spPr>
          <a:xfrm>
            <a:off x="1325880" y="1730497"/>
            <a:ext cx="9585959" cy="838200"/>
          </a:xfrm>
          <a:prstGeom prst="rect">
            <a:avLst/>
          </a:prstGeom>
        </p:spPr>
        <p:txBody>
          <a:bodyPr vert="horz" lIns="91440" tIns="45720" rIns="91440" bIns="45720" rtlCol="0" anchor="ctr">
            <a:noAutofit/>
          </a:bodyPr>
          <a:lstStyle>
            <a:defPPr>
              <a:defRPr lang="en-US"/>
            </a:defPPr>
            <a:lvl1pPr marL="0" algn="ctr" defTabSz="914400" rtl="0" eaLnBrk="1" latinLnBrk="0" hangingPunct="1">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dirty="0">
                <a:latin typeface="+mn-lt"/>
              </a:rPr>
              <a:t>Advanced Graph-based and Autonomous Architectures for Hyperspectral Anomaly Detection</a:t>
            </a:r>
          </a:p>
        </p:txBody>
      </p:sp>
      <p:sp>
        <p:nvSpPr>
          <p:cNvPr id="5" name="Subtitle 2">
            <a:extLst>
              <a:ext uri="{FF2B5EF4-FFF2-40B4-BE49-F238E27FC236}">
                <a16:creationId xmlns:a16="http://schemas.microsoft.com/office/drawing/2014/main" id="{F385075E-7438-A78E-1068-9AF56A5A0330}"/>
              </a:ext>
            </a:extLst>
          </p:cNvPr>
          <p:cNvSpPr>
            <a:spLocks noGrp="1"/>
          </p:cNvSpPr>
          <p:nvPr/>
        </p:nvSpPr>
        <p:spPr>
          <a:xfrm>
            <a:off x="2133599" y="3922484"/>
            <a:ext cx="7924801" cy="1524000"/>
          </a:xfrm>
          <a:prstGeom prst="rect">
            <a:avLst/>
          </a:prstGeom>
        </p:spPr>
        <p:txBody>
          <a:bodyPr vert="horz" lIns="91440" tIns="45720" rIns="91440" bIns="45720" rtlCol="0">
            <a:normAutofit fontScale="55000" lnSpcReduction="20000"/>
          </a:bodyPr>
          <a:lstStyle>
            <a:defPPr>
              <a:defRPr lang="en-US"/>
            </a:defPPr>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6600" dirty="0">
                <a:solidFill>
                  <a:schemeClr val="tx1"/>
                </a:solidFill>
                <a:cs typeface="AngsanaUPC" panose="02020603050405020304" pitchFamily="18" charset="-34"/>
              </a:rPr>
              <a:t>Presented by</a:t>
            </a:r>
          </a:p>
          <a:p>
            <a:r>
              <a:rPr lang="en-US" sz="5400" b="1" dirty="0">
                <a:solidFill>
                  <a:srgbClr val="7030A0"/>
                </a:solidFill>
                <a:cs typeface="AngsanaUPC" panose="02020603050405020304" pitchFamily="18" charset="-34"/>
              </a:rPr>
              <a:t>CH. Venkata Akhila(228W1A12E4)  </a:t>
            </a:r>
          </a:p>
          <a:p>
            <a:r>
              <a:rPr lang="en-US" sz="5400" b="1" dirty="0">
                <a:solidFill>
                  <a:srgbClr val="7030A0"/>
                </a:solidFill>
                <a:cs typeface="AngsanaUPC" panose="02020603050405020304" pitchFamily="18" charset="-34"/>
              </a:rPr>
              <a:t>G. Swathi(228W1A12F1)</a:t>
            </a:r>
          </a:p>
          <a:p>
            <a:endParaRPr lang="en-US" sz="5400" b="1" dirty="0">
              <a:solidFill>
                <a:srgbClr val="7030A0"/>
              </a:solidFill>
              <a:cs typeface="AngsanaUPC" panose="02020603050405020304" pitchFamily="18" charset="-34"/>
            </a:endParaRPr>
          </a:p>
          <a:p>
            <a:endParaRPr lang="en-US" b="1" dirty="0">
              <a:solidFill>
                <a:srgbClr val="7030A0"/>
              </a:solidFill>
              <a:cs typeface="AngsanaUPC" panose="02020603050405020304" pitchFamily="18" charset="-34"/>
            </a:endParaRPr>
          </a:p>
          <a:p>
            <a:endParaRPr lang="en-US" dirty="0"/>
          </a:p>
        </p:txBody>
      </p:sp>
      <p:pic>
        <p:nvPicPr>
          <p:cNvPr id="6" name="Picture 5">
            <a:extLst>
              <a:ext uri="{FF2B5EF4-FFF2-40B4-BE49-F238E27FC236}">
                <a16:creationId xmlns:a16="http://schemas.microsoft.com/office/drawing/2014/main" id="{5D5B3215-E19C-1723-D476-C570BF1DDE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703" y="402413"/>
            <a:ext cx="1600199" cy="866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a:extLst>
              <a:ext uri="{FF2B5EF4-FFF2-40B4-BE49-F238E27FC236}">
                <a16:creationId xmlns:a16="http://schemas.microsoft.com/office/drawing/2014/main" id="{F063B797-4F3B-15CE-1540-125BB05F3EED}"/>
              </a:ext>
            </a:extLst>
          </p:cNvPr>
          <p:cNvSpPr txBox="1"/>
          <p:nvPr/>
        </p:nvSpPr>
        <p:spPr>
          <a:xfrm>
            <a:off x="3522921" y="456054"/>
            <a:ext cx="5486400" cy="758857"/>
          </a:xfrm>
          <a:prstGeom prst="rect">
            <a:avLst/>
          </a:prstGeom>
          <a:noFill/>
        </p:spPr>
        <p:txBody>
          <a:bodyPr wrap="square" lIns="19998" tIns="9999" rIns="19998" bIns="9999"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b="1" dirty="0">
                <a:solidFill>
                  <a:srgbClr val="0000FF"/>
                </a:solidFill>
                <a:cs typeface="Times New Roman" pitchFamily="18" charset="0"/>
              </a:rPr>
              <a:t>Department of Information Technology</a:t>
            </a:r>
          </a:p>
          <a:p>
            <a:pPr algn="ctr"/>
            <a:r>
              <a:rPr lang="en-IN" sz="2400" b="1" dirty="0">
                <a:solidFill>
                  <a:srgbClr val="FF0000"/>
                </a:solidFill>
                <a:cs typeface="Times New Roman" pitchFamily="18" charset="0"/>
              </a:rPr>
              <a:t>V R Siddhartha Engineering College </a:t>
            </a:r>
          </a:p>
        </p:txBody>
      </p:sp>
      <p:sp>
        <p:nvSpPr>
          <p:cNvPr id="8" name="TextBox 7">
            <a:extLst>
              <a:ext uri="{FF2B5EF4-FFF2-40B4-BE49-F238E27FC236}">
                <a16:creationId xmlns:a16="http://schemas.microsoft.com/office/drawing/2014/main" id="{0DF2A946-1172-C7F7-B07A-BD35007EBE66}"/>
              </a:ext>
            </a:extLst>
          </p:cNvPr>
          <p:cNvSpPr txBox="1"/>
          <p:nvPr/>
        </p:nvSpPr>
        <p:spPr>
          <a:xfrm>
            <a:off x="3530394" y="2509992"/>
            <a:ext cx="5161221" cy="132343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b="1" dirty="0">
              <a:solidFill>
                <a:srgbClr val="00B050"/>
              </a:solidFill>
            </a:endParaRPr>
          </a:p>
          <a:p>
            <a:pPr algn="ctr"/>
            <a:r>
              <a:rPr lang="en-US" sz="2000" b="1" dirty="0">
                <a:solidFill>
                  <a:srgbClr val="00B050"/>
                </a:solidFill>
              </a:rPr>
              <a:t>Batch-21</a:t>
            </a:r>
          </a:p>
          <a:p>
            <a:pPr algn="ctr"/>
            <a:r>
              <a:rPr lang="en-US" sz="2000" b="1" dirty="0" err="1">
                <a:solidFill>
                  <a:srgbClr val="FF0000"/>
                </a:solidFill>
              </a:rPr>
              <a:t>B.Tech</a:t>
            </a:r>
            <a:r>
              <a:rPr lang="en-US" sz="2000" b="1" dirty="0">
                <a:solidFill>
                  <a:srgbClr val="FF0000"/>
                </a:solidFill>
              </a:rPr>
              <a:t> in Information Technology</a:t>
            </a:r>
          </a:p>
          <a:p>
            <a:pPr algn="ctr"/>
            <a:r>
              <a:rPr lang="en-US" sz="2000" b="1" dirty="0">
                <a:solidFill>
                  <a:srgbClr val="BF11A6"/>
                </a:solidFill>
              </a:rPr>
              <a:t>MAJOR Project Review Presentation</a:t>
            </a:r>
          </a:p>
        </p:txBody>
      </p:sp>
      <p:sp>
        <p:nvSpPr>
          <p:cNvPr id="9" name="Rectangle 8">
            <a:extLst>
              <a:ext uri="{FF2B5EF4-FFF2-40B4-BE49-F238E27FC236}">
                <a16:creationId xmlns:a16="http://schemas.microsoft.com/office/drawing/2014/main" id="{CF32B7D8-AA3C-C1F1-F637-FE078E1BC350}"/>
              </a:ext>
            </a:extLst>
          </p:cNvPr>
          <p:cNvSpPr/>
          <p:nvPr/>
        </p:nvSpPr>
        <p:spPr>
          <a:xfrm>
            <a:off x="2175902" y="5624590"/>
            <a:ext cx="8211879" cy="83099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dirty="0">
                <a:cs typeface="AngsanaUPC" panose="02020603050405020304" pitchFamily="18" charset="-34"/>
              </a:rPr>
              <a:t>Under the guidance of </a:t>
            </a:r>
          </a:p>
          <a:p>
            <a:pPr algn="ctr"/>
            <a:r>
              <a:rPr lang="en-US" sz="2400" b="1" dirty="0">
                <a:solidFill>
                  <a:srgbClr val="FF0000"/>
                </a:solidFill>
                <a:cs typeface="AngsanaUPC" panose="02020603050405020304" pitchFamily="18" charset="-34"/>
              </a:rPr>
              <a:t>Dr. M. Suneetha, HOD Of IT Department</a:t>
            </a:r>
          </a:p>
        </p:txBody>
      </p:sp>
      <p:pic>
        <p:nvPicPr>
          <p:cNvPr id="10" name="Picture 9" descr="Image result for vrsec">
            <a:extLst>
              <a:ext uri="{FF2B5EF4-FFF2-40B4-BE49-F238E27FC236}">
                <a16:creationId xmlns:a16="http://schemas.microsoft.com/office/drawing/2014/main" id="{92448EA0-1651-544F-7196-1AD4B99301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44991" y="214496"/>
            <a:ext cx="1068572" cy="1241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046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Agenda</a:t>
            </a:r>
            <a:endParaRPr b="1"/>
          </a:p>
        </p:txBody>
      </p:sp>
      <p:sp>
        <p:nvSpPr>
          <p:cNvPr id="98" name="Google Shape;98;p2"/>
          <p:cNvSpPr txBox="1">
            <a:spLocks noGrp="1"/>
          </p:cNvSpPr>
          <p:nvPr>
            <p:ph type="body" idx="1"/>
          </p:nvPr>
        </p:nvSpPr>
        <p:spPr>
          <a:xfrm>
            <a:off x="838200" y="1690688"/>
            <a:ext cx="10515600" cy="4351338"/>
          </a:xfrm>
          <a:prstGeom prst="rect">
            <a:avLst/>
          </a:prstGeom>
          <a:noFill/>
          <a:ln>
            <a:noFill/>
          </a:ln>
        </p:spPr>
        <p:txBody>
          <a:bodyPr spcFirstLastPara="1" wrap="square" lIns="91425" tIns="45700" rIns="91425" bIns="45700" anchor="t" anchorCtr="0">
            <a:normAutofit fontScale="85000" lnSpcReduction="20000"/>
          </a:bodyPr>
          <a:lstStyle/>
          <a:p>
            <a:pPr fontAlgn="base"/>
            <a:r>
              <a:rPr lang="en-GB" dirty="0"/>
              <a:t>Introduction and Problem statement</a:t>
            </a:r>
          </a:p>
          <a:p>
            <a:pPr fontAlgn="base"/>
            <a:r>
              <a:rPr lang="en-GB" dirty="0"/>
              <a:t>Objectives and Outcomes of the Project</a:t>
            </a:r>
          </a:p>
          <a:p>
            <a:pPr fontAlgn="base"/>
            <a:r>
              <a:rPr lang="en-GB" dirty="0"/>
              <a:t>Literature Survey and Summary </a:t>
            </a:r>
          </a:p>
          <a:p>
            <a:pPr fontAlgn="base"/>
            <a:r>
              <a:rPr lang="en-GB" dirty="0"/>
              <a:t>Datasets and Requirement </a:t>
            </a:r>
          </a:p>
          <a:p>
            <a:pPr fontAlgn="base"/>
            <a:r>
              <a:rPr lang="en-GB" dirty="0"/>
              <a:t>Algorithms used in the Project</a:t>
            </a:r>
          </a:p>
          <a:p>
            <a:pPr fontAlgn="base"/>
            <a:r>
              <a:rPr lang="en-GB" dirty="0"/>
              <a:t>Architecture diagram</a:t>
            </a:r>
          </a:p>
          <a:p>
            <a:pPr fontAlgn="base"/>
            <a:r>
              <a:rPr lang="en-GB" dirty="0"/>
              <a:t>Implementation steps and Execution</a:t>
            </a:r>
          </a:p>
          <a:p>
            <a:pPr fontAlgn="base"/>
            <a:r>
              <a:rPr lang="en-GB" dirty="0"/>
              <a:t>Results obtained</a:t>
            </a:r>
          </a:p>
          <a:p>
            <a:pPr fontAlgn="base"/>
            <a:r>
              <a:rPr lang="en-GB" dirty="0"/>
              <a:t>Result Analysis &amp; Observations</a:t>
            </a:r>
          </a:p>
          <a:p>
            <a:pPr fontAlgn="base"/>
            <a:r>
              <a:rPr lang="en-GB" dirty="0"/>
              <a:t>Conclusion &amp; Future work</a:t>
            </a:r>
          </a:p>
          <a:p>
            <a:pPr fontAlgn="base"/>
            <a:r>
              <a:rPr lang="en-GB" dirty="0"/>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910" y="365125"/>
            <a:ext cx="10515600" cy="1325563"/>
          </a:xfrm>
        </p:spPr>
        <p:txBody>
          <a:bodyPr/>
          <a:lstStyle/>
          <a:p>
            <a:pPr algn="ctr"/>
            <a:r>
              <a:rPr lang="en-US" b="1" dirty="0"/>
              <a:t>MINI-2</a:t>
            </a:r>
            <a:br>
              <a:rPr lang="en-US" b="1" dirty="0"/>
            </a:br>
            <a:r>
              <a:rPr lang="en-US" b="1" dirty="0"/>
              <a:t>Introduction and Motivation</a:t>
            </a:r>
          </a:p>
        </p:txBody>
      </p:sp>
      <p:sp>
        <p:nvSpPr>
          <p:cNvPr id="3" name="Content Placeholder 2"/>
          <p:cNvSpPr>
            <a:spLocks noGrp="1"/>
          </p:cNvSpPr>
          <p:nvPr>
            <p:ph idx="1"/>
          </p:nvPr>
        </p:nvSpPr>
        <p:spPr>
          <a:xfrm>
            <a:off x="838200" y="1825624"/>
            <a:ext cx="10515600" cy="4667251"/>
          </a:xfrm>
        </p:spPr>
        <p:txBody>
          <a:bodyPr>
            <a:noAutofit/>
          </a:bodyPr>
          <a:lstStyle/>
          <a:p>
            <a:pPr algn="just"/>
            <a:r>
              <a:rPr lang="en-US" sz="2400" dirty="0"/>
              <a:t>Hyperspectral Imaging (HSI) provides detailed spectral signatures across hundreds of contiguous bands, enabling the identification of objects invisible to standard sensors.</a:t>
            </a:r>
          </a:p>
          <a:p>
            <a:pPr algn="just"/>
            <a:r>
              <a:rPr lang="en-US" sz="2400" dirty="0"/>
              <a:t>Hyperspectral Anomaly Detection (HAD) is critical for national defense, as it identifies unauthorized high-altitude aircraft without requiring prior knowledge of their spectral profiles.</a:t>
            </a:r>
          </a:p>
          <a:p>
            <a:pPr algn="just"/>
            <a:r>
              <a:rPr lang="en-US" sz="2400" dirty="0"/>
              <a:t>Detecting these anomalies is challenging due to the subtle spectral differences between small targets and complex geographical backgrounds like urban or coastal areas.</a:t>
            </a:r>
          </a:p>
          <a:p>
            <a:pPr algn="just"/>
            <a:r>
              <a:rPr lang="en-US" sz="2400" dirty="0"/>
              <a:t>Traditional methods often struggle with high-dimensional data, necessitating advanced deep learning models capable of autonomous background modeling and anomaly isolation.</a:t>
            </a:r>
          </a:p>
        </p:txBody>
      </p:sp>
    </p:spTree>
    <p:extLst>
      <p:ext uri="{BB962C8B-B14F-4D97-AF65-F5344CB8AC3E}">
        <p14:creationId xmlns:p14="http://schemas.microsoft.com/office/powerpoint/2010/main" val="3052730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A07F6-641B-AA5D-9778-9729A25BB1F9}"/>
              </a:ext>
            </a:extLst>
          </p:cNvPr>
          <p:cNvSpPr>
            <a:spLocks noGrp="1"/>
          </p:cNvSpPr>
          <p:nvPr>
            <p:ph type="title"/>
          </p:nvPr>
        </p:nvSpPr>
        <p:spPr/>
        <p:txBody>
          <a:bodyPr/>
          <a:lstStyle/>
          <a:p>
            <a:pPr algn="ctr"/>
            <a:r>
              <a:rPr lang="en-US" b="1" dirty="0"/>
              <a:t>Problem Statement</a:t>
            </a:r>
            <a:endParaRPr lang="en-IN" b="1" dirty="0"/>
          </a:p>
        </p:txBody>
      </p:sp>
      <p:sp>
        <p:nvSpPr>
          <p:cNvPr id="3" name="Content Placeholder 2">
            <a:extLst>
              <a:ext uri="{FF2B5EF4-FFF2-40B4-BE49-F238E27FC236}">
                <a16:creationId xmlns:a16="http://schemas.microsoft.com/office/drawing/2014/main" id="{6FAA316D-A733-4561-1347-3A541A96D0E6}"/>
              </a:ext>
            </a:extLst>
          </p:cNvPr>
          <p:cNvSpPr>
            <a:spLocks noGrp="1"/>
          </p:cNvSpPr>
          <p:nvPr>
            <p:ph idx="1"/>
          </p:nvPr>
        </p:nvSpPr>
        <p:spPr>
          <a:xfrm>
            <a:off x="1219200" y="1825625"/>
            <a:ext cx="9606116" cy="4351338"/>
          </a:xfrm>
        </p:spPr>
        <p:txBody>
          <a:bodyPr>
            <a:normAutofit/>
          </a:bodyPr>
          <a:lstStyle/>
          <a:p>
            <a:pPr marL="0" indent="0" algn="just">
              <a:buNone/>
            </a:pPr>
            <a:r>
              <a:rPr lang="en-US" dirty="0"/>
              <a:t>Identification and extraction of subtle spectral signatures from high-dimensional hyperspectral data to characterize complex background patterns, followed by automated background reconstruction using advanced deep learning architectures to isolate high altitude anomalies, for enhancing the precision and reliability of hyperspectral surveillance systems.</a:t>
            </a:r>
            <a:endParaRPr lang="en-IN" sz="2400" dirty="0"/>
          </a:p>
        </p:txBody>
      </p:sp>
    </p:spTree>
    <p:extLst>
      <p:ext uri="{BB962C8B-B14F-4D97-AF65-F5344CB8AC3E}">
        <p14:creationId xmlns:p14="http://schemas.microsoft.com/office/powerpoint/2010/main" val="2507704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1FFF5-FA05-536A-1D37-E257D979C313}"/>
              </a:ext>
            </a:extLst>
          </p:cNvPr>
          <p:cNvSpPr>
            <a:spLocks noGrp="1"/>
          </p:cNvSpPr>
          <p:nvPr>
            <p:ph type="title"/>
          </p:nvPr>
        </p:nvSpPr>
        <p:spPr/>
        <p:txBody>
          <a:bodyPr/>
          <a:lstStyle/>
          <a:p>
            <a:pPr algn="ctr"/>
            <a:r>
              <a:rPr lang="en-US" b="1" dirty="0"/>
              <a:t>Objectives and Outcomes</a:t>
            </a:r>
            <a:endParaRPr lang="en-IN" b="1" dirty="0"/>
          </a:p>
        </p:txBody>
      </p:sp>
      <p:graphicFrame>
        <p:nvGraphicFramePr>
          <p:cNvPr id="4" name="Content Placeholder 3">
            <a:extLst>
              <a:ext uri="{FF2B5EF4-FFF2-40B4-BE49-F238E27FC236}">
                <a16:creationId xmlns:a16="http://schemas.microsoft.com/office/drawing/2014/main" id="{69FCB39E-CB39-64A9-E93C-988E5452B50F}"/>
              </a:ext>
            </a:extLst>
          </p:cNvPr>
          <p:cNvGraphicFramePr>
            <a:graphicFrameLocks noGrp="1"/>
          </p:cNvGraphicFramePr>
          <p:nvPr>
            <p:ph idx="1"/>
            <p:extLst>
              <p:ext uri="{D42A27DB-BD31-4B8C-83A1-F6EECF244321}">
                <p14:modId xmlns:p14="http://schemas.microsoft.com/office/powerpoint/2010/main" val="3478073833"/>
              </p:ext>
            </p:extLst>
          </p:nvPr>
        </p:nvGraphicFramePr>
        <p:xfrm>
          <a:off x="838200" y="1825625"/>
          <a:ext cx="10515600" cy="407373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214556837"/>
                    </a:ext>
                  </a:extLst>
                </a:gridCol>
                <a:gridCol w="5257800">
                  <a:extLst>
                    <a:ext uri="{9D8B030D-6E8A-4147-A177-3AD203B41FA5}">
                      <a16:colId xmlns:a16="http://schemas.microsoft.com/office/drawing/2014/main" val="3583471331"/>
                    </a:ext>
                  </a:extLst>
                </a:gridCol>
              </a:tblGrid>
              <a:tr h="740329">
                <a:tc>
                  <a:txBody>
                    <a:bodyPr/>
                    <a:lstStyle/>
                    <a:p>
                      <a:pPr algn="ctr"/>
                      <a:r>
                        <a:rPr lang="en-US" sz="2400" dirty="0"/>
                        <a:t>Objectives</a:t>
                      </a:r>
                      <a:endParaRPr lang="en-IN" sz="2400" dirty="0"/>
                    </a:p>
                  </a:txBody>
                  <a:tcPr/>
                </a:tc>
                <a:tc>
                  <a:txBody>
                    <a:bodyPr/>
                    <a:lstStyle/>
                    <a:p>
                      <a:pPr algn="ctr"/>
                      <a:r>
                        <a:rPr lang="en-US" sz="2400" dirty="0"/>
                        <a:t>Outcomes</a:t>
                      </a:r>
                      <a:endParaRPr lang="en-IN" sz="2400" dirty="0"/>
                    </a:p>
                  </a:txBody>
                  <a:tcPr/>
                </a:tc>
                <a:extLst>
                  <a:ext uri="{0D108BD9-81ED-4DB2-BD59-A6C34878D82A}">
                    <a16:rowId xmlns:a16="http://schemas.microsoft.com/office/drawing/2014/main" val="46956464"/>
                  </a:ext>
                </a:extLst>
              </a:tr>
              <a:tr h="196744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0" i="0" kern="1200" dirty="0">
                          <a:solidFill>
                            <a:schemeClr val="dk1"/>
                          </a:solidFill>
                          <a:effectLst/>
                          <a:latin typeface="+mn-lt"/>
                          <a:ea typeface="+mn-ea"/>
                          <a:cs typeface="+mn-cs"/>
                        </a:rPr>
                        <a:t>1. To design and implement advanced deep-learning architectures, specifically Gated Transformers and Autonomous Autoencoders, to model complex spectral-spatial correlations in high-dimensional hyperspectral imagery.</a:t>
                      </a:r>
                      <a:endParaRPr lang="en-IN" sz="2000" b="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i="0" kern="1200" dirty="0">
                          <a:solidFill>
                            <a:schemeClr val="dk1"/>
                          </a:solidFill>
                          <a:effectLst/>
                          <a:latin typeface="+mn-lt"/>
                          <a:ea typeface="+mn-ea"/>
                          <a:cs typeface="+mn-cs"/>
                        </a:rPr>
                        <a:t>1.</a:t>
                      </a:r>
                      <a:r>
                        <a:rPr lang="en-US" sz="2000" b="0" i="0" kern="1200" dirty="0">
                          <a:solidFill>
                            <a:schemeClr val="dk1"/>
                          </a:solidFill>
                          <a:effectLst/>
                          <a:latin typeface="+mn-lt"/>
                          <a:ea typeface="+mn-ea"/>
                          <a:cs typeface="+mn-cs"/>
                        </a:rPr>
                        <a:t> Provides a high-fidelity modeling framework that accurately distinguishes subtle aircraft signatures from complex geographical and atmospheric backgrounds.</a:t>
                      </a:r>
                      <a:endParaRPr lang="en-IN" sz="2000" dirty="0"/>
                    </a:p>
                  </a:txBody>
                  <a:tcPr/>
                </a:tc>
                <a:extLst>
                  <a:ext uri="{0D108BD9-81ED-4DB2-BD59-A6C34878D82A}">
                    <a16:rowId xmlns:a16="http://schemas.microsoft.com/office/drawing/2014/main" val="3738872268"/>
                  </a:ext>
                </a:extLst>
              </a:tr>
              <a:tr h="13659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dirty="0"/>
                        <a:t>2. </a:t>
                      </a:r>
                      <a:r>
                        <a:rPr lang="en-US" sz="2000" b="0" i="0" kern="1200" dirty="0">
                          <a:solidFill>
                            <a:schemeClr val="dk1"/>
                          </a:solidFill>
                          <a:effectLst/>
                          <a:latin typeface="+mn-lt"/>
                          <a:ea typeface="+mn-ea"/>
                          <a:cs typeface="+mn-cs"/>
                        </a:rPr>
                        <a:t>To evaluate the models' performance across diverse operational environments (urban, coastal, and island) to ensure consistent reliability in wide-area airspace monitoring.</a:t>
                      </a:r>
                      <a:endParaRPr lang="en-US" sz="200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dirty="0"/>
                        <a:t>2. </a:t>
                      </a:r>
                      <a:r>
                        <a:rPr lang="en-US" sz="2000" b="0" i="0" kern="1200" dirty="0">
                          <a:solidFill>
                            <a:schemeClr val="dk1"/>
                          </a:solidFill>
                          <a:effectLst/>
                          <a:latin typeface="+mn-lt"/>
                          <a:ea typeface="+mn-ea"/>
                          <a:cs typeface="+mn-cs"/>
                        </a:rPr>
                        <a:t>Validates the system's cross-terrain resilience, proving that high-altitude anomalies are successfully identified regardless of the underlying terrestrial complexity.</a:t>
                      </a:r>
                      <a:endParaRPr lang="en-IN" sz="2000" dirty="0"/>
                    </a:p>
                  </a:txBody>
                  <a:tcPr/>
                </a:tc>
                <a:extLst>
                  <a:ext uri="{0D108BD9-81ED-4DB2-BD59-A6C34878D82A}">
                    <a16:rowId xmlns:a16="http://schemas.microsoft.com/office/drawing/2014/main" val="593297310"/>
                  </a:ext>
                </a:extLst>
              </a:tr>
            </a:tbl>
          </a:graphicData>
        </a:graphic>
      </p:graphicFrame>
    </p:spTree>
    <p:extLst>
      <p:ext uri="{BB962C8B-B14F-4D97-AF65-F5344CB8AC3E}">
        <p14:creationId xmlns:p14="http://schemas.microsoft.com/office/powerpoint/2010/main" val="1104232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F62F6A1-B2F8-9856-FCB4-B109343C83C5}"/>
              </a:ext>
            </a:extLst>
          </p:cNvPr>
          <p:cNvGraphicFramePr>
            <a:graphicFrameLocks noGrp="1"/>
          </p:cNvGraphicFramePr>
          <p:nvPr>
            <p:extLst>
              <p:ext uri="{D42A27DB-BD31-4B8C-83A1-F6EECF244321}">
                <p14:modId xmlns:p14="http://schemas.microsoft.com/office/powerpoint/2010/main" val="2915089563"/>
              </p:ext>
            </p:extLst>
          </p:nvPr>
        </p:nvGraphicFramePr>
        <p:xfrm>
          <a:off x="206478" y="666284"/>
          <a:ext cx="11779044" cy="5760720"/>
        </p:xfrm>
        <a:graphic>
          <a:graphicData uri="http://schemas.openxmlformats.org/drawingml/2006/table">
            <a:tbl>
              <a:tblPr firstRow="1" bandRow="1">
                <a:tableStyleId>{5C22544A-7EE6-4342-B048-85BDC9FD1C3A}</a:tableStyleId>
              </a:tblPr>
              <a:tblGrid>
                <a:gridCol w="2151711">
                  <a:extLst>
                    <a:ext uri="{9D8B030D-6E8A-4147-A177-3AD203B41FA5}">
                      <a16:colId xmlns:a16="http://schemas.microsoft.com/office/drawing/2014/main" val="3101629986"/>
                    </a:ext>
                  </a:extLst>
                </a:gridCol>
                <a:gridCol w="1673037">
                  <a:extLst>
                    <a:ext uri="{9D8B030D-6E8A-4147-A177-3AD203B41FA5}">
                      <a16:colId xmlns:a16="http://schemas.microsoft.com/office/drawing/2014/main" val="713144129"/>
                    </a:ext>
                  </a:extLst>
                </a:gridCol>
                <a:gridCol w="2064774">
                  <a:extLst>
                    <a:ext uri="{9D8B030D-6E8A-4147-A177-3AD203B41FA5}">
                      <a16:colId xmlns:a16="http://schemas.microsoft.com/office/drawing/2014/main" val="3088735377"/>
                    </a:ext>
                  </a:extLst>
                </a:gridCol>
                <a:gridCol w="1963174">
                  <a:extLst>
                    <a:ext uri="{9D8B030D-6E8A-4147-A177-3AD203B41FA5}">
                      <a16:colId xmlns:a16="http://schemas.microsoft.com/office/drawing/2014/main" val="2947602061"/>
                    </a:ext>
                  </a:extLst>
                </a:gridCol>
                <a:gridCol w="1963174">
                  <a:extLst>
                    <a:ext uri="{9D8B030D-6E8A-4147-A177-3AD203B41FA5}">
                      <a16:colId xmlns:a16="http://schemas.microsoft.com/office/drawing/2014/main" val="1802857062"/>
                    </a:ext>
                  </a:extLst>
                </a:gridCol>
                <a:gridCol w="1963174">
                  <a:extLst>
                    <a:ext uri="{9D8B030D-6E8A-4147-A177-3AD203B41FA5}">
                      <a16:colId xmlns:a16="http://schemas.microsoft.com/office/drawing/2014/main" val="1078885189"/>
                    </a:ext>
                  </a:extLst>
                </a:gridCol>
              </a:tblGrid>
              <a:tr h="626115">
                <a:tc>
                  <a:txBody>
                    <a:bodyPr/>
                    <a:lstStyle/>
                    <a:p>
                      <a:pPr algn="ctr"/>
                      <a:r>
                        <a:rPr lang="en-IN" sz="1800" b="0" i="0" kern="1200" dirty="0">
                          <a:solidFill>
                            <a:schemeClr val="lt1"/>
                          </a:solidFill>
                          <a:effectLst/>
                          <a:latin typeface="+mn-lt"/>
                          <a:ea typeface="+mn-ea"/>
                          <a:cs typeface="+mn-cs"/>
                        </a:rPr>
                        <a:t>Paper Title</a:t>
                      </a:r>
                      <a:endParaRPr lang="en-IN" dirty="0"/>
                    </a:p>
                  </a:txBody>
                  <a:tcPr/>
                </a:tc>
                <a:tc>
                  <a:txBody>
                    <a:bodyPr/>
                    <a:lstStyle/>
                    <a:p>
                      <a:pPr algn="ctr"/>
                      <a:r>
                        <a:rPr lang="en-IN" sz="1800" b="0" i="0" kern="1200" dirty="0">
                          <a:solidFill>
                            <a:schemeClr val="lt1"/>
                          </a:solidFill>
                          <a:effectLst/>
                          <a:latin typeface="+mn-lt"/>
                          <a:ea typeface="+mn-ea"/>
                          <a:cs typeface="+mn-cs"/>
                        </a:rPr>
                        <a:t>Objectives</a:t>
                      </a:r>
                      <a:endParaRPr lang="en-IN" dirty="0"/>
                    </a:p>
                  </a:txBody>
                  <a:tcPr/>
                </a:tc>
                <a:tc>
                  <a:txBody>
                    <a:bodyPr/>
                    <a:lstStyle/>
                    <a:p>
                      <a:pPr algn="ctr"/>
                      <a:r>
                        <a:rPr lang="en-IN" sz="1800" b="0" i="0" kern="1200" dirty="0">
                          <a:solidFill>
                            <a:schemeClr val="lt1"/>
                          </a:solidFill>
                          <a:effectLst/>
                          <a:latin typeface="+mn-lt"/>
                          <a:ea typeface="+mn-ea"/>
                          <a:cs typeface="+mn-cs"/>
                        </a:rPr>
                        <a:t>Algorithms / Methods</a:t>
                      </a:r>
                      <a:endParaRPr lang="en-IN" dirty="0"/>
                    </a:p>
                  </a:txBody>
                  <a:tcPr/>
                </a:tc>
                <a:tc>
                  <a:txBody>
                    <a:bodyPr/>
                    <a:lstStyle/>
                    <a:p>
                      <a:pPr algn="ctr"/>
                      <a:r>
                        <a:rPr lang="en-IN" sz="1800" b="0" i="0" kern="1200" dirty="0">
                          <a:solidFill>
                            <a:schemeClr val="lt1"/>
                          </a:solidFill>
                          <a:effectLst/>
                          <a:latin typeface="+mn-lt"/>
                          <a:ea typeface="+mn-ea"/>
                          <a:cs typeface="+mn-cs"/>
                        </a:rPr>
                        <a:t>Observations</a:t>
                      </a:r>
                    </a:p>
                  </a:txBody>
                  <a:tcPr/>
                </a:tc>
                <a:tc>
                  <a:txBody>
                    <a:bodyPr/>
                    <a:lstStyle/>
                    <a:p>
                      <a:pPr algn="ctr"/>
                      <a:r>
                        <a:rPr lang="en-IN" sz="1800" b="0" i="0" kern="1200" dirty="0">
                          <a:solidFill>
                            <a:schemeClr val="lt1"/>
                          </a:solidFill>
                          <a:effectLst/>
                          <a:latin typeface="+mn-lt"/>
                          <a:ea typeface="+mn-ea"/>
                          <a:cs typeface="+mn-cs"/>
                        </a:rPr>
                        <a:t>Limitations</a:t>
                      </a:r>
                      <a:endParaRPr lang="en-IN" dirty="0"/>
                    </a:p>
                  </a:txBody>
                  <a:tcPr/>
                </a:tc>
                <a:tc>
                  <a:txBody>
                    <a:bodyPr/>
                    <a:lstStyle/>
                    <a:p>
                      <a:pPr algn="ctr"/>
                      <a:r>
                        <a:rPr lang="en-IN" sz="1800" b="0" i="0" kern="1200" dirty="0">
                          <a:solidFill>
                            <a:schemeClr val="lt1"/>
                          </a:solidFill>
                          <a:effectLst/>
                          <a:latin typeface="+mn-lt"/>
                          <a:ea typeface="+mn-ea"/>
                          <a:cs typeface="+mn-cs"/>
                        </a:rPr>
                        <a:t>Conclusion</a:t>
                      </a:r>
                      <a:endParaRPr lang="en-IN" dirty="0"/>
                    </a:p>
                  </a:txBody>
                  <a:tcPr/>
                </a:tc>
                <a:extLst>
                  <a:ext uri="{0D108BD9-81ED-4DB2-BD59-A6C34878D82A}">
                    <a16:rowId xmlns:a16="http://schemas.microsoft.com/office/drawing/2014/main" val="1306209210"/>
                  </a:ext>
                </a:extLst>
              </a:tr>
              <a:tr h="1875921">
                <a:tc>
                  <a:txBody>
                    <a:bodyPr/>
                    <a:lstStyle/>
                    <a:p>
                      <a:pPr algn="l"/>
                      <a:r>
                        <a:rPr lang="en-IN" sz="1800" b="1" i="0" kern="1200" dirty="0">
                          <a:solidFill>
                            <a:schemeClr val="dk1"/>
                          </a:solidFill>
                          <a:effectLst/>
                          <a:latin typeface="+mn-lt"/>
                          <a:ea typeface="+mn-ea"/>
                          <a:cs typeface="+mn-cs"/>
                        </a:rPr>
                        <a:t>Title:</a:t>
                      </a:r>
                      <a:r>
                        <a:rPr lang="en-IN" sz="1800" b="0" i="0" kern="1200" dirty="0">
                          <a:solidFill>
                            <a:schemeClr val="dk1"/>
                          </a:solidFill>
                          <a:effectLst/>
                          <a:latin typeface="+mn-lt"/>
                          <a:ea typeface="+mn-ea"/>
                          <a:cs typeface="+mn-cs"/>
                        </a:rPr>
                        <a:t> </a:t>
                      </a:r>
                      <a:r>
                        <a:rPr lang="en-IN" sz="1800" dirty="0"/>
                        <a:t>Synergistic Kolmogorov–Arnold Networks and Fidelity-Gated Transformer for Hyperspectral Anomaly Detection</a:t>
                      </a:r>
                      <a:br>
                        <a:rPr lang="en-IN" dirty="0"/>
                      </a:br>
                      <a:r>
                        <a:rPr lang="en-IN" sz="1800" b="1" i="0" kern="1200" dirty="0">
                          <a:solidFill>
                            <a:schemeClr val="dk1"/>
                          </a:solidFill>
                          <a:effectLst/>
                          <a:latin typeface="+mn-lt"/>
                          <a:ea typeface="+mn-ea"/>
                          <a:cs typeface="+mn-cs"/>
                        </a:rPr>
                        <a:t>Year:</a:t>
                      </a:r>
                      <a:r>
                        <a:rPr lang="en-IN" sz="1800" b="0" i="0" kern="1200" dirty="0">
                          <a:solidFill>
                            <a:schemeClr val="dk1"/>
                          </a:solidFill>
                          <a:effectLst/>
                          <a:latin typeface="+mn-lt"/>
                          <a:ea typeface="+mn-ea"/>
                          <a:cs typeface="+mn-cs"/>
                        </a:rPr>
                        <a:t> 2025</a:t>
                      </a:r>
                      <a:endParaRPr lang="en-IN" dirty="0"/>
                    </a:p>
                  </a:txBody>
                  <a:tcPr/>
                </a:tc>
                <a:tc>
                  <a:txBody>
                    <a:bodyPr/>
                    <a:lstStyle/>
                    <a:p>
                      <a:pPr algn="l"/>
                      <a:r>
                        <a:rPr lang="en-US" sz="1800" b="0" i="0" kern="1200" dirty="0">
                          <a:solidFill>
                            <a:schemeClr val="dk1"/>
                          </a:solidFill>
                          <a:effectLst/>
                          <a:latin typeface="+mn-lt"/>
                          <a:ea typeface="+mn-ea"/>
                          <a:cs typeface="+mn-cs"/>
                        </a:rPr>
                        <a:t>Improve HSI background reconstruction fidelity and achieve state-of-the-art detection precision.</a:t>
                      </a:r>
                      <a:endParaRPr lang="en-IN" dirty="0"/>
                    </a:p>
                  </a:txBody>
                  <a:tcPr/>
                </a:tc>
                <a:tc>
                  <a:txBody>
                    <a:bodyPr/>
                    <a:lstStyle/>
                    <a:p>
                      <a:pPr algn="l"/>
                      <a:r>
                        <a:rPr lang="en-IN" sz="1800" b="0" i="0" kern="1200" dirty="0">
                          <a:solidFill>
                            <a:schemeClr val="dk1"/>
                          </a:solidFill>
                          <a:effectLst/>
                          <a:latin typeface="+mn-lt"/>
                          <a:ea typeface="+mn-ea"/>
                          <a:cs typeface="+mn-cs"/>
                        </a:rPr>
                        <a:t>Fidelity-Gated Transformer (GCAT), LARB/GBRB branches, </a:t>
                      </a:r>
                      <a:r>
                        <a:rPr lang="en-IN" sz="1800" b="1" i="0" kern="1200" dirty="0">
                          <a:solidFill>
                            <a:schemeClr val="dk1"/>
                          </a:solidFill>
                          <a:effectLst/>
                          <a:latin typeface="+mn-lt"/>
                          <a:ea typeface="+mn-ea"/>
                          <a:cs typeface="+mn-cs"/>
                        </a:rPr>
                        <a:t>KAN-MLP</a:t>
                      </a:r>
                      <a:r>
                        <a:rPr lang="en-IN" sz="1800" b="0" i="0" kern="1200" dirty="0">
                          <a:solidFill>
                            <a:schemeClr val="dk1"/>
                          </a:solidFill>
                          <a:effectLst/>
                          <a:latin typeface="+mn-lt"/>
                          <a:ea typeface="+mn-ea"/>
                          <a:cs typeface="+mn-cs"/>
                        </a:rPr>
                        <a:t> (Kolmogorov-Arnold Network).</a:t>
                      </a:r>
                      <a:endParaRPr lang="en-IN" dirty="0"/>
                    </a:p>
                  </a:txBody>
                  <a:tcPr/>
                </a:tc>
                <a:tc>
                  <a:txBody>
                    <a:bodyPr/>
                    <a:lstStyle/>
                    <a:p>
                      <a:pPr algn="l"/>
                      <a:r>
                        <a:rPr lang="en-US" sz="1800" b="0" i="0" kern="1200" dirty="0">
                          <a:solidFill>
                            <a:schemeClr val="dk1"/>
                          </a:solidFill>
                          <a:effectLst/>
                          <a:latin typeface="+mn-lt"/>
                          <a:ea typeface="+mn-ea"/>
                          <a:cs typeface="+mn-cs"/>
                        </a:rPr>
                        <a:t>Achieve near-perfect AUC (&gt;0.99); KAN-MLP significantly increases the network's representational capacity.</a:t>
                      </a:r>
                      <a:endParaRPr lang="en-IN" dirty="0"/>
                    </a:p>
                  </a:txBody>
                  <a:tcPr/>
                </a:tc>
                <a:tc>
                  <a:txBody>
                    <a:bodyPr/>
                    <a:lstStyle/>
                    <a:p>
                      <a:pPr algn="l"/>
                      <a:r>
                        <a:rPr lang="en-US" sz="1800" b="0" i="0" kern="1200" dirty="0">
                          <a:solidFill>
                            <a:schemeClr val="dk1"/>
                          </a:solidFill>
                          <a:effectLst/>
                          <a:latin typeface="+mn-lt"/>
                          <a:ea typeface="+mn-ea"/>
                          <a:cs typeface="+mn-cs"/>
                        </a:rPr>
                        <a:t>High computational complexity of KAN layers compared to traditional MLPs.</a:t>
                      </a:r>
                      <a:endParaRPr lang="en-IN" dirty="0"/>
                    </a:p>
                  </a:txBody>
                  <a:tcPr/>
                </a:tc>
                <a:tc>
                  <a:txBody>
                    <a:bodyPr/>
                    <a:lstStyle/>
                    <a:p>
                      <a:pPr algn="l"/>
                      <a:r>
                        <a:rPr lang="en-US" sz="1800" b="0" i="0" kern="1200" dirty="0">
                          <a:solidFill>
                            <a:schemeClr val="dk1"/>
                          </a:solidFill>
                          <a:effectLst/>
                          <a:latin typeface="+mn-lt"/>
                          <a:ea typeface="+mn-ea"/>
                          <a:cs typeface="+mn-cs"/>
                        </a:rPr>
                        <a:t>Proves that fidelity-based gating and learnable activations are critical for high-fidelity HAD.</a:t>
                      </a:r>
                      <a:endParaRPr lang="en-IN" dirty="0"/>
                    </a:p>
                  </a:txBody>
                  <a:tcPr/>
                </a:tc>
                <a:extLst>
                  <a:ext uri="{0D108BD9-81ED-4DB2-BD59-A6C34878D82A}">
                    <a16:rowId xmlns:a16="http://schemas.microsoft.com/office/drawing/2014/main" val="3272816801"/>
                  </a:ext>
                </a:extLst>
              </a:tr>
              <a:tr h="2131729">
                <a:tc>
                  <a:txBody>
                    <a:bodyPr/>
                    <a:lstStyle/>
                    <a:p>
                      <a:pPr algn="l"/>
                      <a:r>
                        <a:rPr lang="en-US" sz="1800" b="1" i="0" kern="1200">
                          <a:solidFill>
                            <a:schemeClr val="dk1"/>
                          </a:solidFill>
                          <a:effectLst/>
                          <a:latin typeface="+mn-lt"/>
                          <a:ea typeface="+mn-ea"/>
                          <a:cs typeface="+mn-cs"/>
                        </a:rPr>
                        <a:t>Title:</a:t>
                      </a:r>
                      <a:r>
                        <a:rPr lang="en-US" sz="1800" b="0" i="0" kern="1200">
                          <a:solidFill>
                            <a:schemeClr val="dk1"/>
                          </a:solidFill>
                          <a:effectLst/>
                          <a:latin typeface="+mn-lt"/>
                          <a:ea typeface="+mn-ea"/>
                          <a:cs typeface="+mn-cs"/>
                        </a:rPr>
                        <a:t> </a:t>
                      </a:r>
                      <a:r>
                        <a:rPr lang="en-IN" sz="1800"/>
                        <a:t>Enhancing hyperspectral anomaly detection with a novel differential network approach for precision and robust background suppression</a:t>
                      </a:r>
                      <a:br>
                        <a:rPr lang="en-US"/>
                      </a:br>
                      <a:r>
                        <a:rPr lang="en-US" sz="1800" b="1" i="0" kern="1200">
                          <a:solidFill>
                            <a:schemeClr val="dk1"/>
                          </a:solidFill>
                          <a:effectLst/>
                          <a:latin typeface="+mn-lt"/>
                          <a:ea typeface="+mn-ea"/>
                          <a:cs typeface="+mn-cs"/>
                        </a:rPr>
                        <a:t>Year:</a:t>
                      </a:r>
                      <a:r>
                        <a:rPr lang="en-US" sz="1800" b="0" i="0" kern="1200">
                          <a:solidFill>
                            <a:schemeClr val="dk1"/>
                          </a:solidFill>
                          <a:effectLst/>
                          <a:latin typeface="+mn-lt"/>
                          <a:ea typeface="+mn-ea"/>
                          <a:cs typeface="+mn-cs"/>
                        </a:rPr>
                        <a:t> 2024</a:t>
                      </a:r>
                      <a:endParaRPr lang="en-IN" dirty="0"/>
                    </a:p>
                  </a:txBody>
                  <a:tcPr/>
                </a:tc>
                <a:tc>
                  <a:txBody>
                    <a:bodyPr/>
                    <a:lstStyle/>
                    <a:p>
                      <a:pPr algn="l"/>
                      <a:r>
                        <a:rPr lang="en-US" sz="1800" b="0" i="0" kern="1200" dirty="0">
                          <a:solidFill>
                            <a:schemeClr val="dk1"/>
                          </a:solidFill>
                          <a:effectLst/>
                          <a:latin typeface="+mn-lt"/>
                          <a:ea typeface="+mn-ea"/>
                          <a:cs typeface="+mn-cs"/>
                        </a:rPr>
                        <a:t>Enhance local feature extraction to improve background suppression in geographically complex HSI.</a:t>
                      </a:r>
                      <a:endParaRPr lang="en-IN" dirty="0"/>
                    </a:p>
                  </a:txBody>
                  <a:tcPr/>
                </a:tc>
                <a:tc>
                  <a:txBody>
                    <a:bodyPr/>
                    <a:lstStyle/>
                    <a:p>
                      <a:pPr algn="l"/>
                      <a:r>
                        <a:rPr lang="en-IN" sz="1800" b="1" i="0" kern="1200" dirty="0" err="1">
                          <a:solidFill>
                            <a:schemeClr val="dk1"/>
                          </a:solidFill>
                          <a:effectLst/>
                          <a:latin typeface="+mn-lt"/>
                          <a:ea typeface="+mn-ea"/>
                          <a:cs typeface="+mn-cs"/>
                        </a:rPr>
                        <a:t>DifferNet</a:t>
                      </a:r>
                      <a:r>
                        <a:rPr lang="en-IN" sz="1800" b="0" i="0" kern="1200" dirty="0">
                          <a:solidFill>
                            <a:schemeClr val="dk1"/>
                          </a:solidFill>
                          <a:effectLst/>
                          <a:latin typeface="+mn-lt"/>
                          <a:ea typeface="+mn-ea"/>
                          <a:cs typeface="+mn-cs"/>
                        </a:rPr>
                        <a:t>, Differential Convolution (5x5 &amp; 3x3), Local Detail Attention (LDA), Local Transformer Attention (LTA).</a:t>
                      </a:r>
                      <a:endParaRPr lang="en-IN" dirty="0"/>
                    </a:p>
                  </a:txBody>
                  <a:tcPr/>
                </a:tc>
                <a:tc>
                  <a:txBody>
                    <a:bodyPr/>
                    <a:lstStyle/>
                    <a:p>
                      <a:pPr algn="l"/>
                      <a:r>
                        <a:rPr lang="en-US" sz="1800" b="0" i="0" kern="1200" dirty="0">
                          <a:solidFill>
                            <a:schemeClr val="dk1"/>
                          </a:solidFill>
                          <a:effectLst/>
                          <a:latin typeface="+mn-lt"/>
                          <a:ea typeface="+mn-ea"/>
                          <a:cs typeface="+mn-cs"/>
                        </a:rPr>
                        <a:t>Successfully isolates anomalies by subtracting inner window features from outer window features.</a:t>
                      </a:r>
                      <a:endParaRPr lang="en-IN" dirty="0"/>
                    </a:p>
                  </a:txBody>
                  <a:tcPr/>
                </a:tc>
                <a:tc>
                  <a:txBody>
                    <a:bodyPr/>
                    <a:lstStyle/>
                    <a:p>
                      <a:pPr algn="l"/>
                      <a:r>
                        <a:rPr lang="en-US" sz="1800" b="0" i="0" kern="1200" dirty="0">
                          <a:solidFill>
                            <a:schemeClr val="dk1"/>
                          </a:solidFill>
                          <a:effectLst/>
                          <a:latin typeface="+mn-lt"/>
                          <a:ea typeface="+mn-ea"/>
                          <a:cs typeface="+mn-cs"/>
                        </a:rPr>
                        <a:t>Focal area reconstruction may miss global contextual clues in extremely large targets.</a:t>
                      </a:r>
                      <a:endParaRPr lang="en-IN" dirty="0"/>
                    </a:p>
                  </a:txBody>
                  <a:tcPr/>
                </a:tc>
                <a:tc>
                  <a:txBody>
                    <a:bodyPr/>
                    <a:lstStyle/>
                    <a:p>
                      <a:pPr algn="l"/>
                      <a:r>
                        <a:rPr lang="en-US" sz="1800" b="0" i="0" kern="1200" dirty="0">
                          <a:solidFill>
                            <a:schemeClr val="dk1"/>
                          </a:solidFill>
                          <a:effectLst/>
                          <a:latin typeface="+mn-lt"/>
                          <a:ea typeface="+mn-ea"/>
                          <a:cs typeface="+mn-cs"/>
                        </a:rPr>
                        <a:t>Differential networks offer a superior approach to decoupling anomalies from local background noise.</a:t>
                      </a:r>
                      <a:endParaRPr lang="en-IN" dirty="0"/>
                    </a:p>
                  </a:txBody>
                  <a:tcPr/>
                </a:tc>
                <a:extLst>
                  <a:ext uri="{0D108BD9-81ED-4DB2-BD59-A6C34878D82A}">
                    <a16:rowId xmlns:a16="http://schemas.microsoft.com/office/drawing/2014/main" val="280623079"/>
                  </a:ext>
                </a:extLst>
              </a:tr>
            </a:tbl>
          </a:graphicData>
        </a:graphic>
      </p:graphicFrame>
      <p:sp>
        <p:nvSpPr>
          <p:cNvPr id="8" name="TextBox 7">
            <a:extLst>
              <a:ext uri="{FF2B5EF4-FFF2-40B4-BE49-F238E27FC236}">
                <a16:creationId xmlns:a16="http://schemas.microsoft.com/office/drawing/2014/main" id="{D3691580-ACDB-6491-8ADB-CFDE3210DFA2}"/>
              </a:ext>
            </a:extLst>
          </p:cNvPr>
          <p:cNvSpPr txBox="1"/>
          <p:nvPr/>
        </p:nvSpPr>
        <p:spPr>
          <a:xfrm>
            <a:off x="196645" y="69052"/>
            <a:ext cx="2367251" cy="461665"/>
          </a:xfrm>
          <a:prstGeom prst="rect">
            <a:avLst/>
          </a:prstGeom>
          <a:noFill/>
        </p:spPr>
        <p:txBody>
          <a:bodyPr wrap="none" rtlCol="0">
            <a:spAutoFit/>
          </a:bodyPr>
          <a:lstStyle/>
          <a:p>
            <a:r>
              <a:rPr lang="en-IN" sz="2400" b="1" dirty="0"/>
              <a:t>Literature Survey</a:t>
            </a:r>
          </a:p>
        </p:txBody>
      </p:sp>
    </p:spTree>
    <p:extLst>
      <p:ext uri="{BB962C8B-B14F-4D97-AF65-F5344CB8AC3E}">
        <p14:creationId xmlns:p14="http://schemas.microsoft.com/office/powerpoint/2010/main" val="2157943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906655D-DF26-4184-7E27-84B7853E0574}"/>
              </a:ext>
            </a:extLst>
          </p:cNvPr>
          <p:cNvGraphicFramePr>
            <a:graphicFrameLocks noGrp="1"/>
          </p:cNvGraphicFramePr>
          <p:nvPr>
            <p:extLst>
              <p:ext uri="{D42A27DB-BD31-4B8C-83A1-F6EECF244321}">
                <p14:modId xmlns:p14="http://schemas.microsoft.com/office/powerpoint/2010/main" val="3058343244"/>
              </p:ext>
            </p:extLst>
          </p:nvPr>
        </p:nvGraphicFramePr>
        <p:xfrm>
          <a:off x="331019" y="294968"/>
          <a:ext cx="11448024" cy="5978013"/>
        </p:xfrm>
        <a:graphic>
          <a:graphicData uri="http://schemas.openxmlformats.org/drawingml/2006/table">
            <a:tbl>
              <a:tblPr firstRow="1" bandRow="1">
                <a:tableStyleId>{5C22544A-7EE6-4342-B048-85BDC9FD1C3A}</a:tableStyleId>
              </a:tblPr>
              <a:tblGrid>
                <a:gridCol w="1908004">
                  <a:extLst>
                    <a:ext uri="{9D8B030D-6E8A-4147-A177-3AD203B41FA5}">
                      <a16:colId xmlns:a16="http://schemas.microsoft.com/office/drawing/2014/main" val="1333917236"/>
                    </a:ext>
                  </a:extLst>
                </a:gridCol>
                <a:gridCol w="1908004">
                  <a:extLst>
                    <a:ext uri="{9D8B030D-6E8A-4147-A177-3AD203B41FA5}">
                      <a16:colId xmlns:a16="http://schemas.microsoft.com/office/drawing/2014/main" val="3623403000"/>
                    </a:ext>
                  </a:extLst>
                </a:gridCol>
                <a:gridCol w="1908004">
                  <a:extLst>
                    <a:ext uri="{9D8B030D-6E8A-4147-A177-3AD203B41FA5}">
                      <a16:colId xmlns:a16="http://schemas.microsoft.com/office/drawing/2014/main" val="3681660128"/>
                    </a:ext>
                  </a:extLst>
                </a:gridCol>
                <a:gridCol w="1908004">
                  <a:extLst>
                    <a:ext uri="{9D8B030D-6E8A-4147-A177-3AD203B41FA5}">
                      <a16:colId xmlns:a16="http://schemas.microsoft.com/office/drawing/2014/main" val="3901302739"/>
                    </a:ext>
                  </a:extLst>
                </a:gridCol>
                <a:gridCol w="1908004">
                  <a:extLst>
                    <a:ext uri="{9D8B030D-6E8A-4147-A177-3AD203B41FA5}">
                      <a16:colId xmlns:a16="http://schemas.microsoft.com/office/drawing/2014/main" val="376025651"/>
                    </a:ext>
                  </a:extLst>
                </a:gridCol>
                <a:gridCol w="1908004">
                  <a:extLst>
                    <a:ext uri="{9D8B030D-6E8A-4147-A177-3AD203B41FA5}">
                      <a16:colId xmlns:a16="http://schemas.microsoft.com/office/drawing/2014/main" val="182870420"/>
                    </a:ext>
                  </a:extLst>
                </a:gridCol>
              </a:tblGrid>
              <a:tr h="848548">
                <a:tc>
                  <a:txBody>
                    <a:bodyPr/>
                    <a:lstStyle/>
                    <a:p>
                      <a:pPr algn="ctr"/>
                      <a:r>
                        <a:rPr lang="en-IN" sz="1800" b="0" i="0" kern="1200">
                          <a:solidFill>
                            <a:schemeClr val="lt1"/>
                          </a:solidFill>
                          <a:effectLst/>
                          <a:latin typeface="+mn-lt"/>
                          <a:ea typeface="+mn-ea"/>
                          <a:cs typeface="+mn-cs"/>
                        </a:rPr>
                        <a:t>Paper Title</a:t>
                      </a:r>
                      <a:endParaRPr lang="en-IN" dirty="0"/>
                    </a:p>
                  </a:txBody>
                  <a:tcPr/>
                </a:tc>
                <a:tc>
                  <a:txBody>
                    <a:bodyPr/>
                    <a:lstStyle/>
                    <a:p>
                      <a:pPr algn="ctr"/>
                      <a:r>
                        <a:rPr lang="en-IN" sz="1800" b="0" i="0" kern="1200" dirty="0">
                          <a:solidFill>
                            <a:schemeClr val="lt1"/>
                          </a:solidFill>
                          <a:effectLst/>
                          <a:latin typeface="+mn-lt"/>
                          <a:ea typeface="+mn-ea"/>
                          <a:cs typeface="+mn-cs"/>
                        </a:rPr>
                        <a:t>Objectives</a:t>
                      </a:r>
                      <a:endParaRPr lang="en-IN" dirty="0"/>
                    </a:p>
                  </a:txBody>
                  <a:tcPr/>
                </a:tc>
                <a:tc>
                  <a:txBody>
                    <a:bodyPr/>
                    <a:lstStyle/>
                    <a:p>
                      <a:pPr algn="ctr"/>
                      <a:r>
                        <a:rPr lang="en-IN" sz="1800" b="0" i="0" kern="1200" dirty="0">
                          <a:solidFill>
                            <a:schemeClr val="lt1"/>
                          </a:solidFill>
                          <a:effectLst/>
                          <a:latin typeface="+mn-lt"/>
                          <a:ea typeface="+mn-ea"/>
                          <a:cs typeface="+mn-cs"/>
                        </a:rPr>
                        <a:t>Algorithms / Methods</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lt1"/>
                          </a:solidFill>
                          <a:effectLst/>
                          <a:latin typeface="+mn-lt"/>
                          <a:ea typeface="+mn-ea"/>
                          <a:cs typeface="+mn-cs"/>
                        </a:rPr>
                        <a:t>Observations</a:t>
                      </a:r>
                    </a:p>
                    <a:p>
                      <a:pPr algn="ctr"/>
                      <a:endParaRPr lang="en-IN" sz="1800" b="0" i="0" kern="1200" dirty="0">
                        <a:solidFill>
                          <a:schemeClr val="lt1"/>
                        </a:solidFill>
                        <a:effectLst/>
                        <a:latin typeface="+mn-lt"/>
                        <a:ea typeface="+mn-ea"/>
                        <a:cs typeface="+mn-cs"/>
                      </a:endParaRPr>
                    </a:p>
                  </a:txBody>
                  <a:tcPr/>
                </a:tc>
                <a:tc>
                  <a:txBody>
                    <a:bodyPr/>
                    <a:lstStyle/>
                    <a:p>
                      <a:pPr algn="ctr"/>
                      <a:r>
                        <a:rPr lang="en-IN" sz="1800" b="0" i="0" kern="1200" dirty="0">
                          <a:solidFill>
                            <a:schemeClr val="lt1"/>
                          </a:solidFill>
                          <a:effectLst/>
                          <a:latin typeface="+mn-lt"/>
                          <a:ea typeface="+mn-ea"/>
                          <a:cs typeface="+mn-cs"/>
                        </a:rPr>
                        <a:t>Limitations</a:t>
                      </a:r>
                      <a:endParaRPr lang="en-IN" dirty="0"/>
                    </a:p>
                  </a:txBody>
                  <a:tcPr/>
                </a:tc>
                <a:tc>
                  <a:txBody>
                    <a:bodyPr/>
                    <a:lstStyle/>
                    <a:p>
                      <a:pPr algn="ctr"/>
                      <a:r>
                        <a:rPr lang="en-IN" sz="1800" b="0" i="0" kern="1200" dirty="0">
                          <a:solidFill>
                            <a:schemeClr val="lt1"/>
                          </a:solidFill>
                          <a:effectLst/>
                          <a:latin typeface="+mn-lt"/>
                          <a:ea typeface="+mn-ea"/>
                          <a:cs typeface="+mn-cs"/>
                        </a:rPr>
                        <a:t>Conclusion</a:t>
                      </a:r>
                      <a:endParaRPr lang="en-IN" dirty="0"/>
                    </a:p>
                  </a:txBody>
                  <a:tcPr/>
                </a:tc>
                <a:extLst>
                  <a:ext uri="{0D108BD9-81ED-4DB2-BD59-A6C34878D82A}">
                    <a16:rowId xmlns:a16="http://schemas.microsoft.com/office/drawing/2014/main" val="1190650755"/>
                  </a:ext>
                </a:extLst>
              </a:tr>
              <a:tr h="2419559">
                <a:tc>
                  <a:txBody>
                    <a:bodyPr/>
                    <a:lstStyle/>
                    <a:p>
                      <a:r>
                        <a:rPr lang="en-US" sz="1800" b="1" i="0" kern="1200" dirty="0">
                          <a:solidFill>
                            <a:schemeClr val="dk1"/>
                          </a:solidFill>
                          <a:effectLst/>
                          <a:latin typeface="+mn-lt"/>
                          <a:ea typeface="+mn-ea"/>
                          <a:cs typeface="+mn-cs"/>
                        </a:rPr>
                        <a:t>Title:</a:t>
                      </a:r>
                      <a:r>
                        <a:rPr lang="en-US" sz="1800" b="0" i="0" kern="1200" dirty="0">
                          <a:solidFill>
                            <a:schemeClr val="dk1"/>
                          </a:solidFill>
                          <a:effectLst/>
                          <a:latin typeface="+mn-lt"/>
                          <a:ea typeface="+mn-ea"/>
                          <a:cs typeface="+mn-cs"/>
                        </a:rPr>
                        <a:t> </a:t>
                      </a:r>
                      <a:r>
                        <a:rPr lang="en-IN" sz="1800" dirty="0"/>
                        <a:t>Robust multi-stage progressive autoencoder for hyperspectral anomaly detection</a:t>
                      </a:r>
                    </a:p>
                    <a:p>
                      <a:r>
                        <a:rPr lang="en-US" sz="1800" b="1" i="0" kern="1200" dirty="0">
                          <a:solidFill>
                            <a:schemeClr val="dk1"/>
                          </a:solidFill>
                          <a:effectLst/>
                          <a:latin typeface="+mn-lt"/>
                          <a:ea typeface="+mn-ea"/>
                          <a:cs typeface="+mn-cs"/>
                        </a:rPr>
                        <a:t>Year:</a:t>
                      </a:r>
                      <a:r>
                        <a:rPr lang="en-US" sz="1800" b="0" i="0" kern="1200" dirty="0">
                          <a:solidFill>
                            <a:schemeClr val="dk1"/>
                          </a:solidFill>
                          <a:effectLst/>
                          <a:latin typeface="+mn-lt"/>
                          <a:ea typeface="+mn-ea"/>
                          <a:cs typeface="+mn-cs"/>
                        </a:rPr>
                        <a:t> 2024</a:t>
                      </a:r>
                      <a:endParaRPr lang="en-IN" dirty="0"/>
                    </a:p>
                  </a:txBody>
                  <a:tcPr/>
                </a:tc>
                <a:tc>
                  <a:txBody>
                    <a:bodyPr/>
                    <a:lstStyle/>
                    <a:p>
                      <a:r>
                        <a:rPr lang="en-US" sz="1800" b="0" i="0" kern="1200" dirty="0">
                          <a:solidFill>
                            <a:schemeClr val="dk1"/>
                          </a:solidFill>
                          <a:effectLst/>
                          <a:latin typeface="+mn-lt"/>
                          <a:ea typeface="+mn-ea"/>
                          <a:cs typeface="+mn-cs"/>
                        </a:rPr>
                        <a:t>Address the oversight of global distribution and long-range dependencies in standard Autoencoders.</a:t>
                      </a:r>
                      <a:endParaRPr lang="en-IN" dirty="0"/>
                    </a:p>
                  </a:txBody>
                  <a:tcPr/>
                </a:tc>
                <a:tc>
                  <a:txBody>
                    <a:bodyPr/>
                    <a:lstStyle/>
                    <a:p>
                      <a:r>
                        <a:rPr lang="en-US" sz="1800" b="1" i="0" kern="1200" dirty="0">
                          <a:solidFill>
                            <a:schemeClr val="dk1"/>
                          </a:solidFill>
                          <a:effectLst/>
                          <a:latin typeface="+mn-lt"/>
                          <a:ea typeface="+mn-ea"/>
                          <a:cs typeface="+mn-cs"/>
                        </a:rPr>
                        <a:t>RMSAD</a:t>
                      </a:r>
                      <a:r>
                        <a:rPr lang="en-US" sz="1800" b="0" i="0" kern="1200" dirty="0">
                          <a:solidFill>
                            <a:schemeClr val="dk1"/>
                          </a:solidFill>
                          <a:effectLst/>
                          <a:latin typeface="+mn-lt"/>
                          <a:ea typeface="+mn-ea"/>
                          <a:cs typeface="+mn-cs"/>
                        </a:rPr>
                        <a:t>, Multi-stage learning, Cross-stage Multi-scale Fusion (CMF), Cross-Stage Spatial Feature Extraction (CSFE).</a:t>
                      </a:r>
                      <a:endParaRPr lang="en-IN" dirty="0"/>
                    </a:p>
                  </a:txBody>
                  <a:tcPr/>
                </a:tc>
                <a:tc>
                  <a:txBody>
                    <a:bodyPr/>
                    <a:lstStyle/>
                    <a:p>
                      <a:r>
                        <a:rPr lang="en-US" sz="1800" b="0" i="0" kern="1200" dirty="0">
                          <a:solidFill>
                            <a:schemeClr val="dk1"/>
                          </a:solidFill>
                          <a:effectLst/>
                          <a:latin typeface="+mn-lt"/>
                          <a:ea typeface="+mn-ea"/>
                          <a:cs typeface="+mn-cs"/>
                        </a:rPr>
                        <a:t>Incremental refinement across stages consistently improves AUC and robustness against noise.</a:t>
                      </a:r>
                      <a:endParaRPr lang="en-IN" dirty="0"/>
                    </a:p>
                  </a:txBody>
                  <a:tcPr/>
                </a:tc>
                <a:tc>
                  <a:txBody>
                    <a:bodyPr/>
                    <a:lstStyle/>
                    <a:p>
                      <a:r>
                        <a:rPr lang="en-US" sz="1800" b="0" i="0" kern="1200" dirty="0">
                          <a:solidFill>
                            <a:schemeClr val="dk1"/>
                          </a:solidFill>
                          <a:effectLst/>
                          <a:latin typeface="+mn-lt"/>
                          <a:ea typeface="+mn-ea"/>
                          <a:cs typeface="+mn-cs"/>
                        </a:rPr>
                        <a:t>Multi-stage architecture results in significantly longer training times and higher complexity.</a:t>
                      </a:r>
                      <a:endParaRPr lang="en-IN" dirty="0"/>
                    </a:p>
                  </a:txBody>
                  <a:tcPr/>
                </a:tc>
                <a:tc>
                  <a:txBody>
                    <a:bodyPr/>
                    <a:lstStyle/>
                    <a:p>
                      <a:r>
                        <a:rPr lang="en-US" sz="1800" b="0" i="0" kern="1200" dirty="0">
                          <a:solidFill>
                            <a:schemeClr val="dk1"/>
                          </a:solidFill>
                          <a:effectLst/>
                          <a:latin typeface="+mn-lt"/>
                          <a:ea typeface="+mn-ea"/>
                          <a:cs typeface="+mn-cs"/>
                        </a:rPr>
                        <a:t>Concludes that progressive learning ensures total restoration of global texture while suppressing anomalies.</a:t>
                      </a:r>
                      <a:endParaRPr lang="en-IN" dirty="0"/>
                    </a:p>
                  </a:txBody>
                  <a:tcPr/>
                </a:tc>
                <a:extLst>
                  <a:ext uri="{0D108BD9-81ED-4DB2-BD59-A6C34878D82A}">
                    <a16:rowId xmlns:a16="http://schemas.microsoft.com/office/drawing/2014/main" val="2602706768"/>
                  </a:ext>
                </a:extLst>
              </a:tr>
              <a:tr h="27099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Title:</a:t>
                      </a:r>
                      <a:r>
                        <a:rPr lang="en-US" sz="1800" b="0" i="0" kern="1200" dirty="0">
                          <a:solidFill>
                            <a:schemeClr val="dk1"/>
                          </a:solidFill>
                          <a:effectLst/>
                          <a:latin typeface="+mn-lt"/>
                          <a:ea typeface="+mn-ea"/>
                          <a:cs typeface="+mn-cs"/>
                        </a:rPr>
                        <a:t> </a:t>
                      </a:r>
                      <a:r>
                        <a:rPr lang="en-US" sz="1800" dirty="0"/>
                        <a:t>Hyperspectral anomaly detection with auto-encoder and independent target</a:t>
                      </a:r>
                      <a:br>
                        <a:rPr lang="en-US" dirty="0"/>
                      </a:br>
                      <a:r>
                        <a:rPr lang="en-US" sz="1800" b="1" i="0" kern="1200" dirty="0">
                          <a:solidFill>
                            <a:schemeClr val="dk1"/>
                          </a:solidFill>
                          <a:effectLst/>
                          <a:latin typeface="+mn-lt"/>
                          <a:ea typeface="+mn-ea"/>
                          <a:cs typeface="+mn-cs"/>
                        </a:rPr>
                        <a:t>Year:</a:t>
                      </a:r>
                      <a:r>
                        <a:rPr lang="en-US" sz="1800" b="0" i="0" kern="1200" dirty="0">
                          <a:solidFill>
                            <a:schemeClr val="dk1"/>
                          </a:solidFill>
                          <a:effectLst/>
                          <a:latin typeface="+mn-lt"/>
                          <a:ea typeface="+mn-ea"/>
                          <a:cs typeface="+mn-cs"/>
                        </a:rPr>
                        <a:t> 2023</a:t>
                      </a:r>
                      <a:endParaRPr lang="en-IN" dirty="0"/>
                    </a:p>
                  </a:txBody>
                  <a:tcPr/>
                </a:tc>
                <a:tc>
                  <a:txBody>
                    <a:bodyPr/>
                    <a:lstStyle/>
                    <a:p>
                      <a:r>
                        <a:rPr lang="en-US" sz="1800" b="0" i="0" kern="1200" dirty="0">
                          <a:solidFill>
                            <a:schemeClr val="dk1"/>
                          </a:solidFill>
                          <a:effectLst/>
                          <a:latin typeface="+mn-lt"/>
                          <a:ea typeface="+mn-ea"/>
                          <a:cs typeface="+mn-cs"/>
                        </a:rPr>
                        <a:t>Achieve unbiased reconstruction of background and target using mathematical decomposition logic.</a:t>
                      </a:r>
                      <a:endParaRPr lang="en-IN" dirty="0"/>
                    </a:p>
                  </a:txBody>
                  <a:tcPr/>
                </a:tc>
                <a:tc>
                  <a:txBody>
                    <a:bodyPr/>
                    <a:lstStyle/>
                    <a:p>
                      <a:r>
                        <a:rPr lang="en-US" sz="1800" b="1" i="0" kern="1200" dirty="0">
                          <a:solidFill>
                            <a:schemeClr val="dk1"/>
                          </a:solidFill>
                          <a:effectLst/>
                          <a:latin typeface="+mn-lt"/>
                          <a:ea typeface="+mn-ea"/>
                          <a:cs typeface="+mn-cs"/>
                        </a:rPr>
                        <a:t>AE-IT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LRaSMD</a:t>
                      </a:r>
                      <a:r>
                        <a:rPr lang="en-US" sz="1800" b="0" i="0" kern="1200" dirty="0">
                          <a:solidFill>
                            <a:schemeClr val="dk1"/>
                          </a:solidFill>
                          <a:effectLst/>
                          <a:latin typeface="+mn-lt"/>
                          <a:ea typeface="+mn-ea"/>
                          <a:cs typeface="+mn-cs"/>
                        </a:rPr>
                        <a:t> (Low Rand and Sparse Decomposition), ATGP target extraction, Sparse Cardinality (SC).</a:t>
                      </a:r>
                      <a:endParaRPr lang="en-IN" dirty="0"/>
                    </a:p>
                  </a:txBody>
                  <a:tcPr/>
                </a:tc>
                <a:tc>
                  <a:txBody>
                    <a:bodyPr/>
                    <a:lstStyle/>
                    <a:p>
                      <a:r>
                        <a:rPr lang="en-US" sz="1800" b="0" i="0" kern="1200" dirty="0">
                          <a:solidFill>
                            <a:schemeClr val="dk1"/>
                          </a:solidFill>
                          <a:effectLst/>
                          <a:latin typeface="+mn-lt"/>
                          <a:ea typeface="+mn-ea"/>
                          <a:cs typeface="+mn-cs"/>
                        </a:rPr>
                        <a:t>Adaptively determines latent layer size based on Virtual Dimension (VD), improving background preference.</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Accuracy is heavily dependent on the precision of the VD estimation module.</a:t>
                      </a:r>
                      <a:endParaRPr lang="en-IN" dirty="0"/>
                    </a:p>
                  </a:txBody>
                  <a:tcPr/>
                </a:tc>
                <a:tc>
                  <a:txBody>
                    <a:bodyPr/>
                    <a:lstStyle/>
                    <a:p>
                      <a:r>
                        <a:rPr lang="en-US" sz="1800" b="0" i="0" kern="1200" dirty="0">
                          <a:solidFill>
                            <a:schemeClr val="dk1"/>
                          </a:solidFill>
                          <a:effectLst/>
                          <a:latin typeface="+mn-lt"/>
                          <a:ea typeface="+mn-ea"/>
                          <a:cs typeface="+mn-cs"/>
                        </a:rPr>
                        <a:t>Integrates traditional subspace decomposition into an unsupervised neural network framework effectively.</a:t>
                      </a:r>
                      <a:endParaRPr lang="en-IN" dirty="0"/>
                    </a:p>
                  </a:txBody>
                  <a:tcPr/>
                </a:tc>
                <a:extLst>
                  <a:ext uri="{0D108BD9-81ED-4DB2-BD59-A6C34878D82A}">
                    <a16:rowId xmlns:a16="http://schemas.microsoft.com/office/drawing/2014/main" val="3339074035"/>
                  </a:ext>
                </a:extLst>
              </a:tr>
            </a:tbl>
          </a:graphicData>
        </a:graphic>
      </p:graphicFrame>
    </p:spTree>
    <p:extLst>
      <p:ext uri="{BB962C8B-B14F-4D97-AF65-F5344CB8AC3E}">
        <p14:creationId xmlns:p14="http://schemas.microsoft.com/office/powerpoint/2010/main" val="88111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73881B8-F573-EFD4-75B2-17C56FA70159}"/>
              </a:ext>
            </a:extLst>
          </p:cNvPr>
          <p:cNvGraphicFramePr>
            <a:graphicFrameLocks noGrp="1"/>
          </p:cNvGraphicFramePr>
          <p:nvPr>
            <p:extLst>
              <p:ext uri="{D42A27DB-BD31-4B8C-83A1-F6EECF244321}">
                <p14:modId xmlns:p14="http://schemas.microsoft.com/office/powerpoint/2010/main" val="988659485"/>
              </p:ext>
            </p:extLst>
          </p:nvPr>
        </p:nvGraphicFramePr>
        <p:xfrm>
          <a:off x="196644" y="570271"/>
          <a:ext cx="11779044" cy="5657274"/>
        </p:xfrm>
        <a:graphic>
          <a:graphicData uri="http://schemas.openxmlformats.org/drawingml/2006/table">
            <a:tbl>
              <a:tblPr firstRow="1" bandRow="1">
                <a:tableStyleId>{5C22544A-7EE6-4342-B048-85BDC9FD1C3A}</a:tableStyleId>
              </a:tblPr>
              <a:tblGrid>
                <a:gridCol w="1963174">
                  <a:extLst>
                    <a:ext uri="{9D8B030D-6E8A-4147-A177-3AD203B41FA5}">
                      <a16:colId xmlns:a16="http://schemas.microsoft.com/office/drawing/2014/main" val="375945719"/>
                    </a:ext>
                  </a:extLst>
                </a:gridCol>
                <a:gridCol w="1596105">
                  <a:extLst>
                    <a:ext uri="{9D8B030D-6E8A-4147-A177-3AD203B41FA5}">
                      <a16:colId xmlns:a16="http://schemas.microsoft.com/office/drawing/2014/main" val="1886926091"/>
                    </a:ext>
                  </a:extLst>
                </a:gridCol>
                <a:gridCol w="2330243">
                  <a:extLst>
                    <a:ext uri="{9D8B030D-6E8A-4147-A177-3AD203B41FA5}">
                      <a16:colId xmlns:a16="http://schemas.microsoft.com/office/drawing/2014/main" val="3761756908"/>
                    </a:ext>
                  </a:extLst>
                </a:gridCol>
                <a:gridCol w="1963174">
                  <a:extLst>
                    <a:ext uri="{9D8B030D-6E8A-4147-A177-3AD203B41FA5}">
                      <a16:colId xmlns:a16="http://schemas.microsoft.com/office/drawing/2014/main" val="2842758246"/>
                    </a:ext>
                  </a:extLst>
                </a:gridCol>
                <a:gridCol w="1963174">
                  <a:extLst>
                    <a:ext uri="{9D8B030D-6E8A-4147-A177-3AD203B41FA5}">
                      <a16:colId xmlns:a16="http://schemas.microsoft.com/office/drawing/2014/main" val="2109510370"/>
                    </a:ext>
                  </a:extLst>
                </a:gridCol>
                <a:gridCol w="1963174">
                  <a:extLst>
                    <a:ext uri="{9D8B030D-6E8A-4147-A177-3AD203B41FA5}">
                      <a16:colId xmlns:a16="http://schemas.microsoft.com/office/drawing/2014/main" val="3818695538"/>
                    </a:ext>
                  </a:extLst>
                </a:gridCol>
              </a:tblGrid>
              <a:tr h="536634">
                <a:tc>
                  <a:txBody>
                    <a:bodyPr/>
                    <a:lstStyle/>
                    <a:p>
                      <a:pPr algn="ctr"/>
                      <a:r>
                        <a:rPr lang="en-IN" sz="1800" b="0" i="0" kern="1200" dirty="0">
                          <a:solidFill>
                            <a:schemeClr val="lt1"/>
                          </a:solidFill>
                          <a:effectLst/>
                          <a:latin typeface="+mn-lt"/>
                          <a:ea typeface="+mn-ea"/>
                          <a:cs typeface="+mn-cs"/>
                        </a:rPr>
                        <a:t>Paper Title</a:t>
                      </a:r>
                      <a:endParaRPr lang="en-IN" dirty="0"/>
                    </a:p>
                  </a:txBody>
                  <a:tcPr/>
                </a:tc>
                <a:tc>
                  <a:txBody>
                    <a:bodyPr/>
                    <a:lstStyle/>
                    <a:p>
                      <a:pPr algn="ctr"/>
                      <a:r>
                        <a:rPr lang="en-IN" sz="1800" b="0" i="0" kern="1200" dirty="0">
                          <a:solidFill>
                            <a:schemeClr val="lt1"/>
                          </a:solidFill>
                          <a:effectLst/>
                          <a:latin typeface="+mn-lt"/>
                          <a:ea typeface="+mn-ea"/>
                          <a:cs typeface="+mn-cs"/>
                        </a:rPr>
                        <a:t>Objectives</a:t>
                      </a:r>
                      <a:endParaRPr lang="en-IN" dirty="0"/>
                    </a:p>
                  </a:txBody>
                  <a:tcPr/>
                </a:tc>
                <a:tc>
                  <a:txBody>
                    <a:bodyPr/>
                    <a:lstStyle/>
                    <a:p>
                      <a:pPr algn="ctr"/>
                      <a:r>
                        <a:rPr lang="en-IN" sz="1800" b="0" i="0" kern="1200" dirty="0">
                          <a:solidFill>
                            <a:schemeClr val="lt1"/>
                          </a:solidFill>
                          <a:effectLst/>
                          <a:latin typeface="+mn-lt"/>
                          <a:ea typeface="+mn-ea"/>
                          <a:cs typeface="+mn-cs"/>
                        </a:rPr>
                        <a:t>Algorithms / Methods</a:t>
                      </a:r>
                      <a:endParaRPr lang="en-IN" dirty="0"/>
                    </a:p>
                  </a:txBody>
                  <a:tcPr/>
                </a:tc>
                <a:tc>
                  <a:txBody>
                    <a:bodyPr/>
                    <a:lstStyle/>
                    <a:p>
                      <a:pPr algn="ctr"/>
                      <a:r>
                        <a:rPr lang="en-IN" sz="1800" b="0" i="0" kern="1200" dirty="0">
                          <a:solidFill>
                            <a:schemeClr val="lt1"/>
                          </a:solidFill>
                          <a:effectLst/>
                          <a:latin typeface="+mn-lt"/>
                          <a:ea typeface="+mn-ea"/>
                          <a:cs typeface="+mn-cs"/>
                        </a:rPr>
                        <a:t>Observations</a:t>
                      </a:r>
                      <a:endParaRPr lang="en-IN" dirty="0"/>
                    </a:p>
                  </a:txBody>
                  <a:tcPr/>
                </a:tc>
                <a:tc>
                  <a:txBody>
                    <a:bodyPr/>
                    <a:lstStyle/>
                    <a:p>
                      <a:pPr algn="ctr"/>
                      <a:r>
                        <a:rPr lang="en-IN" sz="1800" b="0" i="0" kern="1200" dirty="0">
                          <a:solidFill>
                            <a:schemeClr val="lt1"/>
                          </a:solidFill>
                          <a:effectLst/>
                          <a:latin typeface="+mn-lt"/>
                          <a:ea typeface="+mn-ea"/>
                          <a:cs typeface="+mn-cs"/>
                        </a:rPr>
                        <a:t>Limitations</a:t>
                      </a:r>
                      <a:endParaRPr lang="en-IN" dirty="0"/>
                    </a:p>
                  </a:txBody>
                  <a:tcPr/>
                </a:tc>
                <a:tc>
                  <a:txBody>
                    <a:bodyPr/>
                    <a:lstStyle/>
                    <a:p>
                      <a:pPr algn="ctr"/>
                      <a:r>
                        <a:rPr lang="en-IN" sz="1800" b="0" i="0" kern="1200" dirty="0">
                          <a:solidFill>
                            <a:schemeClr val="lt1"/>
                          </a:solidFill>
                          <a:effectLst/>
                          <a:latin typeface="+mn-lt"/>
                          <a:ea typeface="+mn-ea"/>
                          <a:cs typeface="+mn-cs"/>
                        </a:rPr>
                        <a:t>Conclusion</a:t>
                      </a:r>
                      <a:endParaRPr lang="en-IN" dirty="0"/>
                    </a:p>
                  </a:txBody>
                  <a:tcPr/>
                </a:tc>
                <a:extLst>
                  <a:ext uri="{0D108BD9-81ED-4DB2-BD59-A6C34878D82A}">
                    <a16:rowId xmlns:a16="http://schemas.microsoft.com/office/drawing/2014/main" val="3337041131"/>
                  </a:ext>
                </a:extLst>
              </a:tr>
              <a:tr h="17174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Title:</a:t>
                      </a:r>
                      <a:r>
                        <a:rPr lang="en-US" sz="1800" b="0" i="0" kern="1200" dirty="0">
                          <a:solidFill>
                            <a:schemeClr val="dk1"/>
                          </a:solidFill>
                          <a:effectLst/>
                          <a:latin typeface="+mn-lt"/>
                          <a:ea typeface="+mn-ea"/>
                          <a:cs typeface="+mn-cs"/>
                        </a:rPr>
                        <a:t> </a:t>
                      </a:r>
                      <a:r>
                        <a:rPr lang="en-IN" sz="1800" dirty="0"/>
                        <a:t>Background Reconstruction via 3D-Transformer Network for Hyperspectral Anomaly Detection,</a:t>
                      </a:r>
                      <a:br>
                        <a:rPr lang="en-US" dirty="0"/>
                      </a:br>
                      <a:r>
                        <a:rPr lang="en-US" sz="1800" b="1" i="0" kern="1200" dirty="0">
                          <a:solidFill>
                            <a:schemeClr val="dk1"/>
                          </a:solidFill>
                          <a:effectLst/>
                          <a:latin typeface="+mn-lt"/>
                          <a:ea typeface="+mn-ea"/>
                          <a:cs typeface="+mn-cs"/>
                        </a:rPr>
                        <a:t>Year:</a:t>
                      </a:r>
                      <a:r>
                        <a:rPr lang="en-US" sz="1800" b="0" i="0" kern="1200" dirty="0">
                          <a:solidFill>
                            <a:schemeClr val="dk1"/>
                          </a:solidFill>
                          <a:effectLst/>
                          <a:latin typeface="+mn-lt"/>
                          <a:ea typeface="+mn-ea"/>
                          <a:cs typeface="+mn-cs"/>
                        </a:rPr>
                        <a:t> 2023</a:t>
                      </a:r>
                      <a:endParaRPr lang="en-IN" dirty="0"/>
                    </a:p>
                  </a:txBody>
                  <a:tcPr/>
                </a:tc>
                <a:tc>
                  <a:txBody>
                    <a:bodyPr/>
                    <a:lstStyle/>
                    <a:p>
                      <a:r>
                        <a:rPr lang="en-US" sz="1800" b="0" i="0" kern="1200" dirty="0">
                          <a:solidFill>
                            <a:schemeClr val="dk1"/>
                          </a:solidFill>
                          <a:effectLst/>
                          <a:latin typeface="+mn-lt"/>
                          <a:ea typeface="+mn-ea"/>
                          <a:cs typeface="+mn-cs"/>
                        </a:rPr>
                        <a:t>Solve background contamination in AE-based detectors by deeply characterizing spatial-spectral correlations.</a:t>
                      </a:r>
                      <a:endParaRPr lang="en-IN" dirty="0"/>
                    </a:p>
                  </a:txBody>
                  <a:tcPr/>
                </a:tc>
                <a:tc>
                  <a:txBody>
                    <a:bodyPr/>
                    <a:lstStyle/>
                    <a:p>
                      <a:r>
                        <a:rPr lang="en-US" sz="1800" b="1" i="0" kern="1200" dirty="0">
                          <a:solidFill>
                            <a:schemeClr val="dk1"/>
                          </a:solidFill>
                          <a:effectLst/>
                          <a:latin typeface="+mn-lt"/>
                          <a:ea typeface="+mn-ea"/>
                          <a:cs typeface="+mn-cs"/>
                        </a:rPr>
                        <a:t>3DTR</a:t>
                      </a:r>
                      <a:r>
                        <a:rPr lang="en-US" sz="1800" b="0" i="0" kern="1200" dirty="0">
                          <a:solidFill>
                            <a:schemeClr val="dk1"/>
                          </a:solidFill>
                          <a:effectLst/>
                          <a:latin typeface="+mn-lt"/>
                          <a:ea typeface="+mn-ea"/>
                          <a:cs typeface="+mn-cs"/>
                        </a:rPr>
                        <a:t>, Serial Spatial and Spectral Transformers, Similarity-based patch generation, Coarse pre-detection.</a:t>
                      </a:r>
                      <a:endParaRPr lang="en-IN" dirty="0"/>
                    </a:p>
                  </a:txBody>
                  <a:tcPr/>
                </a:tc>
                <a:tc>
                  <a:txBody>
                    <a:bodyPr/>
                    <a:lstStyle/>
                    <a:p>
                      <a:r>
                        <a:rPr lang="en-US" sz="1800" b="0" i="0" kern="1200" dirty="0">
                          <a:solidFill>
                            <a:schemeClr val="dk1"/>
                          </a:solidFill>
                          <a:effectLst/>
                          <a:latin typeface="+mn-lt"/>
                          <a:ea typeface="+mn-ea"/>
                          <a:cs typeface="+mn-cs"/>
                        </a:rPr>
                        <a:t>Similarity-weighted patches significantly reduce "pollution" from irrelevant background pixels during training.</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Serial processing of spatial then spectral features can create sequential bottlenecks.</a:t>
                      </a:r>
                    </a:p>
                    <a:p>
                      <a:endParaRPr lang="en-IN" dirty="0"/>
                    </a:p>
                  </a:txBody>
                  <a:tcPr/>
                </a:tc>
                <a:tc>
                  <a:txBody>
                    <a:bodyPr/>
                    <a:lstStyle/>
                    <a:p>
                      <a:r>
                        <a:rPr lang="en-US" sz="1800" b="0" i="0" kern="1200" dirty="0">
                          <a:solidFill>
                            <a:schemeClr val="dk1"/>
                          </a:solidFill>
                          <a:effectLst/>
                          <a:latin typeface="+mn-lt"/>
                          <a:ea typeface="+mn-ea"/>
                          <a:cs typeface="+mn-cs"/>
                        </a:rPr>
                        <a:t>3D Transformers are more effective than standard AEs in modeling multidimensional HSI data.</a:t>
                      </a:r>
                      <a:endParaRPr lang="en-IN" dirty="0"/>
                    </a:p>
                  </a:txBody>
                  <a:tcPr/>
                </a:tc>
                <a:extLst>
                  <a:ext uri="{0D108BD9-81ED-4DB2-BD59-A6C34878D82A}">
                    <a16:rowId xmlns:a16="http://schemas.microsoft.com/office/drawing/2014/main" val="599252760"/>
                  </a:ext>
                </a:extLst>
              </a:tr>
              <a:tr h="17174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Title:</a:t>
                      </a:r>
                      <a:r>
                        <a:rPr lang="en-US" sz="1800" b="0" i="0" kern="1200" dirty="0">
                          <a:solidFill>
                            <a:schemeClr val="dk1"/>
                          </a:solidFill>
                          <a:effectLst/>
                          <a:latin typeface="+mn-lt"/>
                          <a:ea typeface="+mn-ea"/>
                          <a:cs typeface="+mn-cs"/>
                        </a:rPr>
                        <a:t> </a:t>
                      </a:r>
                      <a:r>
                        <a:rPr lang="en-IN" sz="1800" dirty="0"/>
                        <a:t>Hyperspectral anomaly detection based on adaptive low-rank transformed tensor</a:t>
                      </a:r>
                      <a:br>
                        <a:rPr lang="en-US" dirty="0"/>
                      </a:br>
                      <a:r>
                        <a:rPr lang="en-US" sz="1800" b="1" i="0" kern="1200" dirty="0">
                          <a:solidFill>
                            <a:schemeClr val="dk1"/>
                          </a:solidFill>
                          <a:effectLst/>
                          <a:latin typeface="+mn-lt"/>
                          <a:ea typeface="+mn-ea"/>
                          <a:cs typeface="+mn-cs"/>
                        </a:rPr>
                        <a:t>Year:</a:t>
                      </a:r>
                      <a:r>
                        <a:rPr lang="en-US" sz="1800" b="0" i="0" kern="1200" dirty="0">
                          <a:solidFill>
                            <a:schemeClr val="dk1"/>
                          </a:solidFill>
                          <a:effectLst/>
                          <a:latin typeface="+mn-lt"/>
                          <a:ea typeface="+mn-ea"/>
                          <a:cs typeface="+mn-cs"/>
                        </a:rPr>
                        <a:t> 2023</a:t>
                      </a:r>
                      <a:endParaRPr lang="en-IN" dirty="0"/>
                    </a:p>
                  </a:txBody>
                  <a:tcPr/>
                </a:tc>
                <a:tc>
                  <a:txBody>
                    <a:bodyPr/>
                    <a:lstStyle/>
                    <a:p>
                      <a:r>
                        <a:rPr lang="en-US" sz="1800" b="0" i="0" kern="1200" dirty="0">
                          <a:solidFill>
                            <a:schemeClr val="dk1"/>
                          </a:solidFill>
                          <a:effectLst/>
                          <a:latin typeface="+mn-lt"/>
                          <a:ea typeface="+mn-ea"/>
                          <a:cs typeface="+mn-cs"/>
                        </a:rPr>
                        <a:t>Preserve high-order spectral-spatial structure by avoiding the destructive unfolding of HSI into 2D matrices.</a:t>
                      </a:r>
                      <a:endParaRPr lang="en-IN" dirty="0"/>
                    </a:p>
                  </a:txBody>
                  <a:tcPr/>
                </a:tc>
                <a:tc>
                  <a:txBody>
                    <a:bodyPr/>
                    <a:lstStyle/>
                    <a:p>
                      <a:r>
                        <a:rPr lang="en-IN" sz="1800" b="1" i="0" kern="1200" dirty="0">
                          <a:solidFill>
                            <a:schemeClr val="dk1"/>
                          </a:solidFill>
                          <a:effectLst/>
                          <a:latin typeface="+mn-lt"/>
                          <a:ea typeface="+mn-ea"/>
                          <a:cs typeface="+mn-cs"/>
                        </a:rPr>
                        <a:t>ALRTT</a:t>
                      </a:r>
                      <a:r>
                        <a:rPr lang="en-IN" sz="1800" b="0" i="0" kern="1200" dirty="0">
                          <a:solidFill>
                            <a:schemeClr val="dk1"/>
                          </a:solidFill>
                          <a:effectLst/>
                          <a:latin typeface="+mn-lt"/>
                          <a:ea typeface="+mn-ea"/>
                          <a:cs typeface="+mn-cs"/>
                        </a:rPr>
                        <a:t>, Tensor-based decomposition, $l_{2,1}$-norm matrix optimization, Proximal Alternating Minimization (PAM).</a:t>
                      </a:r>
                      <a:endParaRPr lang="en-IN" dirty="0"/>
                    </a:p>
                  </a:txBody>
                  <a:tcPr/>
                </a:tc>
                <a:tc>
                  <a:txBody>
                    <a:bodyPr/>
                    <a:lstStyle/>
                    <a:p>
                      <a:r>
                        <a:rPr lang="en-US" sz="1800" b="0" i="0" kern="1200" dirty="0">
                          <a:solidFill>
                            <a:schemeClr val="dk1"/>
                          </a:solidFill>
                          <a:effectLst/>
                          <a:latin typeface="+mn-lt"/>
                          <a:ea typeface="+mn-ea"/>
                          <a:cs typeface="+mn-cs"/>
                        </a:rPr>
                        <a:t>Tensor modeling captures inherent structural correlations that are lost in standard 2D/matrix methods.</a:t>
                      </a:r>
                      <a:endParaRPr lang="en-IN" dirty="0"/>
                    </a:p>
                  </a:txBody>
                  <a:tcPr/>
                </a:tc>
                <a:tc>
                  <a:txBody>
                    <a:bodyPr/>
                    <a:lstStyle/>
                    <a:p>
                      <a:r>
                        <a:rPr lang="en-US" sz="1800" b="0" i="0" kern="1200" dirty="0">
                          <a:solidFill>
                            <a:schemeClr val="dk1"/>
                          </a:solidFill>
                          <a:effectLst/>
                          <a:latin typeface="+mn-lt"/>
                          <a:ea typeface="+mn-ea"/>
                          <a:cs typeface="+mn-cs"/>
                        </a:rPr>
                        <a:t>High tensor rank complexity requires heavy GPU resources for multi-pixel scenarios.</a:t>
                      </a:r>
                      <a:endParaRPr lang="en-IN" dirty="0"/>
                    </a:p>
                  </a:txBody>
                  <a:tcPr/>
                </a:tc>
                <a:tc>
                  <a:txBody>
                    <a:bodyPr/>
                    <a:lstStyle/>
                    <a:p>
                      <a:r>
                        <a:rPr lang="en-US" sz="1800" b="0" i="0" kern="1200" dirty="0">
                          <a:solidFill>
                            <a:schemeClr val="dk1"/>
                          </a:solidFill>
                          <a:effectLst/>
                          <a:latin typeface="+mn-lt"/>
                          <a:ea typeface="+mn-ea"/>
                          <a:cs typeface="+mn-cs"/>
                        </a:rPr>
                        <a:t>Tensor transformation remains the most robust method for maintaining HSI structural integrity.</a:t>
                      </a:r>
                      <a:endParaRPr lang="en-IN" dirty="0"/>
                    </a:p>
                  </a:txBody>
                  <a:tcPr/>
                </a:tc>
                <a:extLst>
                  <a:ext uri="{0D108BD9-81ED-4DB2-BD59-A6C34878D82A}">
                    <a16:rowId xmlns:a16="http://schemas.microsoft.com/office/drawing/2014/main" val="1642637295"/>
                  </a:ext>
                </a:extLst>
              </a:tr>
            </a:tbl>
          </a:graphicData>
        </a:graphic>
      </p:graphicFrame>
    </p:spTree>
    <p:extLst>
      <p:ext uri="{BB962C8B-B14F-4D97-AF65-F5344CB8AC3E}">
        <p14:creationId xmlns:p14="http://schemas.microsoft.com/office/powerpoint/2010/main" val="2950709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3094D-B9A5-0E04-0E0E-A5B582002966}"/>
              </a:ext>
            </a:extLst>
          </p:cNvPr>
          <p:cNvSpPr>
            <a:spLocks noGrp="1"/>
          </p:cNvSpPr>
          <p:nvPr>
            <p:ph type="title"/>
          </p:nvPr>
        </p:nvSpPr>
        <p:spPr>
          <a:xfrm>
            <a:off x="274320" y="-253431"/>
            <a:ext cx="10515600" cy="1325563"/>
          </a:xfrm>
        </p:spPr>
        <p:txBody>
          <a:bodyPr/>
          <a:lstStyle/>
          <a:p>
            <a:r>
              <a:rPr lang="en-US" b="1" dirty="0"/>
              <a:t>Datasets and Requirements</a:t>
            </a:r>
          </a:p>
        </p:txBody>
      </p:sp>
      <p:sp>
        <p:nvSpPr>
          <p:cNvPr id="5" name="Rectangle 2">
            <a:extLst>
              <a:ext uri="{FF2B5EF4-FFF2-40B4-BE49-F238E27FC236}">
                <a16:creationId xmlns:a16="http://schemas.microsoft.com/office/drawing/2014/main" id="{B40447B1-8249-5B78-265D-91ACFB5F10CE}"/>
              </a:ext>
            </a:extLst>
          </p:cNvPr>
          <p:cNvSpPr>
            <a:spLocks noGrp="1" noChangeArrowheads="1"/>
          </p:cNvSpPr>
          <p:nvPr>
            <p:ph idx="1"/>
          </p:nvPr>
        </p:nvSpPr>
        <p:spPr bwMode="auto">
          <a:xfrm>
            <a:off x="518160" y="918219"/>
            <a:ext cx="11567160"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a:spcBef>
                <a:spcPts val="385"/>
              </a:spcBef>
              <a:buClr>
                <a:schemeClr val="dk1"/>
              </a:buClr>
              <a:buSzPct val="100000"/>
              <a:buNone/>
            </a:pPr>
            <a:r>
              <a:rPr lang="en-US" b="1" dirty="0"/>
              <a:t>Dataset</a:t>
            </a:r>
            <a:r>
              <a:rPr lang="en-US" sz="2400" b="1" dirty="0"/>
              <a:t>:</a:t>
            </a:r>
          </a:p>
          <a:p>
            <a:pPr marL="0" lvl="0" indent="0" algn="just">
              <a:spcBef>
                <a:spcPts val="385"/>
              </a:spcBef>
              <a:buClr>
                <a:schemeClr val="dk1"/>
              </a:buClr>
              <a:buSzPct val="100000"/>
              <a:buNone/>
            </a:pPr>
            <a:endParaRPr lang="en-US" sz="2400" b="1" dirty="0"/>
          </a:p>
          <a:p>
            <a:pPr marL="0" lvl="0" indent="0" algn="just">
              <a:spcBef>
                <a:spcPts val="385"/>
              </a:spcBef>
              <a:buClr>
                <a:schemeClr val="dk1"/>
              </a:buClr>
              <a:buSzPct val="100000"/>
              <a:buNone/>
            </a:pPr>
            <a:endParaRPr lang="en-US" sz="2400" b="1" dirty="0"/>
          </a:p>
          <a:p>
            <a:pPr marL="0" lvl="0" indent="0" algn="just">
              <a:spcBef>
                <a:spcPts val="385"/>
              </a:spcBef>
              <a:buClr>
                <a:schemeClr val="dk1"/>
              </a:buClr>
              <a:buSzPct val="100000"/>
              <a:buNone/>
            </a:pPr>
            <a:endParaRPr lang="en-US" sz="2400" b="1" dirty="0"/>
          </a:p>
          <a:p>
            <a:pPr marL="0" lvl="0" indent="0" algn="just">
              <a:spcBef>
                <a:spcPts val="385"/>
              </a:spcBef>
              <a:buClr>
                <a:schemeClr val="dk1"/>
              </a:buClr>
              <a:buSzPct val="100000"/>
              <a:buNone/>
            </a:pPr>
            <a:endParaRPr lang="en-US" sz="2400" b="1" dirty="0"/>
          </a:p>
          <a:p>
            <a:pPr marL="0" lvl="0" indent="0" algn="just">
              <a:spcBef>
                <a:spcPts val="385"/>
              </a:spcBef>
              <a:buClr>
                <a:schemeClr val="dk1"/>
              </a:buClr>
              <a:buSzPct val="100000"/>
              <a:buNone/>
            </a:pPr>
            <a:endParaRPr lang="en-US" sz="2400" b="1" dirty="0"/>
          </a:p>
          <a:p>
            <a:pPr marL="0" lvl="0" indent="0" algn="just">
              <a:spcBef>
                <a:spcPts val="385"/>
              </a:spcBef>
              <a:buClr>
                <a:schemeClr val="dk1"/>
              </a:buClr>
              <a:buSzPct val="100000"/>
              <a:buNone/>
            </a:pPr>
            <a:endParaRPr lang="en-US" sz="2400" b="1" dirty="0"/>
          </a:p>
          <a:p>
            <a:pPr marL="0" lvl="0" indent="0" algn="just">
              <a:spcBef>
                <a:spcPts val="385"/>
              </a:spcBef>
              <a:buClr>
                <a:schemeClr val="dk1"/>
              </a:buClr>
              <a:buSzPct val="100000"/>
              <a:buNone/>
            </a:pPr>
            <a:endParaRPr lang="en-US" sz="2400" dirty="0"/>
          </a:p>
          <a:p>
            <a:r>
              <a:rPr lang="en-IN" sz="2400" b="1" dirty="0"/>
              <a:t>Source:</a:t>
            </a:r>
            <a:r>
              <a:rPr lang="en-IN" sz="2400" dirty="0"/>
              <a:t> AVIRIS and ROSIS Hyperspectral Benchmark Repositories</a:t>
            </a:r>
          </a:p>
          <a:p>
            <a:r>
              <a:rPr lang="en-US" sz="2400" b="1" dirty="0"/>
              <a:t>Files:</a:t>
            </a:r>
            <a:r>
              <a:rPr lang="en-US" sz="2400" dirty="0"/>
              <a:t> Hyperspectral Spectral Cubes (.mat) and ground-truth binary maps</a:t>
            </a:r>
            <a:endParaRPr lang="en-US" sz="2400" b="1" dirty="0"/>
          </a:p>
          <a:p>
            <a:pPr marL="0" lvl="0" indent="0" algn="just">
              <a:spcBef>
                <a:spcPts val="385"/>
              </a:spcBef>
              <a:buClr>
                <a:schemeClr val="dk1"/>
              </a:buClr>
              <a:buSzPct val="100000"/>
              <a:buNone/>
            </a:pPr>
            <a:r>
              <a:rPr lang="en-US" b="1" dirty="0"/>
              <a:t>Requirements:</a:t>
            </a:r>
            <a:endParaRPr lang="en-US" dirty="0"/>
          </a:p>
          <a:p>
            <a:r>
              <a:rPr lang="en-IN" sz="2400" b="1" dirty="0"/>
              <a:t>Software:</a:t>
            </a:r>
            <a:r>
              <a:rPr lang="en-IN" sz="2400" dirty="0"/>
              <a:t> Python 3.8+, </a:t>
            </a:r>
            <a:r>
              <a:rPr lang="en-IN" sz="2400" dirty="0" err="1"/>
              <a:t>PyTorch</a:t>
            </a:r>
            <a:r>
              <a:rPr lang="en-IN" sz="2400" dirty="0"/>
              <a:t>, NumPy, SciPy, Scikit-learn</a:t>
            </a:r>
          </a:p>
          <a:p>
            <a:r>
              <a:rPr lang="en-IN" sz="2400" b="1" dirty="0"/>
              <a:t>Hardware:</a:t>
            </a:r>
            <a:r>
              <a:rPr lang="en-IN" sz="2400" dirty="0"/>
              <a:t> Kaggle GPU support for accelerated deep learning training</a:t>
            </a:r>
          </a:p>
        </p:txBody>
      </p:sp>
      <p:graphicFrame>
        <p:nvGraphicFramePr>
          <p:cNvPr id="4" name="Table 3">
            <a:extLst>
              <a:ext uri="{FF2B5EF4-FFF2-40B4-BE49-F238E27FC236}">
                <a16:creationId xmlns:a16="http://schemas.microsoft.com/office/drawing/2014/main" id="{D61E28AA-564E-B978-9C29-577E06F90A4D}"/>
              </a:ext>
            </a:extLst>
          </p:cNvPr>
          <p:cNvGraphicFramePr>
            <a:graphicFrameLocks noGrp="1"/>
          </p:cNvGraphicFramePr>
          <p:nvPr>
            <p:extLst>
              <p:ext uri="{D42A27DB-BD31-4B8C-83A1-F6EECF244321}">
                <p14:modId xmlns:p14="http://schemas.microsoft.com/office/powerpoint/2010/main" val="2901956497"/>
              </p:ext>
            </p:extLst>
          </p:nvPr>
        </p:nvGraphicFramePr>
        <p:xfrm>
          <a:off x="2032000" y="1305560"/>
          <a:ext cx="8128000" cy="2773680"/>
        </p:xfrm>
        <a:graphic>
          <a:graphicData uri="http://schemas.openxmlformats.org/drawingml/2006/table">
            <a:tbl>
              <a:tblPr firstRow="1" bandRow="1">
                <a:tableStyleId>{073A0DAA-6AF3-43AB-8588-CEC1D06C72B9}</a:tableStyleId>
              </a:tblPr>
              <a:tblGrid>
                <a:gridCol w="2032000">
                  <a:extLst>
                    <a:ext uri="{9D8B030D-6E8A-4147-A177-3AD203B41FA5}">
                      <a16:colId xmlns:a16="http://schemas.microsoft.com/office/drawing/2014/main" val="3890196029"/>
                    </a:ext>
                  </a:extLst>
                </a:gridCol>
                <a:gridCol w="2032000">
                  <a:extLst>
                    <a:ext uri="{9D8B030D-6E8A-4147-A177-3AD203B41FA5}">
                      <a16:colId xmlns:a16="http://schemas.microsoft.com/office/drawing/2014/main" val="2069678148"/>
                    </a:ext>
                  </a:extLst>
                </a:gridCol>
                <a:gridCol w="2032000">
                  <a:extLst>
                    <a:ext uri="{9D8B030D-6E8A-4147-A177-3AD203B41FA5}">
                      <a16:colId xmlns:a16="http://schemas.microsoft.com/office/drawing/2014/main" val="1300091551"/>
                    </a:ext>
                  </a:extLst>
                </a:gridCol>
                <a:gridCol w="2032000">
                  <a:extLst>
                    <a:ext uri="{9D8B030D-6E8A-4147-A177-3AD203B41FA5}">
                      <a16:colId xmlns:a16="http://schemas.microsoft.com/office/drawing/2014/main" val="2690726347"/>
                    </a:ext>
                  </a:extLst>
                </a:gridCol>
              </a:tblGrid>
              <a:tr h="3095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lt1"/>
                          </a:solidFill>
                          <a:effectLst/>
                        </a:rPr>
                        <a:t>Dataset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lt1"/>
                          </a:solidFill>
                          <a:effectLst/>
                        </a:rPr>
                        <a:t>Bands </a:t>
                      </a:r>
                      <a:endParaRPr lang="en-IN" sz="2000" b="0" i="0" kern="1200" dirty="0">
                        <a:solidFill>
                          <a:schemeClr val="lt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a:solidFill>
                            <a:schemeClr val="lt1"/>
                          </a:solidFill>
                          <a:effectLst/>
                        </a:rPr>
                        <a:t>Dimensions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a:solidFill>
                            <a:schemeClr val="lt1"/>
                          </a:solidFill>
                          <a:effectLst/>
                        </a:rPr>
                        <a:t>Targets</a:t>
                      </a:r>
                    </a:p>
                  </a:txBody>
                  <a:tcPr/>
                </a:tc>
                <a:extLst>
                  <a:ext uri="{0D108BD9-81ED-4DB2-BD59-A6C34878D82A}">
                    <a16:rowId xmlns:a16="http://schemas.microsoft.com/office/drawing/2014/main" val="297547948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a:solidFill>
                            <a:schemeClr val="dk1"/>
                          </a:solidFill>
                          <a:effectLst/>
                        </a:rPr>
                        <a:t>los-angeles-1  </a:t>
                      </a:r>
                      <a:endParaRPr lang="en-IN" sz="2000" b="0" i="0" kern="1200" dirty="0">
                        <a:solidFill>
                          <a:schemeClr val="dk1"/>
                        </a:solidFill>
                        <a:effectLst/>
                        <a:latin typeface="+mn-lt"/>
                        <a:ea typeface="+mn-ea"/>
                        <a:cs typeface="+mn-cs"/>
                      </a:endParaRPr>
                    </a:p>
                  </a:txBody>
                  <a:tcPr/>
                </a:tc>
                <a:tc>
                  <a:txBody>
                    <a:bodyPr/>
                    <a:lstStyle/>
                    <a:p>
                      <a:pPr algn="ctr"/>
                      <a:r>
                        <a:rPr lang="en-IN" sz="2000"/>
                        <a:t>100</a:t>
                      </a:r>
                      <a:endParaRPr lang="en-IN"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dk1"/>
                          </a:solidFill>
                          <a:effectLst/>
                        </a:rPr>
                        <a:t>100x205 </a:t>
                      </a:r>
                    </a:p>
                  </a:txBody>
                  <a:tcPr/>
                </a:tc>
                <a:tc>
                  <a:txBody>
                    <a:bodyPr/>
                    <a:lstStyle/>
                    <a:p>
                      <a:pPr algn="ctr"/>
                      <a:r>
                        <a:rPr lang="en-IN" sz="2000"/>
                        <a:t>144</a:t>
                      </a:r>
                      <a:endParaRPr lang="en-IN" sz="2000" dirty="0"/>
                    </a:p>
                  </a:txBody>
                  <a:tcPr/>
                </a:tc>
                <a:extLst>
                  <a:ext uri="{0D108BD9-81ED-4DB2-BD59-A6C34878D82A}">
                    <a16:rowId xmlns:a16="http://schemas.microsoft.com/office/drawing/2014/main" val="11214086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a:solidFill>
                            <a:schemeClr val="dk1"/>
                          </a:solidFill>
                          <a:effectLst/>
                        </a:rPr>
                        <a:t>los-angeles-2</a:t>
                      </a:r>
                      <a:endParaRPr lang="en-IN" sz="2000" b="0" i="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t>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a:solidFill>
                            <a:schemeClr val="dk1"/>
                          </a:solidFill>
                          <a:effectLst/>
                        </a:rPr>
                        <a:t>100x205 </a:t>
                      </a:r>
                    </a:p>
                  </a:txBody>
                  <a:tcPr/>
                </a:tc>
                <a:tc>
                  <a:txBody>
                    <a:bodyPr/>
                    <a:lstStyle/>
                    <a:p>
                      <a:pPr algn="ctr"/>
                      <a:r>
                        <a:rPr lang="en-IN" sz="2000"/>
                        <a:t>87</a:t>
                      </a:r>
                      <a:endParaRPr lang="en-IN" sz="2000" dirty="0"/>
                    </a:p>
                  </a:txBody>
                  <a:tcPr/>
                </a:tc>
                <a:extLst>
                  <a:ext uri="{0D108BD9-81ED-4DB2-BD59-A6C34878D82A}">
                    <a16:rowId xmlns:a16="http://schemas.microsoft.com/office/drawing/2014/main" val="152930088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a:solidFill>
                            <a:schemeClr val="dk1"/>
                          </a:solidFill>
                          <a:effectLst/>
                        </a:rPr>
                        <a:t>Gulfport</a:t>
                      </a:r>
                      <a:endParaRPr lang="en-IN" sz="2000" b="0" i="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t>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a:solidFill>
                            <a:schemeClr val="dk1"/>
                          </a:solidFill>
                          <a:effectLst/>
                        </a:rPr>
                        <a:t>100x191</a:t>
                      </a:r>
                      <a:endParaRPr lang="en-IN" sz="2000" b="0" i="0" kern="1200" dirty="0">
                        <a:solidFill>
                          <a:schemeClr val="dk1"/>
                        </a:solidFill>
                        <a:effectLst/>
                        <a:latin typeface="+mn-lt"/>
                        <a:ea typeface="+mn-ea"/>
                        <a:cs typeface="+mn-cs"/>
                      </a:endParaRPr>
                    </a:p>
                  </a:txBody>
                  <a:tcPr/>
                </a:tc>
                <a:tc>
                  <a:txBody>
                    <a:bodyPr/>
                    <a:lstStyle/>
                    <a:p>
                      <a:pPr algn="ctr"/>
                      <a:r>
                        <a:rPr lang="en-IN" sz="2000"/>
                        <a:t>60</a:t>
                      </a:r>
                      <a:endParaRPr lang="en-IN" sz="2000" dirty="0"/>
                    </a:p>
                  </a:txBody>
                  <a:tcPr/>
                </a:tc>
                <a:extLst>
                  <a:ext uri="{0D108BD9-81ED-4DB2-BD59-A6C34878D82A}">
                    <a16:rowId xmlns:a16="http://schemas.microsoft.com/office/drawing/2014/main" val="270746155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dirty="0" err="1">
                          <a:solidFill>
                            <a:schemeClr val="dk1"/>
                          </a:solidFill>
                          <a:effectLst/>
                        </a:rPr>
                        <a:t>texas-goast</a:t>
                      </a:r>
                      <a:endParaRPr lang="en-IN" sz="2000" b="0" i="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a:t>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a:solidFill>
                            <a:schemeClr val="dk1"/>
                          </a:solidFill>
                          <a:effectLst/>
                        </a:rPr>
                        <a:t>100x204</a:t>
                      </a:r>
                      <a:endParaRPr lang="en-IN" sz="2000" b="0" i="0" kern="1200" dirty="0">
                        <a:solidFill>
                          <a:schemeClr val="dk1"/>
                        </a:solidFill>
                        <a:effectLst/>
                        <a:latin typeface="+mn-lt"/>
                        <a:ea typeface="+mn-ea"/>
                        <a:cs typeface="+mn-cs"/>
                      </a:endParaRPr>
                    </a:p>
                  </a:txBody>
                  <a:tcPr/>
                </a:tc>
                <a:tc>
                  <a:txBody>
                    <a:bodyPr/>
                    <a:lstStyle/>
                    <a:p>
                      <a:pPr algn="ctr"/>
                      <a:r>
                        <a:rPr lang="en-IN" sz="2000"/>
                        <a:t>67</a:t>
                      </a:r>
                      <a:endParaRPr lang="en-IN" sz="2000" dirty="0"/>
                    </a:p>
                  </a:txBody>
                  <a:tcPr/>
                </a:tc>
                <a:extLst>
                  <a:ext uri="{0D108BD9-81ED-4DB2-BD59-A6C34878D82A}">
                    <a16:rowId xmlns:a16="http://schemas.microsoft.com/office/drawing/2014/main" val="47201584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dirty="0">
                          <a:solidFill>
                            <a:schemeClr val="dk1"/>
                          </a:solidFill>
                          <a:effectLst/>
                        </a:rPr>
                        <a:t>cat-island </a:t>
                      </a:r>
                      <a:endParaRPr lang="en-IN" sz="2000" b="0" i="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a:t>150</a:t>
                      </a:r>
                      <a:endParaRPr lang="en-IN"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a:solidFill>
                            <a:schemeClr val="dk1"/>
                          </a:solidFill>
                          <a:effectLst/>
                        </a:rPr>
                        <a:t>150x188</a:t>
                      </a:r>
                      <a:endParaRPr lang="en-IN" sz="2000" b="0" i="0" kern="1200" dirty="0">
                        <a:solidFill>
                          <a:schemeClr val="dk1"/>
                        </a:solidFill>
                        <a:effectLst/>
                        <a:latin typeface="+mn-lt"/>
                        <a:ea typeface="+mn-ea"/>
                        <a:cs typeface="+mn-cs"/>
                      </a:endParaRPr>
                    </a:p>
                  </a:txBody>
                  <a:tcPr/>
                </a:tc>
                <a:tc>
                  <a:txBody>
                    <a:bodyPr/>
                    <a:lstStyle/>
                    <a:p>
                      <a:pPr algn="ctr"/>
                      <a:r>
                        <a:rPr lang="en-IN" sz="2000"/>
                        <a:t>19</a:t>
                      </a:r>
                      <a:endParaRPr lang="en-IN" sz="2000" dirty="0"/>
                    </a:p>
                  </a:txBody>
                  <a:tcPr/>
                </a:tc>
                <a:extLst>
                  <a:ext uri="{0D108BD9-81ED-4DB2-BD59-A6C34878D82A}">
                    <a16:rowId xmlns:a16="http://schemas.microsoft.com/office/drawing/2014/main" val="1770901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a:solidFill>
                            <a:schemeClr val="dk1"/>
                          </a:solidFill>
                          <a:effectLst/>
                        </a:rPr>
                        <a:t>pavia  </a:t>
                      </a:r>
                      <a:endParaRPr lang="en-IN" sz="2000" b="0" i="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a:t>150</a:t>
                      </a:r>
                      <a:endParaRPr lang="en-IN"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kern="1200">
                          <a:solidFill>
                            <a:schemeClr val="dk1"/>
                          </a:solidFill>
                          <a:effectLst/>
                        </a:rPr>
                        <a:t>150x102</a:t>
                      </a:r>
                      <a:endParaRPr lang="en-IN" sz="2000" b="0" i="0" kern="1200" dirty="0">
                        <a:solidFill>
                          <a:schemeClr val="dk1"/>
                        </a:solidFill>
                        <a:effectLst/>
                        <a:latin typeface="+mn-lt"/>
                        <a:ea typeface="+mn-ea"/>
                        <a:cs typeface="+mn-cs"/>
                      </a:endParaRPr>
                    </a:p>
                  </a:txBody>
                  <a:tcPr/>
                </a:tc>
                <a:tc>
                  <a:txBody>
                    <a:bodyPr/>
                    <a:lstStyle/>
                    <a:p>
                      <a:pPr algn="ctr"/>
                      <a:r>
                        <a:rPr lang="en-IN" sz="2000" dirty="0"/>
                        <a:t>68</a:t>
                      </a:r>
                    </a:p>
                  </a:txBody>
                  <a:tcPr/>
                </a:tc>
                <a:extLst>
                  <a:ext uri="{0D108BD9-81ED-4DB2-BD59-A6C34878D82A}">
                    <a16:rowId xmlns:a16="http://schemas.microsoft.com/office/drawing/2014/main" val="294598549"/>
                  </a:ext>
                </a:extLst>
              </a:tr>
            </a:tbl>
          </a:graphicData>
        </a:graphic>
      </p:graphicFrame>
    </p:spTree>
    <p:extLst>
      <p:ext uri="{BB962C8B-B14F-4D97-AF65-F5344CB8AC3E}">
        <p14:creationId xmlns:p14="http://schemas.microsoft.com/office/powerpoint/2010/main" val="864827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E5ACD90-601D-272E-2E5B-3C27B1B70F48}"/>
                  </a:ext>
                </a:extLst>
              </p:cNvPr>
              <p:cNvSpPr txBox="1"/>
              <p:nvPr/>
            </p:nvSpPr>
            <p:spPr>
              <a:xfrm>
                <a:off x="213360" y="41493"/>
                <a:ext cx="11765280" cy="6976846"/>
              </a:xfrm>
              <a:prstGeom prst="rect">
                <a:avLst/>
              </a:prstGeom>
              <a:noFill/>
            </p:spPr>
            <p:txBody>
              <a:bodyPr wrap="square">
                <a:spAutoFit/>
              </a:bodyPr>
              <a:lstStyle/>
              <a:p>
                <a:r>
                  <a:rPr lang="en-US" sz="2400" b="1" dirty="0"/>
                  <a:t>Algorithms-GT-HAD Algorithm</a:t>
                </a:r>
                <a:br>
                  <a:rPr lang="en-US" sz="1800" b="1" dirty="0"/>
                </a:br>
                <a:r>
                  <a:rPr lang="en-IN" sz="2400" b="1" dirty="0"/>
                  <a:t>Input</a:t>
                </a:r>
              </a:p>
              <a:p>
                <a:r>
                  <a:rPr lang="en-IN" sz="2400" dirty="0"/>
                  <a:t>Hyperspectral Image: </a:t>
                </a:r>
              </a:p>
              <a:p>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𝑋</m:t>
                      </m:r>
                      <m:r>
                        <a:rPr lang="en-IN" sz="2000">
                          <a:latin typeface="Cambria Math" panose="02040503050406030204" pitchFamily="18" charset="0"/>
                        </a:rPr>
                        <m:t>∈</m:t>
                      </m:r>
                      <m:sSup>
                        <m:sSupPr>
                          <m:ctrlPr>
                            <a:rPr lang="ar-AE" sz="2000" i="1">
                              <a:latin typeface="Cambria Math" panose="02040503050406030204" pitchFamily="18" charset="0"/>
                            </a:rPr>
                          </m:ctrlPr>
                        </m:sSupPr>
                        <m:e>
                          <m:r>
                            <a:rPr lang="ar-AE" sz="2000">
                              <a:latin typeface="Cambria Math" panose="02040503050406030204" pitchFamily="18" charset="0"/>
                            </a:rPr>
                            <m:t>ℝ</m:t>
                          </m:r>
                        </m:e>
                        <m:sup>
                          <m:r>
                            <a:rPr lang="ar-AE" sz="2000" i="1">
                              <a:latin typeface="Cambria Math" panose="02040503050406030204" pitchFamily="18" charset="0"/>
                            </a:rPr>
                            <m:t>𝐻</m:t>
                          </m:r>
                          <m:r>
                            <a:rPr lang="ar-AE" sz="2000">
                              <a:latin typeface="Cambria Math" panose="02040503050406030204" pitchFamily="18" charset="0"/>
                            </a:rPr>
                            <m:t>×</m:t>
                          </m:r>
                          <m:r>
                            <a:rPr lang="ar-AE" sz="2000" i="1">
                              <a:latin typeface="Cambria Math" panose="02040503050406030204" pitchFamily="18" charset="0"/>
                            </a:rPr>
                            <m:t>𝑊</m:t>
                          </m:r>
                          <m:r>
                            <a:rPr lang="ar-AE" sz="2000">
                              <a:latin typeface="Cambria Math" panose="02040503050406030204" pitchFamily="18" charset="0"/>
                            </a:rPr>
                            <m:t>×</m:t>
                          </m:r>
                          <m:r>
                            <a:rPr lang="ar-AE" sz="2000" i="1">
                              <a:latin typeface="Cambria Math" panose="02040503050406030204" pitchFamily="18" charset="0"/>
                            </a:rPr>
                            <m:t>𝐷</m:t>
                          </m:r>
                        </m:sup>
                      </m:sSup>
                    </m:oMath>
                  </m:oMathPara>
                </a14:m>
                <a:endParaRPr lang="ar-AE" sz="2000" dirty="0"/>
              </a:p>
              <a:p>
                <a:r>
                  <a:rPr lang="en-IN" sz="2400" dirty="0"/>
                  <a:t>Extract cubes: </a:t>
                </a:r>
              </a:p>
              <a:p>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𝑋</m:t>
                      </m:r>
                      <m:r>
                        <a:rPr lang="en-IN" sz="2000">
                          <a:latin typeface="Cambria Math" panose="02040503050406030204" pitchFamily="18" charset="0"/>
                        </a:rPr>
                        <m:t>=</m:t>
                      </m:r>
                      <m:sSubSup>
                        <m:sSubSupPr>
                          <m:ctrlPr>
                            <a:rPr lang="ar-AE" sz="2000" i="1">
                              <a:latin typeface="Cambria Math" panose="02040503050406030204" pitchFamily="18" charset="0"/>
                            </a:rPr>
                          </m:ctrlPr>
                        </m:sSubSupPr>
                        <m:e>
                          <m:d>
                            <m:dPr>
                              <m:begChr m:val="{"/>
                              <m:end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e>
                          </m:d>
                        </m:e>
                        <m:sub>
                          <m:r>
                            <a:rPr lang="ar-AE" sz="2000" i="1">
                              <a:latin typeface="Cambria Math" panose="02040503050406030204" pitchFamily="18" charset="0"/>
                            </a:rPr>
                            <m:t>𝑖</m:t>
                          </m:r>
                          <m:r>
                            <a:rPr lang="ar-AE" sz="2000">
                              <a:latin typeface="Cambria Math" panose="02040503050406030204" pitchFamily="18" charset="0"/>
                            </a:rPr>
                            <m:t>=</m:t>
                          </m:r>
                          <m:r>
                            <a:rPr lang="ar-AE" sz="2000">
                              <a:latin typeface="Cambria Math" panose="02040503050406030204" pitchFamily="18" charset="0"/>
                            </a:rPr>
                            <m:t>1</m:t>
                          </m:r>
                        </m:sub>
                        <m:sup>
                          <m:r>
                            <a:rPr lang="ar-AE" sz="2000" i="1">
                              <a:latin typeface="Cambria Math" panose="02040503050406030204" pitchFamily="18" charset="0"/>
                            </a:rPr>
                            <m:t>𝑁</m:t>
                          </m:r>
                        </m:sup>
                      </m:sSubSup>
                    </m:oMath>
                  </m:oMathPara>
                </a14:m>
                <a:endParaRPr lang="ar-AE" sz="2000" dirty="0"/>
              </a:p>
              <a:p>
                <a:endParaRPr lang="ar-AE" sz="2400" dirty="0"/>
              </a:p>
              <a:p>
                <a:r>
                  <a:rPr lang="en-IN" sz="2400" b="1" dirty="0"/>
                  <a:t> Initialization</a:t>
                </a:r>
              </a:p>
              <a:p>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𝐺</m:t>
                      </m:r>
                      <m:r>
                        <a:rPr lang="en-IN" sz="2000">
                          <a:latin typeface="Cambria Math" panose="02040503050406030204" pitchFamily="18" charset="0"/>
                        </a:rPr>
                        <m:t>=</m:t>
                      </m:r>
                      <m:d>
                        <m:dPr>
                          <m:begChr m:val="["/>
                          <m:endChr m:val="]"/>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𝑔</m:t>
                              </m:r>
                            </m:e>
                            <m:sub>
                              <m:r>
                                <a:rPr lang="ar-AE" sz="2000">
                                  <a:latin typeface="Cambria Math" panose="02040503050406030204" pitchFamily="18" charset="0"/>
                                </a:rPr>
                                <m:t>1</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𝑔</m:t>
                              </m:r>
                            </m:e>
                            <m:sub>
                              <m:r>
                                <a:rPr lang="ar-AE" sz="2000">
                                  <a:latin typeface="Cambria Math" panose="02040503050406030204" pitchFamily="18" charset="0"/>
                                </a:rPr>
                                <m:t>2</m:t>
                              </m:r>
                            </m:sub>
                          </m:sSub>
                        </m:e>
                        <m:e>
                          <m:r>
                            <a:rPr lang="ar-AE" sz="2000">
                              <a:latin typeface="Cambria Math" panose="02040503050406030204" pitchFamily="18" charset="0"/>
                            </a:rPr>
                            <m:t>.</m:t>
                          </m:r>
                        </m:e>
                        <m:e>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𝑔</m:t>
                              </m:r>
                            </m:e>
                            <m:sub>
                              <m:r>
                                <a:rPr lang="ar-AE" sz="2000" i="1">
                                  <a:latin typeface="Cambria Math" panose="02040503050406030204" pitchFamily="18" charset="0"/>
                                </a:rPr>
                                <m:t>𝑁</m:t>
                              </m:r>
                            </m:sub>
                          </m:sSub>
                        </m:e>
                      </m:d>
                      <m:r>
                        <a:rPr lang="ar-AE" sz="2000">
                          <a:latin typeface="Cambria Math" panose="02040503050406030204" pitchFamily="18" charset="0"/>
                        </a:rPr>
                        <m:t>=</m:t>
                      </m:r>
                      <m:r>
                        <a:rPr lang="ar-AE" sz="2000">
                          <a:latin typeface="Cambria Math" panose="02040503050406030204" pitchFamily="18" charset="0"/>
                        </a:rPr>
                        <m:t>0</m:t>
                      </m:r>
                    </m:oMath>
                  </m:oMathPara>
                </a14:m>
                <a:endParaRPr lang="ar-AE" sz="2000" dirty="0"/>
              </a:p>
              <a:p>
                <a:r>
                  <a:rPr lang="en-IN" sz="2400" dirty="0"/>
                  <a:t> All samples start in </a:t>
                </a:r>
                <a:r>
                  <a:rPr lang="en-IN" sz="2400" b="1" dirty="0"/>
                  <a:t>AFB branch</a:t>
                </a:r>
                <a:r>
                  <a:rPr lang="en-IN" sz="2400" dirty="0"/>
                  <a:t> </a:t>
                </a:r>
              </a:p>
              <a:p>
                <a:br>
                  <a:rPr lang="en-IN" sz="2400" dirty="0"/>
                </a:br>
                <a:r>
                  <a:rPr lang="en-IN" sz="2400" b="1" dirty="0"/>
                  <a:t>TRAINING STAGE</a:t>
                </a:r>
              </a:p>
              <a:p>
                <a:r>
                  <a:rPr lang="en-IN" sz="2400" b="1" dirty="0"/>
                  <a:t>Step 1 — Sliding Window Cube Extraction</a:t>
                </a:r>
              </a:p>
              <a:p>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r>
                        <a:rPr lang="ar-AE" sz="2000">
                          <a:latin typeface="Cambria Math" panose="02040503050406030204" pitchFamily="18" charset="0"/>
                        </a:rPr>
                        <m:t>=</m:t>
                      </m:r>
                      <m:r>
                        <m:rPr>
                          <m:nor/>
                        </m:rPr>
                        <a:rPr lang="en-IN" sz="2000" i="1"/>
                        <m:t>SlidingWindow</m:t>
                      </m:r>
                      <m:d>
                        <m:dPr>
                          <m:ctrlPr>
                            <a:rPr lang="ar-AE" sz="2000" i="1">
                              <a:latin typeface="Cambria Math" panose="02040503050406030204" pitchFamily="18" charset="0"/>
                            </a:rPr>
                          </m:ctrlPr>
                        </m:dPr>
                        <m:e>
                          <m:r>
                            <a:rPr lang="ar-AE" sz="2000" i="1">
                              <a:latin typeface="Cambria Math" panose="02040503050406030204" pitchFamily="18" charset="0"/>
                            </a:rPr>
                            <m:t>𝑋</m:t>
                          </m:r>
                        </m:e>
                      </m:d>
                    </m:oMath>
                  </m:oMathPara>
                </a14:m>
                <a:endParaRPr lang="ar-AE" sz="2000" b="0" dirty="0"/>
              </a:p>
              <a:p>
                <a:r>
                  <a:rPr lang="en-IN" sz="2400" dirty="0"/>
                  <a:t>Size: </a:t>
                </a:r>
                <a14:m>
                  <m:oMath xmlns:m="http://schemas.openxmlformats.org/officeDocument/2006/math">
                    <m:r>
                      <a:rPr lang="en-IN">
                        <a:latin typeface="Cambria Math" panose="02040503050406030204" pitchFamily="18" charset="0"/>
                      </a:rPr>
                      <m:t>9</m:t>
                    </m:r>
                    <m:r>
                      <a:rPr lang="en-IN">
                        <a:latin typeface="Cambria Math" panose="02040503050406030204" pitchFamily="18" charset="0"/>
                      </a:rPr>
                      <m:t>×</m:t>
                    </m:r>
                    <m:r>
                      <a:rPr lang="en-IN">
                        <a:latin typeface="Cambria Math" panose="02040503050406030204" pitchFamily="18" charset="0"/>
                      </a:rPr>
                      <m:t>9</m:t>
                    </m:r>
                    <m:r>
                      <a:rPr lang="en-IN">
                        <a:latin typeface="Cambria Math" panose="02040503050406030204" pitchFamily="18" charset="0"/>
                      </a:rPr>
                      <m:t>×</m:t>
                    </m:r>
                    <m:r>
                      <a:rPr lang="en-IN" i="1">
                        <a:latin typeface="Cambria Math" panose="02040503050406030204" pitchFamily="18" charset="0"/>
                      </a:rPr>
                      <m:t>𝐷</m:t>
                    </m:r>
                  </m:oMath>
                </a14:m>
                <a:endParaRPr lang="en-IN" sz="2400" dirty="0"/>
              </a:p>
              <a:p>
                <a:r>
                  <a:rPr lang="en-IN" sz="2400" dirty="0"/>
                  <a:t>Stride: 3 </a:t>
                </a:r>
              </a:p>
              <a:p>
                <a:r>
                  <a:rPr lang="en-IN" sz="2400" b="1" dirty="0"/>
                  <a:t>Step 2 — Feature Encoding</a:t>
                </a:r>
              </a:p>
              <a:p>
                <a:pPr/>
                <a14:m>
                  <m:oMathPara xmlns:m="http://schemas.openxmlformats.org/officeDocument/2006/math">
                    <m:oMathParaPr>
                      <m:jc m:val="center"/>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r>
                        <a:rPr lang="ar-AE" sz="2000">
                          <a:latin typeface="Cambria Math" panose="02040503050406030204" pitchFamily="18" charset="0"/>
                        </a:rPr>
                        <m:t>=</m:t>
                      </m:r>
                      <m:r>
                        <a:rPr lang="ar-AE" sz="2000" i="1">
                          <a:latin typeface="Cambria Math" panose="02040503050406030204" pitchFamily="18" charset="0"/>
                        </a:rPr>
                        <m:t>𝐶𝑜𝑛</m:t>
                      </m:r>
                      <m:sSub>
                        <m:sSubPr>
                          <m:ctrlPr>
                            <a:rPr lang="ar-AE" sz="2000" i="1">
                              <a:latin typeface="Cambria Math" panose="02040503050406030204" pitchFamily="18" charset="0"/>
                            </a:rPr>
                          </m:ctrlPr>
                        </m:sSubPr>
                        <m:e>
                          <m:r>
                            <a:rPr lang="ar-AE" sz="2000" i="1">
                              <a:latin typeface="Cambria Math" panose="02040503050406030204" pitchFamily="18" charset="0"/>
                            </a:rPr>
                            <m:t>𝑣</m:t>
                          </m:r>
                        </m:e>
                        <m:sub>
                          <m:r>
                            <a:rPr lang="ar-AE" sz="2000">
                              <a:latin typeface="Cambria Math" panose="02040503050406030204" pitchFamily="18" charset="0"/>
                            </a:rPr>
                            <m:t>3</m:t>
                          </m:r>
                          <m:r>
                            <a:rPr lang="ar-AE" sz="2000">
                              <a:latin typeface="Cambria Math" panose="02040503050406030204" pitchFamily="18" charset="0"/>
                            </a:rPr>
                            <m:t>×</m:t>
                          </m:r>
                          <m:r>
                            <a:rPr lang="ar-AE" sz="2000">
                              <a:latin typeface="Cambria Math" panose="02040503050406030204" pitchFamily="18" charset="0"/>
                            </a:rPr>
                            <m:t>3</m:t>
                          </m:r>
                        </m:sub>
                      </m:sSub>
                      <m:d>
                        <m:dPr>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e>
                      </m:d>
                      <m:r>
                        <a:rPr lang="en-IN" sz="2000" b="0" i="0" smtClean="0">
                          <a:latin typeface="Cambria Math" panose="02040503050406030204" pitchFamily="18" charset="0"/>
                        </a:rPr>
                        <m:t>     </m:t>
                      </m:r>
                      <m:r>
                        <m:rPr>
                          <m:sty m:val="p"/>
                        </m:rPr>
                        <a:rPr lang="en-IN" sz="2000" b="0" i="0" smtClean="0">
                          <a:latin typeface="Cambria Math" panose="02040503050406030204" pitchFamily="18" charset="0"/>
                        </a:rPr>
                        <m:t>where</m:t>
                      </m:r>
                      <m:r>
                        <a:rPr lang="en-IN" sz="2000" b="0" i="0" smtClean="0">
                          <a:latin typeface="Cambria Math" panose="02040503050406030204" pitchFamily="18" charset="0"/>
                        </a:rPr>
                        <m:t>     </m:t>
                      </m:r>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a:latin typeface="Cambria Math" panose="02040503050406030204" pitchFamily="18" charset="0"/>
                            </a:rPr>
                            <m:t>ℝ</m:t>
                          </m:r>
                        </m:e>
                        <m:sup>
                          <m:r>
                            <a:rPr lang="ar-AE" sz="2000" i="1">
                              <a:latin typeface="Cambria Math" panose="02040503050406030204" pitchFamily="18" charset="0"/>
                            </a:rPr>
                            <m:t>𝐻</m:t>
                          </m:r>
                          <m:r>
                            <a:rPr lang="ar-AE" sz="2000">
                              <a:latin typeface="Cambria Math" panose="02040503050406030204" pitchFamily="18" charset="0"/>
                            </a:rPr>
                            <m:t>×</m:t>
                          </m:r>
                          <m:r>
                            <a:rPr lang="ar-AE" sz="2000" i="1">
                              <a:latin typeface="Cambria Math" panose="02040503050406030204" pitchFamily="18" charset="0"/>
                            </a:rPr>
                            <m:t>𝑊</m:t>
                          </m:r>
                          <m:r>
                            <a:rPr lang="ar-AE" sz="2000">
                              <a:latin typeface="Cambria Math" panose="02040503050406030204" pitchFamily="18" charset="0"/>
                            </a:rPr>
                            <m:t>×</m:t>
                          </m:r>
                          <m:r>
                            <a:rPr lang="ar-AE" sz="2000" i="1">
                              <a:latin typeface="Cambria Math" panose="02040503050406030204" pitchFamily="18" charset="0"/>
                            </a:rPr>
                            <m:t>𝐶</m:t>
                          </m:r>
                        </m:sup>
                      </m:sSup>
                    </m:oMath>
                  </m:oMathPara>
                </a14:m>
                <a:endParaRPr lang="ar-AE" sz="2000" dirty="0"/>
              </a:p>
              <a:p>
                <a:endParaRPr lang="en-IN" sz="2400" b="0" dirty="0"/>
              </a:p>
            </p:txBody>
          </p:sp>
        </mc:Choice>
        <mc:Fallback xmlns="">
          <p:sp>
            <p:nvSpPr>
              <p:cNvPr id="7" name="TextBox 6">
                <a:extLst>
                  <a:ext uri="{FF2B5EF4-FFF2-40B4-BE49-F238E27FC236}">
                    <a16:creationId xmlns:a16="http://schemas.microsoft.com/office/drawing/2014/main" id="{FE5ACD90-601D-272E-2E5B-3C27B1B70F48}"/>
                  </a:ext>
                </a:extLst>
              </p:cNvPr>
              <p:cNvSpPr txBox="1">
                <a:spLocks noRot="1" noChangeAspect="1" noMove="1" noResize="1" noEditPoints="1" noAdjustHandles="1" noChangeArrowheads="1" noChangeShapeType="1" noTextEdit="1"/>
              </p:cNvSpPr>
              <p:nvPr/>
            </p:nvSpPr>
            <p:spPr>
              <a:xfrm>
                <a:off x="213360" y="41493"/>
                <a:ext cx="11765280" cy="6976846"/>
              </a:xfrm>
              <a:prstGeom prst="rect">
                <a:avLst/>
              </a:prstGeom>
              <a:blipFill>
                <a:blip r:embed="rId2"/>
                <a:stretch>
                  <a:fillRect l="-777" t="-699"/>
                </a:stretch>
              </a:blipFill>
            </p:spPr>
            <p:txBody>
              <a:bodyPr/>
              <a:lstStyle/>
              <a:p>
                <a:r>
                  <a:rPr lang="en-IN">
                    <a:noFill/>
                  </a:rPr>
                  <a:t> </a:t>
                </a:r>
              </a:p>
            </p:txBody>
          </p:sp>
        </mc:Fallback>
      </mc:AlternateContent>
    </p:spTree>
    <p:extLst>
      <p:ext uri="{BB962C8B-B14F-4D97-AF65-F5344CB8AC3E}">
        <p14:creationId xmlns:p14="http://schemas.microsoft.com/office/powerpoint/2010/main" val="2833751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7AB24F8-CC9B-7DF0-10A0-76BD39734ECF}"/>
                  </a:ext>
                </a:extLst>
              </p:cNvPr>
              <p:cNvSpPr txBox="1"/>
              <p:nvPr/>
            </p:nvSpPr>
            <p:spPr>
              <a:xfrm>
                <a:off x="0" y="0"/>
                <a:ext cx="12192000" cy="6854441"/>
              </a:xfrm>
              <a:prstGeom prst="rect">
                <a:avLst/>
              </a:prstGeom>
              <a:noFill/>
            </p:spPr>
            <p:txBody>
              <a:bodyPr wrap="square" rtlCol="0">
                <a:spAutoFit/>
              </a:bodyPr>
              <a:lstStyle/>
              <a:p>
                <a:r>
                  <a:rPr lang="en-IN" b="1" dirty="0"/>
                  <a:t>Step 3 — Gating Decision</a:t>
                </a:r>
              </a:p>
              <a:p>
                <a:pPr/>
                <a14:m>
                  <m:oMathPara xmlns:m="http://schemas.openxmlformats.org/officeDocument/2006/math">
                    <m:oMathParaPr>
                      <m:jc m:val="centerGroup"/>
                    </m:oMathParaPr>
                    <m:oMath xmlns:m="http://schemas.openxmlformats.org/officeDocument/2006/math">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e>
                      </m:acc>
                      <m:r>
                        <a:rPr lang="ar-AE" sz="2000">
                          <a:latin typeface="Cambria Math" panose="02040503050406030204" pitchFamily="18" charset="0"/>
                        </a:rPr>
                        <m:t>=</m:t>
                      </m:r>
                      <m:d>
                        <m:dPr>
                          <m:begChr m:val="{"/>
                          <m:endChr m:val=""/>
                          <m:ctrlPr>
                            <a:rPr lang="ar-AE" sz="2000" i="1">
                              <a:latin typeface="Cambria Math" panose="02040503050406030204" pitchFamily="18" charset="0"/>
                            </a:rPr>
                          </m:ctrlPr>
                        </m:dPr>
                        <m:e>
                          <m:m>
                            <m:mPr>
                              <m:plcHide m:val="on"/>
                              <m:mcs>
                                <m:mc>
                                  <m:mcPr>
                                    <m:count m:val="2"/>
                                    <m:mcJc m:val="center"/>
                                  </m:mcPr>
                                </m:mc>
                              </m:mcs>
                              <m:ctrlPr>
                                <a:rPr lang="ar-AE" sz="2000" i="1">
                                  <a:latin typeface="Cambria Math" panose="02040503050406030204" pitchFamily="18" charset="0"/>
                                </a:rPr>
                              </m:ctrlPr>
                            </m:mPr>
                            <m:mr>
                              <m:e>
                                <m:r>
                                  <a:rPr lang="ar-AE" sz="2000" i="1">
                                    <a:latin typeface="Cambria Math" panose="02040503050406030204" pitchFamily="18" charset="0"/>
                                  </a:rPr>
                                  <m:t>𝐴𝐹𝐵</m:t>
                                </m:r>
                                <m:d>
                                  <m:dPr>
                                    <m:ctrlPr>
                                      <a:rPr lang="ar-AE" sz="2000" i="1">
                                        <a:latin typeface="Cambria Math" panose="02040503050406030204" pitchFamily="18" charset="0"/>
                                      </a:rPr>
                                    </m:ctrlPr>
                                  </m:dPr>
                                  <m:e>
                                    <m:r>
                                      <a:rPr lang="ar-AE" sz="2000" i="1">
                                        <a:latin typeface="Cambria Math" panose="02040503050406030204" pitchFamily="18" charset="0"/>
                                      </a:rPr>
                                      <m:t>𝐿𝑁</m:t>
                                    </m:r>
                                    <m:d>
                                      <m:dPr>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e>
                                    </m:d>
                                  </m:e>
                                </m:d>
                                <m:r>
                                  <a:rPr lang="ar-AE" sz="2000">
                                    <a:latin typeface="Cambria Math" panose="02040503050406030204" pitchFamily="18" charset="0"/>
                                  </a:rPr>
                                  <m:t>,</m:t>
                                </m:r>
                              </m:e>
                              <m:e>
                                <m:sSub>
                                  <m:sSubPr>
                                    <m:ctrlPr>
                                      <a:rPr lang="ar-AE" sz="2000" i="1">
                                        <a:latin typeface="Cambria Math" panose="02040503050406030204" pitchFamily="18" charset="0"/>
                                      </a:rPr>
                                    </m:ctrlPr>
                                  </m:sSubPr>
                                  <m:e>
                                    <m:r>
                                      <a:rPr lang="ar-AE" sz="2000" i="1">
                                        <a:latin typeface="Cambria Math" panose="02040503050406030204" pitchFamily="18" charset="0"/>
                                      </a:rPr>
                                      <m:t>𝑔</m:t>
                                    </m:r>
                                  </m:e>
                                  <m:sub>
                                    <m:r>
                                      <a:rPr lang="ar-AE" sz="2000" i="1">
                                        <a:latin typeface="Cambria Math" panose="02040503050406030204" pitchFamily="18" charset="0"/>
                                      </a:rPr>
                                      <m:t>𝑖</m:t>
                                    </m:r>
                                  </m:sub>
                                </m:sSub>
                                <m:r>
                                  <a:rPr lang="ar-AE" sz="2000">
                                    <a:latin typeface="Cambria Math" panose="02040503050406030204" pitchFamily="18" charset="0"/>
                                  </a:rPr>
                                  <m:t>=</m:t>
                                </m:r>
                                <m:r>
                                  <a:rPr lang="ar-AE" sz="2000">
                                    <a:latin typeface="Cambria Math" panose="02040503050406030204" pitchFamily="18" charset="0"/>
                                  </a:rPr>
                                  <m:t>0</m:t>
                                </m:r>
                              </m:e>
                            </m:mr>
                            <m:mr>
                              <m:e>
                                <m:r>
                                  <a:rPr lang="ar-AE" sz="2000" i="1">
                                    <a:latin typeface="Cambria Math" panose="02040503050406030204" pitchFamily="18" charset="0"/>
                                  </a:rPr>
                                  <m:t>𝐵𝐹𝐵</m:t>
                                </m:r>
                                <m:d>
                                  <m:dPr>
                                    <m:ctrlPr>
                                      <a:rPr lang="ar-AE" sz="2000" i="1">
                                        <a:latin typeface="Cambria Math" panose="02040503050406030204" pitchFamily="18" charset="0"/>
                                      </a:rPr>
                                    </m:ctrlPr>
                                  </m:dPr>
                                  <m:e>
                                    <m:r>
                                      <a:rPr lang="ar-AE" sz="2000" i="1">
                                        <a:latin typeface="Cambria Math" panose="02040503050406030204" pitchFamily="18" charset="0"/>
                                      </a:rPr>
                                      <m:t>𝐿𝑁</m:t>
                                    </m:r>
                                    <m:d>
                                      <m:dPr>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e>
                                    </m:d>
                                  </m:e>
                                </m:d>
                                <m:r>
                                  <a:rPr lang="ar-AE" sz="2000">
                                    <a:latin typeface="Cambria Math" panose="02040503050406030204" pitchFamily="18" charset="0"/>
                                  </a:rPr>
                                  <m:t>,</m:t>
                                </m:r>
                              </m:e>
                              <m:e>
                                <m:sSub>
                                  <m:sSubPr>
                                    <m:ctrlPr>
                                      <a:rPr lang="ar-AE" sz="2000" i="1">
                                        <a:latin typeface="Cambria Math" panose="02040503050406030204" pitchFamily="18" charset="0"/>
                                      </a:rPr>
                                    </m:ctrlPr>
                                  </m:sSubPr>
                                  <m:e>
                                    <m:r>
                                      <a:rPr lang="ar-AE" sz="2000" i="1">
                                        <a:latin typeface="Cambria Math" panose="02040503050406030204" pitchFamily="18" charset="0"/>
                                      </a:rPr>
                                      <m:t>𝑔</m:t>
                                    </m:r>
                                  </m:e>
                                  <m:sub>
                                    <m:r>
                                      <a:rPr lang="ar-AE" sz="2000" i="1">
                                        <a:latin typeface="Cambria Math" panose="02040503050406030204" pitchFamily="18" charset="0"/>
                                      </a:rPr>
                                      <m:t>𝑖</m:t>
                                    </m:r>
                                  </m:sub>
                                </m:sSub>
                                <m:r>
                                  <a:rPr lang="ar-AE" sz="2000">
                                    <a:latin typeface="Cambria Math" panose="02040503050406030204" pitchFamily="18" charset="0"/>
                                  </a:rPr>
                                  <m:t>=</m:t>
                                </m:r>
                                <m:r>
                                  <a:rPr lang="ar-AE" sz="2000">
                                    <a:latin typeface="Cambria Math" panose="02040503050406030204" pitchFamily="18" charset="0"/>
                                  </a:rPr>
                                  <m:t>1</m:t>
                                </m:r>
                              </m:e>
                            </m:mr>
                          </m:m>
                        </m:e>
                      </m:d>
                    </m:oMath>
                  </m:oMathPara>
                </a14:m>
                <a:endParaRPr lang="ar-AE" sz="2000" dirty="0"/>
              </a:p>
              <a:p>
                <a:r>
                  <a:rPr lang="en-IN" b="1" dirty="0"/>
                  <a:t>ANOMALY-FOCUSED BRANCH (AFB)</a:t>
                </a:r>
              </a:p>
              <a:p>
                <a:r>
                  <a:rPr lang="en-IN" b="1" dirty="0"/>
                  <a:t>Step 4 — Patch Partitioning</a:t>
                </a:r>
              </a:p>
              <a:p>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r>
                        <a:rPr lang="ar-AE" sz="2000">
                          <a:latin typeface="Cambria Math" panose="02040503050406030204" pitchFamily="18" charset="0"/>
                        </a:rPr>
                        <m:t>→</m:t>
                      </m:r>
                      <m:sSubSup>
                        <m:sSubSupPr>
                          <m:ctrlPr>
                            <a:rPr lang="ar-AE" sz="2000" i="1">
                              <a:latin typeface="Cambria Math" panose="02040503050406030204" pitchFamily="18" charset="0"/>
                            </a:rPr>
                          </m:ctrlPr>
                        </m:sSubSupPr>
                        <m:e>
                          <m:d>
                            <m:dPr>
                              <m:begChr m:val="{"/>
                              <m:end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𝑎</m:t>
                                  </m:r>
                                </m:sub>
                              </m:sSub>
                            </m:e>
                          </m:d>
                        </m:e>
                        <m:sub>
                          <m:r>
                            <a:rPr lang="ar-AE" sz="2000" i="1">
                              <a:latin typeface="Cambria Math" panose="02040503050406030204" pitchFamily="18" charset="0"/>
                            </a:rPr>
                            <m:t>𝑎</m:t>
                          </m:r>
                          <m:r>
                            <a:rPr lang="ar-AE" sz="2000">
                              <a:latin typeface="Cambria Math" panose="02040503050406030204" pitchFamily="18" charset="0"/>
                            </a:rPr>
                            <m:t>=</m:t>
                          </m:r>
                          <m:r>
                            <a:rPr lang="ar-AE" sz="2000">
                              <a:latin typeface="Cambria Math" panose="02040503050406030204" pitchFamily="18" charset="0"/>
                            </a:rPr>
                            <m:t>1</m:t>
                          </m:r>
                        </m:sub>
                        <m:sup>
                          <m:sSub>
                            <m:sSubPr>
                              <m:ctrlPr>
                                <a:rPr lang="ar-AE" sz="2000" i="1">
                                  <a:latin typeface="Cambria Math" panose="02040503050406030204" pitchFamily="18" charset="0"/>
                                </a:rPr>
                              </m:ctrlPr>
                            </m:sSubPr>
                            <m:e>
                              <m:r>
                                <a:rPr lang="ar-AE" sz="2000" i="1">
                                  <a:latin typeface="Cambria Math" panose="02040503050406030204" pitchFamily="18" charset="0"/>
                                </a:rPr>
                                <m:t>𝐽</m:t>
                              </m:r>
                            </m:e>
                            <m:sub>
                              <m:r>
                                <a:rPr lang="ar-AE" sz="2000" i="1">
                                  <a:latin typeface="Cambria Math" panose="02040503050406030204" pitchFamily="18" charset="0"/>
                                </a:rPr>
                                <m:t>𝐴</m:t>
                              </m:r>
                            </m:sub>
                          </m:sSub>
                        </m:sup>
                      </m:sSubSup>
                    </m:oMath>
                  </m:oMathPara>
                </a14:m>
                <a:endParaRPr lang="ar-AE" sz="2000" dirty="0"/>
              </a:p>
              <a:p>
                <a:r>
                  <a:rPr lang="en-IN" dirty="0"/>
                  <a:t>Patch size: </a:t>
                </a:r>
                <a14:m>
                  <m:oMath xmlns:m="http://schemas.openxmlformats.org/officeDocument/2006/math">
                    <m:r>
                      <a:rPr lang="en-IN">
                        <a:latin typeface="Cambria Math" panose="02040503050406030204" pitchFamily="18" charset="0"/>
                      </a:rPr>
                      <m:t>3</m:t>
                    </m:r>
                    <m:r>
                      <a:rPr lang="en-IN">
                        <a:latin typeface="Cambria Math" panose="02040503050406030204" pitchFamily="18" charset="0"/>
                      </a:rPr>
                      <m:t>×</m:t>
                    </m:r>
                    <m:r>
                      <a:rPr lang="en-IN">
                        <a:latin typeface="Cambria Math" panose="02040503050406030204" pitchFamily="18" charset="0"/>
                      </a:rPr>
                      <m:t>3</m:t>
                    </m:r>
                  </m:oMath>
                </a14:m>
                <a:endParaRPr lang="en-IN" dirty="0"/>
              </a:p>
              <a:p>
                <a:endParaRPr lang="en-IN" dirty="0"/>
              </a:p>
              <a:p>
                <a:r>
                  <a:rPr lang="en-IN" b="1" dirty="0"/>
                  <a:t>Step 5 — Similarity Computation</a:t>
                </a:r>
              </a:p>
              <a:p>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𝑆</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𝑎</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𝑗</m:t>
                              </m:r>
                            </m:sub>
                          </m:sSub>
                        </m:e>
                      </m:d>
                      <m:r>
                        <a:rPr lang="ar-AE" sz="2000">
                          <a:latin typeface="Cambria Math" panose="02040503050406030204" pitchFamily="18" charset="0"/>
                        </a:rPr>
                        <m:t>=</m:t>
                      </m:r>
                      <m:d>
                        <m:dPr>
                          <m:begChr m:val="⟨"/>
                          <m:endChr m:val="⟩"/>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𝑎</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𝑊</m:t>
                              </m:r>
                            </m:e>
                            <m:sub>
                              <m:r>
                                <a:rPr lang="ar-AE" sz="2000" i="1">
                                  <a:latin typeface="Cambria Math" panose="02040503050406030204" pitchFamily="18" charset="0"/>
                                </a:rPr>
                                <m:t>𝐴</m:t>
                              </m:r>
                            </m:sub>
                          </m:sSub>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𝑗</m:t>
                              </m:r>
                            </m:sub>
                          </m:sSub>
                          <m:sSub>
                            <m:sSubPr>
                              <m:ctrlPr>
                                <a:rPr lang="ar-AE" sz="2000" i="1">
                                  <a:latin typeface="Cambria Math" panose="02040503050406030204" pitchFamily="18" charset="0"/>
                                </a:rPr>
                              </m:ctrlPr>
                            </m:sSubPr>
                            <m:e>
                              <m:r>
                                <a:rPr lang="ar-AE" sz="2000" i="1">
                                  <a:latin typeface="Cambria Math" panose="02040503050406030204" pitchFamily="18" charset="0"/>
                                </a:rPr>
                                <m:t>𝑊</m:t>
                              </m:r>
                            </m:e>
                            <m:sub>
                              <m:r>
                                <a:rPr lang="ar-AE" sz="2000" i="1">
                                  <a:latin typeface="Cambria Math" panose="02040503050406030204" pitchFamily="18" charset="0"/>
                                </a:rPr>
                                <m:t>𝐴</m:t>
                              </m:r>
                            </m:sub>
                          </m:sSub>
                        </m:e>
                      </m:d>
                    </m:oMath>
                  </m:oMathPara>
                </a14:m>
                <a:endParaRPr lang="ar-AE" sz="2000" dirty="0"/>
              </a:p>
              <a:p>
                <a:br>
                  <a:rPr lang="ar-AE" dirty="0"/>
                </a:br>
                <a:r>
                  <a:rPr lang="en-IN" b="1" dirty="0"/>
                  <a:t>Step 6 — Weight Calculation</a:t>
                </a:r>
              </a:p>
              <a:p>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𝜔</m:t>
                          </m:r>
                        </m:e>
                        <m:sub>
                          <m:r>
                            <a:rPr lang="ar-AE" sz="2000" i="1">
                              <a:latin typeface="Cambria Math" panose="02040503050406030204" pitchFamily="18" charset="0"/>
                            </a:rPr>
                            <m:t>𝑎𝑗</m:t>
                          </m:r>
                        </m:sub>
                      </m:sSub>
                      <m:r>
                        <a:rPr lang="ar-AE" sz="2000">
                          <a:latin typeface="Cambria Math" panose="02040503050406030204" pitchFamily="18" charset="0"/>
                        </a:rPr>
                        <m:t>=</m:t>
                      </m:r>
                      <m:f>
                        <m:fPr>
                          <m:ctrlPr>
                            <a:rPr lang="ar-AE" sz="2000" i="1">
                              <a:latin typeface="Cambria Math" panose="02040503050406030204" pitchFamily="18" charset="0"/>
                            </a:rPr>
                          </m:ctrlPr>
                        </m:fPr>
                        <m:num>
                          <m:r>
                            <m:rPr>
                              <m:sty m:val="p"/>
                            </m:rPr>
                            <a:rPr lang="en-IN" sz="2000">
                              <a:latin typeface="Cambria Math" panose="02040503050406030204" pitchFamily="18" charset="0"/>
                            </a:rPr>
                            <m:t>exp</m:t>
                          </m:r>
                          <m:r>
                            <a:rPr lang="en-IN" sz="2000">
                              <a:latin typeface="Cambria Math" panose="02040503050406030204" pitchFamily="18" charset="0"/>
                            </a:rPr>
                            <m:t>⁡</m:t>
                          </m:r>
                          <m:d>
                            <m:dPr>
                              <m:ctrlPr>
                                <a:rPr lang="ar-AE" sz="2000" i="1">
                                  <a:latin typeface="Cambria Math" panose="02040503050406030204" pitchFamily="18" charset="0"/>
                                </a:rPr>
                              </m:ctrlPr>
                            </m:dPr>
                            <m:e>
                              <m:r>
                                <a:rPr lang="ar-AE" sz="2000" i="1">
                                  <a:latin typeface="Cambria Math" panose="02040503050406030204" pitchFamily="18" charset="0"/>
                                </a:rPr>
                                <m:t>𝑆</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𝑎</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𝑗</m:t>
                                      </m:r>
                                    </m:sub>
                                  </m:sSub>
                                </m:e>
                              </m:d>
                            </m:e>
                          </m:d>
                        </m:num>
                        <m:den>
                          <m:nary>
                            <m:naryPr>
                              <m:chr m:val="∑"/>
                              <m:grow m:val="on"/>
                              <m:supHide m:val="on"/>
                              <m:ctrlPr>
                                <a:rPr lang="ar-AE" sz="2000" i="1">
                                  <a:latin typeface="Cambria Math" panose="02040503050406030204" pitchFamily="18" charset="0"/>
                                </a:rPr>
                              </m:ctrlPr>
                            </m:naryPr>
                            <m:sub>
                              <m:r>
                                <a:rPr lang="ar-AE" sz="2000" i="1">
                                  <a:latin typeface="Cambria Math" panose="02040503050406030204" pitchFamily="18" charset="0"/>
                                </a:rPr>
                                <m:t>𝑧</m:t>
                              </m:r>
                              <m:r>
                                <a:rPr lang="ar-AE" sz="2000">
                                  <a:latin typeface="Cambria Math" panose="02040503050406030204" pitchFamily="18" charset="0"/>
                                </a:rPr>
                                <m:t>∈</m:t>
                              </m:r>
                              <m:r>
                                <a:rPr lang="ar-AE" sz="2000" i="1">
                                  <a:latin typeface="Cambria Math" panose="02040503050406030204" pitchFamily="18" charset="0"/>
                                </a:rPr>
                                <m:t>𝑍</m:t>
                              </m:r>
                            </m:sub>
                            <m:sup/>
                            <m:e>
                              <m:r>
                                <m:rPr>
                                  <m:sty m:val="p"/>
                                </m:rPr>
                                <a:rPr lang="en-IN" sz="2000">
                                  <a:latin typeface="Cambria Math" panose="02040503050406030204" pitchFamily="18" charset="0"/>
                                </a:rPr>
                                <m:t>exp</m:t>
                              </m:r>
                            </m:e>
                          </m:nary>
                          <m:r>
                            <a:rPr lang="ar-AE" sz="2000">
                              <a:latin typeface="Cambria Math" panose="02040503050406030204" pitchFamily="18" charset="0"/>
                            </a:rPr>
                            <m:t>⁡</m:t>
                          </m:r>
                          <m:d>
                            <m:dPr>
                              <m:ctrlPr>
                                <a:rPr lang="ar-AE" sz="2000" i="1">
                                  <a:latin typeface="Cambria Math" panose="02040503050406030204" pitchFamily="18" charset="0"/>
                                </a:rPr>
                              </m:ctrlPr>
                            </m:dPr>
                            <m:e>
                              <m:r>
                                <a:rPr lang="ar-AE" sz="2000" i="1">
                                  <a:latin typeface="Cambria Math" panose="02040503050406030204" pitchFamily="18" charset="0"/>
                                </a:rPr>
                                <m:t>𝑆</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𝑎</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𝑧</m:t>
                                      </m:r>
                                    </m:sub>
                                  </m:sSub>
                                </m:e>
                              </m:d>
                            </m:e>
                          </m:d>
                        </m:den>
                      </m:f>
                    </m:oMath>
                  </m:oMathPara>
                </a14:m>
                <a:endParaRPr lang="en-IN" sz="2000" dirty="0"/>
              </a:p>
              <a:p>
                <a:r>
                  <a:rPr lang="en-IN" b="1" dirty="0"/>
                  <a:t> Step 7 — Patch Redefinition</a:t>
                </a:r>
                <a:endParaRPr lang="en-IN" dirty="0"/>
              </a:p>
              <a:p>
                <a:pPr/>
                <a14:m>
                  <m:oMathPara xmlns:m="http://schemas.openxmlformats.org/officeDocument/2006/math">
                    <m:oMathParaPr>
                      <m:jc m:val="centerGroup"/>
                    </m:oMathParaPr>
                    <m:oMath xmlns:m="http://schemas.openxmlformats.org/officeDocument/2006/math">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𝑎</m:t>
                              </m:r>
                            </m:sub>
                          </m:sSub>
                        </m:e>
                      </m:acc>
                      <m:r>
                        <a:rPr lang="ar-AE" sz="2000">
                          <a:latin typeface="Cambria Math" panose="02040503050406030204" pitchFamily="18" charset="0"/>
                        </a:rPr>
                        <m:t>=</m:t>
                      </m:r>
                      <m:nary>
                        <m:naryPr>
                          <m:chr m:val="∑"/>
                          <m:grow m:val="on"/>
                          <m:supHide m:val="on"/>
                          <m:ctrlPr>
                            <a:rPr lang="ar-AE" sz="2000" i="1">
                              <a:latin typeface="Cambria Math" panose="02040503050406030204" pitchFamily="18" charset="0"/>
                            </a:rPr>
                          </m:ctrlPr>
                        </m:naryPr>
                        <m:sub>
                          <m:r>
                            <a:rPr lang="ar-AE" sz="2000" i="1">
                              <a:latin typeface="Cambria Math" panose="02040503050406030204" pitchFamily="18" charset="0"/>
                            </a:rPr>
                            <m:t>𝑗</m:t>
                          </m:r>
                          <m:r>
                            <a:rPr lang="ar-AE" sz="2000">
                              <a:latin typeface="Cambria Math" panose="02040503050406030204" pitchFamily="18" charset="0"/>
                            </a:rPr>
                            <m:t>∈</m:t>
                          </m:r>
                          <m:r>
                            <a:rPr lang="ar-AE" sz="2000" i="1">
                              <a:latin typeface="Cambria Math" panose="02040503050406030204" pitchFamily="18" charset="0"/>
                            </a:rPr>
                            <m:t>𝑍</m:t>
                          </m:r>
                        </m:sub>
                        <m:sup/>
                        <m:e>
                          <m:sSub>
                            <m:sSubPr>
                              <m:ctrlPr>
                                <a:rPr lang="ar-AE" sz="2000" i="1">
                                  <a:latin typeface="Cambria Math" panose="02040503050406030204" pitchFamily="18" charset="0"/>
                                </a:rPr>
                              </m:ctrlPr>
                            </m:sSubPr>
                            <m:e>
                              <m:r>
                                <a:rPr lang="ar-AE" sz="2000" i="1">
                                  <a:latin typeface="Cambria Math" panose="02040503050406030204" pitchFamily="18" charset="0"/>
                                </a:rPr>
                                <m:t>𝜔</m:t>
                              </m:r>
                            </m:e>
                            <m:sub>
                              <m:r>
                                <a:rPr lang="ar-AE" sz="2000" i="1">
                                  <a:latin typeface="Cambria Math" panose="02040503050406030204" pitchFamily="18" charset="0"/>
                                </a:rPr>
                                <m:t>𝑎𝑗</m:t>
                              </m:r>
                            </m:sub>
                          </m:sSub>
                        </m:e>
                      </m:nary>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𝑗</m:t>
                          </m:r>
                        </m:sub>
                      </m:sSub>
                    </m:oMath>
                  </m:oMathPara>
                </a14:m>
                <a:endParaRPr lang="ar-AE" sz="2000" dirty="0"/>
              </a:p>
              <a:p>
                <a:r>
                  <a:rPr lang="en-IN" b="1" dirty="0"/>
                  <a:t>Step 8 — Patch Reconstruction </a:t>
                </a:r>
                <a:endParaRPr lang="en-IN" dirty="0"/>
              </a:p>
              <a:p>
                <a:pPr/>
                <a14:m>
                  <m:oMathPara xmlns:m="http://schemas.openxmlformats.org/officeDocument/2006/math">
                    <m:oMathParaPr>
                      <m:jc m:val="centerGroup"/>
                    </m:oMathParaPr>
                    <m:oMath xmlns:m="http://schemas.openxmlformats.org/officeDocument/2006/math">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e>
                      </m:acc>
                      <m:r>
                        <a:rPr lang="ar-AE" sz="2000">
                          <a:latin typeface="Cambria Math" panose="02040503050406030204" pitchFamily="18" charset="0"/>
                        </a:rPr>
                        <m:t>=</m:t>
                      </m:r>
                      <m:r>
                        <a:rPr lang="ar-AE" sz="2000" i="1">
                          <a:latin typeface="Cambria Math" panose="02040503050406030204" pitchFamily="18" charset="0"/>
                        </a:rPr>
                        <m:t>𝐼</m:t>
                      </m:r>
                      <m:d>
                        <m:dPr>
                          <m:ctrlPr>
                            <a:rPr lang="ar-AE" sz="2000" i="1">
                              <a:latin typeface="Cambria Math" panose="02040503050406030204" pitchFamily="18" charset="0"/>
                            </a:rPr>
                          </m:ctrlPr>
                        </m:dPr>
                        <m:e>
                          <m:sSubSup>
                            <m:sSubSupPr>
                              <m:ctrlPr>
                                <a:rPr lang="ar-AE" sz="2000" i="1">
                                  <a:latin typeface="Cambria Math" panose="02040503050406030204" pitchFamily="18" charset="0"/>
                                </a:rPr>
                              </m:ctrlPr>
                            </m:sSubSupPr>
                            <m:e>
                              <m:d>
                                <m:dPr>
                                  <m:begChr m:val="{"/>
                                  <m:endChr m:val="}"/>
                                  <m:ctrlPr>
                                    <a:rPr lang="ar-AE" sz="2000" i="1">
                                      <a:latin typeface="Cambria Math" panose="02040503050406030204" pitchFamily="18" charset="0"/>
                                    </a:rPr>
                                  </m:ctrlPr>
                                </m:dPr>
                                <m:e>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𝑝</m:t>
                                          </m:r>
                                        </m:e>
                                        <m:sub>
                                          <m:r>
                                            <a:rPr lang="ar-AE" sz="2000" i="1">
                                              <a:latin typeface="Cambria Math" panose="02040503050406030204" pitchFamily="18" charset="0"/>
                                            </a:rPr>
                                            <m:t>𝑎</m:t>
                                          </m:r>
                                        </m:sub>
                                      </m:sSub>
                                    </m:e>
                                  </m:acc>
                                </m:e>
                              </m:d>
                            </m:e>
                            <m:sub>
                              <m:r>
                                <a:rPr lang="ar-AE" sz="2000" i="1">
                                  <a:latin typeface="Cambria Math" panose="02040503050406030204" pitchFamily="18" charset="0"/>
                                </a:rPr>
                                <m:t>𝑎</m:t>
                              </m:r>
                              <m:r>
                                <a:rPr lang="ar-AE" sz="2000">
                                  <a:latin typeface="Cambria Math" panose="02040503050406030204" pitchFamily="18" charset="0"/>
                                </a:rPr>
                                <m:t>=</m:t>
                              </m:r>
                              <m:r>
                                <a:rPr lang="ar-AE" sz="2000">
                                  <a:latin typeface="Cambria Math" panose="02040503050406030204" pitchFamily="18" charset="0"/>
                                </a:rPr>
                                <m:t>1</m:t>
                              </m:r>
                            </m:sub>
                            <m:sup>
                              <m:sSub>
                                <m:sSubPr>
                                  <m:ctrlPr>
                                    <a:rPr lang="ar-AE" sz="2000" i="1">
                                      <a:latin typeface="Cambria Math" panose="02040503050406030204" pitchFamily="18" charset="0"/>
                                    </a:rPr>
                                  </m:ctrlPr>
                                </m:sSubPr>
                                <m:e>
                                  <m:r>
                                    <a:rPr lang="ar-AE" sz="2000" i="1">
                                      <a:latin typeface="Cambria Math" panose="02040503050406030204" pitchFamily="18" charset="0"/>
                                    </a:rPr>
                                    <m:t>𝐽</m:t>
                                  </m:r>
                                </m:e>
                                <m:sub>
                                  <m:r>
                                    <a:rPr lang="ar-AE" sz="2000" i="1">
                                      <a:latin typeface="Cambria Math" panose="02040503050406030204" pitchFamily="18" charset="0"/>
                                    </a:rPr>
                                    <m:t>𝐴</m:t>
                                  </m:r>
                                </m:sub>
                              </m:sSub>
                            </m:sup>
                          </m:sSubSup>
                        </m:e>
                      </m:d>
                    </m:oMath>
                  </m:oMathPara>
                </a14:m>
                <a:endParaRPr lang="ar-AE" sz="2000" dirty="0"/>
              </a:p>
              <a:p>
                <a:r>
                  <a:rPr lang="en-IN" dirty="0"/>
                  <a:t>Combine all patches back into full feature map </a:t>
                </a:r>
              </a:p>
            </p:txBody>
          </p:sp>
        </mc:Choice>
        <mc:Fallback xmlns="">
          <p:sp>
            <p:nvSpPr>
              <p:cNvPr id="3" name="TextBox 2">
                <a:extLst>
                  <a:ext uri="{FF2B5EF4-FFF2-40B4-BE49-F238E27FC236}">
                    <a16:creationId xmlns:a16="http://schemas.microsoft.com/office/drawing/2014/main" id="{47AB24F8-CC9B-7DF0-10A0-76BD39734ECF}"/>
                  </a:ext>
                </a:extLst>
              </p:cNvPr>
              <p:cNvSpPr txBox="1">
                <a:spLocks noRot="1" noChangeAspect="1" noMove="1" noResize="1" noEditPoints="1" noAdjustHandles="1" noChangeArrowheads="1" noChangeShapeType="1" noTextEdit="1"/>
              </p:cNvSpPr>
              <p:nvPr/>
            </p:nvSpPr>
            <p:spPr>
              <a:xfrm>
                <a:off x="0" y="0"/>
                <a:ext cx="12192000" cy="6854441"/>
              </a:xfrm>
              <a:prstGeom prst="rect">
                <a:avLst/>
              </a:prstGeom>
              <a:blipFill>
                <a:blip r:embed="rId2"/>
                <a:stretch>
                  <a:fillRect l="-400" t="-445" b="-534"/>
                </a:stretch>
              </a:blipFill>
            </p:spPr>
            <p:txBody>
              <a:bodyPr/>
              <a:lstStyle/>
              <a:p>
                <a:r>
                  <a:rPr lang="en-IN">
                    <a:noFill/>
                  </a:rPr>
                  <a:t> </a:t>
                </a:r>
              </a:p>
            </p:txBody>
          </p:sp>
        </mc:Fallback>
      </mc:AlternateContent>
    </p:spTree>
    <p:extLst>
      <p:ext uri="{BB962C8B-B14F-4D97-AF65-F5344CB8AC3E}">
        <p14:creationId xmlns:p14="http://schemas.microsoft.com/office/powerpoint/2010/main" val="4030471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8507AE-839B-C1E2-A6E3-DF508AB01DB4}"/>
                  </a:ext>
                </a:extLst>
              </p:cNvPr>
              <p:cNvSpPr txBox="1"/>
              <p:nvPr/>
            </p:nvSpPr>
            <p:spPr>
              <a:xfrm>
                <a:off x="0" y="0"/>
                <a:ext cx="12085320" cy="7267887"/>
              </a:xfrm>
              <a:prstGeom prst="rect">
                <a:avLst/>
              </a:prstGeom>
              <a:noFill/>
            </p:spPr>
            <p:txBody>
              <a:bodyPr wrap="square" rtlCol="0">
                <a:spAutoFit/>
              </a:bodyPr>
              <a:lstStyle/>
              <a:p>
                <a:r>
                  <a:rPr lang="en-IN" b="1" dirty="0"/>
                  <a:t>BACKGROUND-FOCUSED BRANCH (BFB)</a:t>
                </a:r>
              </a:p>
              <a:p>
                <a:r>
                  <a:rPr lang="en-IN" b="1" dirty="0"/>
                  <a:t>Step 9 — Patch Tensor Formation</a:t>
                </a:r>
              </a:p>
              <a:p>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𝑇</m:t>
                          </m:r>
                        </m:e>
                        <m:sub>
                          <m:r>
                            <a:rPr lang="ar-AE" sz="2000" i="1">
                              <a:latin typeface="Cambria Math" panose="02040503050406030204" pitchFamily="18" charset="0"/>
                            </a:rPr>
                            <m:t>𝐵</m:t>
                          </m:r>
                        </m:sub>
                      </m:sSub>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a:latin typeface="Cambria Math" panose="02040503050406030204" pitchFamily="18" charset="0"/>
                            </a:rPr>
                            <m:t>ℝ</m:t>
                          </m:r>
                        </m:e>
                        <m:sup>
                          <m:sSub>
                            <m:sSubPr>
                              <m:ctrlPr>
                                <a:rPr lang="ar-AE" sz="2000" i="1">
                                  <a:latin typeface="Cambria Math" panose="02040503050406030204" pitchFamily="18" charset="0"/>
                                </a:rPr>
                              </m:ctrlPr>
                            </m:sSubPr>
                            <m:e>
                              <m:r>
                                <a:rPr lang="ar-AE" sz="2000" i="1">
                                  <a:latin typeface="Cambria Math" panose="02040503050406030204" pitchFamily="18" charset="0"/>
                                </a:rPr>
                                <m:t>𝐽</m:t>
                              </m:r>
                            </m:e>
                            <m:sub>
                              <m:r>
                                <a:rPr lang="ar-AE" sz="2000" i="1">
                                  <a:latin typeface="Cambria Math" panose="02040503050406030204" pitchFamily="18" charset="0"/>
                                </a:rPr>
                                <m:t>𝐵</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𝐿</m:t>
                              </m:r>
                            </m:e>
                            <m:sub>
                              <m:r>
                                <a:rPr lang="ar-AE" sz="2000" i="1">
                                  <a:latin typeface="Cambria Math" panose="02040503050406030204" pitchFamily="18" charset="0"/>
                                </a:rPr>
                                <m:t>𝐵</m:t>
                              </m:r>
                            </m:sub>
                          </m:sSub>
                          <m:r>
                            <a:rPr lang="ar-AE" sz="2000">
                              <a:latin typeface="Cambria Math" panose="02040503050406030204" pitchFamily="18" charset="0"/>
                            </a:rPr>
                            <m:t>×</m:t>
                          </m:r>
                          <m:r>
                            <a:rPr lang="ar-AE" sz="2000" i="1">
                              <a:latin typeface="Cambria Math" panose="02040503050406030204" pitchFamily="18" charset="0"/>
                            </a:rPr>
                            <m:t>𝐶</m:t>
                          </m:r>
                        </m:sup>
                      </m:sSup>
                    </m:oMath>
                  </m:oMathPara>
                </a14:m>
                <a:endParaRPr lang="en-IN" sz="2000" dirty="0"/>
              </a:p>
              <a:p>
                <a:endParaRPr lang="ar-AE" dirty="0"/>
              </a:p>
              <a:p>
                <a:r>
                  <a:rPr lang="en-IN" b="1" dirty="0"/>
                  <a:t>Step 10 — Self-Attention Computation</a:t>
                </a:r>
              </a:p>
              <a:p>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𝑄</m:t>
                      </m:r>
                      <m:r>
                        <a:rPr lang="en-IN"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𝑇</m:t>
                          </m:r>
                        </m:e>
                        <m:sub>
                          <m:r>
                            <a:rPr lang="ar-AE" sz="2000" i="1">
                              <a:latin typeface="Cambria Math" panose="02040503050406030204" pitchFamily="18" charset="0"/>
                            </a:rPr>
                            <m:t>𝐵</m:t>
                          </m:r>
                        </m:sub>
                      </m:sSub>
                      <m:sSub>
                        <m:sSubPr>
                          <m:ctrlPr>
                            <a:rPr lang="ar-AE" sz="2000" i="1">
                              <a:latin typeface="Cambria Math" panose="02040503050406030204" pitchFamily="18" charset="0"/>
                            </a:rPr>
                          </m:ctrlPr>
                        </m:sSubPr>
                        <m:e>
                          <m:r>
                            <a:rPr lang="ar-AE" sz="2000" i="1">
                              <a:latin typeface="Cambria Math" panose="02040503050406030204" pitchFamily="18" charset="0"/>
                            </a:rPr>
                            <m:t>𝑊</m:t>
                          </m:r>
                        </m:e>
                        <m:sub>
                          <m:r>
                            <a:rPr lang="ar-AE" sz="2000" i="1">
                              <a:latin typeface="Cambria Math" panose="02040503050406030204" pitchFamily="18" charset="0"/>
                            </a:rPr>
                            <m:t>𝐵</m:t>
                          </m:r>
                        </m:sub>
                      </m:sSub>
                      <m:r>
                        <a:rPr lang="ar-AE" sz="2000">
                          <a:latin typeface="Cambria Math" panose="02040503050406030204" pitchFamily="18" charset="0"/>
                        </a:rPr>
                        <m:t>, </m:t>
                      </m:r>
                      <m:r>
                        <a:rPr lang="ar-AE" sz="2000" i="1">
                          <a:latin typeface="Cambria Math" panose="02040503050406030204" pitchFamily="18" charset="0"/>
                        </a:rPr>
                        <m:t>𝐾</m:t>
                      </m:r>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𝑇</m:t>
                          </m:r>
                        </m:e>
                        <m:sub>
                          <m:r>
                            <a:rPr lang="ar-AE" sz="2000" i="1">
                              <a:latin typeface="Cambria Math" panose="02040503050406030204" pitchFamily="18" charset="0"/>
                            </a:rPr>
                            <m:t>𝐵</m:t>
                          </m:r>
                        </m:sub>
                      </m:sSub>
                      <m:sSub>
                        <m:sSubPr>
                          <m:ctrlPr>
                            <a:rPr lang="ar-AE" sz="2000" i="1">
                              <a:latin typeface="Cambria Math" panose="02040503050406030204" pitchFamily="18" charset="0"/>
                            </a:rPr>
                          </m:ctrlPr>
                        </m:sSubPr>
                        <m:e>
                          <m:r>
                            <a:rPr lang="ar-AE" sz="2000" i="1">
                              <a:latin typeface="Cambria Math" panose="02040503050406030204" pitchFamily="18" charset="0"/>
                            </a:rPr>
                            <m:t>𝑊</m:t>
                          </m:r>
                        </m:e>
                        <m:sub>
                          <m:r>
                            <a:rPr lang="ar-AE" sz="2000" i="1">
                              <a:latin typeface="Cambria Math" panose="02040503050406030204" pitchFamily="18" charset="0"/>
                            </a:rPr>
                            <m:t>𝐵</m:t>
                          </m:r>
                        </m:sub>
                      </m:sSub>
                      <m:r>
                        <a:rPr lang="ar-AE" sz="2000">
                          <a:latin typeface="Cambria Math" panose="02040503050406030204" pitchFamily="18" charset="0"/>
                        </a:rPr>
                        <m:t>, </m:t>
                      </m:r>
                      <m:r>
                        <a:rPr lang="ar-AE" sz="2000" i="1">
                          <a:latin typeface="Cambria Math" panose="02040503050406030204" pitchFamily="18" charset="0"/>
                        </a:rPr>
                        <m:t>𝑉</m:t>
                      </m:r>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𝑇</m:t>
                          </m:r>
                        </m:e>
                        <m:sub>
                          <m:r>
                            <a:rPr lang="ar-AE" sz="2000" i="1">
                              <a:latin typeface="Cambria Math" panose="02040503050406030204" pitchFamily="18" charset="0"/>
                            </a:rPr>
                            <m:t>𝐵</m:t>
                          </m:r>
                        </m:sub>
                      </m:sSub>
                    </m:oMath>
                  </m:oMathPara>
                </a14:m>
                <a:endParaRPr lang="en-IN" sz="2000" dirty="0"/>
              </a:p>
              <a:p>
                <a:endParaRPr lang="ar-AE" sz="2000" dirty="0"/>
              </a:p>
              <a:p>
                <a:pPr/>
                <a14:m>
                  <m:oMathPara xmlns:m="http://schemas.openxmlformats.org/officeDocument/2006/math">
                    <m:oMathParaPr>
                      <m:jc m:val="centerGroup"/>
                    </m:oMathParaPr>
                    <m:oMath xmlns:m="http://schemas.openxmlformats.org/officeDocument/2006/math">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e>
                      </m:acc>
                      <m:r>
                        <a:rPr lang="ar-AE" sz="2000">
                          <a:latin typeface="Cambria Math" panose="02040503050406030204" pitchFamily="18" charset="0"/>
                        </a:rPr>
                        <m:t>=</m:t>
                      </m:r>
                      <m:r>
                        <a:rPr lang="ar-AE" sz="2000" i="1">
                          <a:latin typeface="Cambria Math" panose="02040503050406030204" pitchFamily="18" charset="0"/>
                        </a:rPr>
                        <m:t>𝑆𝑜𝑓𝑡𝑚𝑎𝑥</m:t>
                      </m:r>
                      <m:d>
                        <m:dPr>
                          <m:ctrlPr>
                            <a:rPr lang="ar-AE" sz="2000" i="1">
                              <a:latin typeface="Cambria Math" panose="02040503050406030204" pitchFamily="18" charset="0"/>
                            </a:rPr>
                          </m:ctrlPr>
                        </m:dPr>
                        <m:e>
                          <m:r>
                            <a:rPr lang="ar-AE" sz="2000" i="1">
                              <a:latin typeface="Cambria Math" panose="02040503050406030204" pitchFamily="18" charset="0"/>
                            </a:rPr>
                            <m:t>𝑄</m:t>
                          </m:r>
                          <m:sSup>
                            <m:sSupPr>
                              <m:ctrlPr>
                                <a:rPr lang="ar-AE" sz="2000" i="1">
                                  <a:latin typeface="Cambria Math" panose="02040503050406030204" pitchFamily="18" charset="0"/>
                                </a:rPr>
                              </m:ctrlPr>
                            </m:sSupPr>
                            <m:e>
                              <m:r>
                                <a:rPr lang="ar-AE" sz="2000" i="1">
                                  <a:latin typeface="Cambria Math" panose="02040503050406030204" pitchFamily="18" charset="0"/>
                                </a:rPr>
                                <m:t>𝐾</m:t>
                              </m:r>
                            </m:e>
                            <m:sup>
                              <m:r>
                                <a:rPr lang="ar-AE" sz="2000" i="1">
                                  <a:latin typeface="Cambria Math" panose="02040503050406030204" pitchFamily="18" charset="0"/>
                                </a:rPr>
                                <m:t>𝑇</m:t>
                              </m:r>
                            </m:sup>
                          </m:sSup>
                        </m:e>
                      </m:d>
                      <m:r>
                        <a:rPr lang="ar-AE" sz="2000" i="1">
                          <a:latin typeface="Cambria Math" panose="02040503050406030204" pitchFamily="18" charset="0"/>
                        </a:rPr>
                        <m:t>𝑉</m:t>
                      </m:r>
                    </m:oMath>
                  </m:oMathPara>
                </a14:m>
                <a:endParaRPr lang="ar-AE" sz="2000" dirty="0"/>
              </a:p>
              <a:p>
                <a:r>
                  <a:rPr lang="en-IN" b="1" dirty="0"/>
                  <a:t>COMMON PROCESSING</a:t>
                </a:r>
              </a:p>
              <a:p>
                <a:r>
                  <a:rPr lang="en-IN" b="1" dirty="0"/>
                  <a:t> Step 11 — Feed Forward Network (FFN)</a:t>
                </a:r>
              </a:p>
              <a:p>
                <a:pPr/>
                <a14:m>
                  <m:oMathPara xmlns:m="http://schemas.openxmlformats.org/officeDocument/2006/math">
                    <m:oMathParaPr>
                      <m:jc m:val="centerGroup"/>
                    </m:oMathParaPr>
                    <m:oMath xmlns:m="http://schemas.openxmlformats.org/officeDocument/2006/math">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e>
                      </m:acc>
                      <m:r>
                        <a:rPr lang="ar-AE" sz="2000">
                          <a:latin typeface="Cambria Math" panose="02040503050406030204" pitchFamily="18" charset="0"/>
                        </a:rPr>
                        <m:t>=</m:t>
                      </m:r>
                      <m:r>
                        <a:rPr lang="ar-AE" sz="2000" i="1">
                          <a:latin typeface="Cambria Math" panose="02040503050406030204" pitchFamily="18" charset="0"/>
                        </a:rPr>
                        <m:t>𝑀𝐿𝑃</m:t>
                      </m:r>
                      <m:d>
                        <m:dPr>
                          <m:ctrlPr>
                            <a:rPr lang="ar-AE" sz="2000" i="1">
                              <a:latin typeface="Cambria Math" panose="02040503050406030204" pitchFamily="18" charset="0"/>
                            </a:rPr>
                          </m:ctrlPr>
                        </m:dPr>
                        <m:e>
                          <m:r>
                            <a:rPr lang="ar-AE" sz="2000" i="1">
                              <a:latin typeface="Cambria Math" panose="02040503050406030204" pitchFamily="18" charset="0"/>
                            </a:rPr>
                            <m:t>𝐿𝑁</m:t>
                          </m:r>
                          <m:d>
                            <m:dPr>
                              <m:ctrlPr>
                                <a:rPr lang="ar-AE" sz="2000" i="1">
                                  <a:latin typeface="Cambria Math" panose="02040503050406030204" pitchFamily="18" charset="0"/>
                                </a:rPr>
                              </m:ctrlPr>
                            </m:dPr>
                            <m:e>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e>
                              </m:acc>
                            </m:e>
                          </m:d>
                        </m:e>
                      </m:d>
                      <m:r>
                        <a:rPr lang="ar-AE" sz="2000">
                          <a:latin typeface="Cambria Math" panose="02040503050406030204" pitchFamily="18" charset="0"/>
                        </a:rPr>
                        <m:t>+</m:t>
                      </m:r>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e>
                      </m:acc>
                    </m:oMath>
                  </m:oMathPara>
                </a14:m>
                <a:endParaRPr lang="en-IN" sz="2000" dirty="0"/>
              </a:p>
              <a:p>
                <a:endParaRPr lang="ar-AE" dirty="0"/>
              </a:p>
              <a:p>
                <a:r>
                  <a:rPr lang="en-IN" b="1" dirty="0"/>
                  <a:t> Step 12 — Reconstruction</a:t>
                </a:r>
              </a:p>
              <a:p>
                <a:pPr/>
                <a14:m>
                  <m:oMathPara xmlns:m="http://schemas.openxmlformats.org/officeDocument/2006/math">
                    <m:oMathParaPr>
                      <m:jc m:val="centerGroup"/>
                    </m:oMathParaPr>
                    <m:oMath xmlns:m="http://schemas.openxmlformats.org/officeDocument/2006/math">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e>
                      </m:acc>
                      <m:r>
                        <a:rPr lang="ar-AE" sz="2000">
                          <a:latin typeface="Cambria Math" panose="02040503050406030204" pitchFamily="18" charset="0"/>
                        </a:rPr>
                        <m:t>=</m:t>
                      </m:r>
                      <m:r>
                        <a:rPr lang="ar-AE" sz="2000" i="1">
                          <a:latin typeface="Cambria Math" panose="02040503050406030204" pitchFamily="18" charset="0"/>
                        </a:rPr>
                        <m:t>𝐶𝑜𝑛</m:t>
                      </m:r>
                      <m:sSub>
                        <m:sSubPr>
                          <m:ctrlPr>
                            <a:rPr lang="ar-AE" sz="2000" i="1">
                              <a:latin typeface="Cambria Math" panose="02040503050406030204" pitchFamily="18" charset="0"/>
                            </a:rPr>
                          </m:ctrlPr>
                        </m:sSubPr>
                        <m:e>
                          <m:r>
                            <a:rPr lang="ar-AE" sz="2000" i="1">
                              <a:latin typeface="Cambria Math" panose="02040503050406030204" pitchFamily="18" charset="0"/>
                            </a:rPr>
                            <m:t>𝑣</m:t>
                          </m:r>
                        </m:e>
                        <m:sub>
                          <m:r>
                            <a:rPr lang="ar-AE" sz="2000">
                              <a:latin typeface="Cambria Math" panose="02040503050406030204" pitchFamily="18" charset="0"/>
                            </a:rPr>
                            <m:t>3</m:t>
                          </m:r>
                          <m:r>
                            <a:rPr lang="ar-AE" sz="2000">
                              <a:latin typeface="Cambria Math" panose="02040503050406030204" pitchFamily="18" charset="0"/>
                            </a:rPr>
                            <m:t>×</m:t>
                          </m:r>
                          <m:r>
                            <a:rPr lang="ar-AE" sz="2000">
                              <a:latin typeface="Cambria Math" panose="02040503050406030204" pitchFamily="18" charset="0"/>
                            </a:rPr>
                            <m:t>3</m:t>
                          </m:r>
                        </m:sub>
                      </m:sSub>
                      <m:d>
                        <m:dPr>
                          <m:ctrlPr>
                            <a:rPr lang="ar-AE" sz="2000" i="1">
                              <a:latin typeface="Cambria Math" panose="02040503050406030204" pitchFamily="18" charset="0"/>
                            </a:rPr>
                          </m:ctrlPr>
                        </m:dPr>
                        <m:e>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e>
                          </m:acc>
                        </m:e>
                      </m:d>
                    </m:oMath>
                  </m:oMathPara>
                </a14:m>
                <a:endParaRPr lang="en-IN" sz="2000" dirty="0"/>
              </a:p>
              <a:p>
                <a:endParaRPr lang="ar-AE" dirty="0"/>
              </a:p>
              <a:p>
                <a:r>
                  <a:rPr lang="en-IN" b="1" dirty="0"/>
                  <a:t>Step 13 — Loss Function</a:t>
                </a:r>
              </a:p>
              <a:p>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𝐿</m:t>
                      </m:r>
                      <m:d>
                        <m:dPr>
                          <m:ctrlPr>
                            <a:rPr lang="ar-AE" sz="2000" i="1">
                              <a:latin typeface="Cambria Math" panose="02040503050406030204" pitchFamily="18" charset="0"/>
                            </a:rPr>
                          </m:ctrlPr>
                        </m:dPr>
                        <m:e>
                          <m:r>
                            <a:rPr lang="ar-AE" sz="2000" i="1">
                              <a:latin typeface="Cambria Math" panose="02040503050406030204" pitchFamily="18" charset="0"/>
                            </a:rPr>
                            <m:t>𝜃</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i="1">
                              <a:latin typeface="Cambria Math" panose="02040503050406030204" pitchFamily="18" charset="0"/>
                            </a:rPr>
                            <m:t>𝐵</m:t>
                          </m:r>
                        </m:den>
                      </m:f>
                      <m:nary>
                        <m:naryPr>
                          <m:chr m:val="∑"/>
                          <m:grow m:val="on"/>
                          <m:ctrlPr>
                            <a:rPr lang="ar-AE" sz="2000" i="1">
                              <a:latin typeface="Cambria Math" panose="02040503050406030204" pitchFamily="18" charset="0"/>
                            </a:rPr>
                          </m:ctrlPr>
                        </m:naryPr>
                        <m:sub>
                          <m:r>
                            <a:rPr lang="ar-AE" sz="2000" i="1">
                              <a:latin typeface="Cambria Math" panose="02040503050406030204" pitchFamily="18" charset="0"/>
                            </a:rPr>
                            <m:t>𝑖</m:t>
                          </m:r>
                          <m:r>
                            <a:rPr lang="ar-AE" sz="2000">
                              <a:latin typeface="Cambria Math" panose="02040503050406030204" pitchFamily="18" charset="0"/>
                            </a:rPr>
                            <m:t>=</m:t>
                          </m:r>
                          <m:r>
                            <a:rPr lang="ar-AE" sz="2000">
                              <a:latin typeface="Cambria Math" panose="02040503050406030204" pitchFamily="18" charset="0"/>
                            </a:rPr>
                            <m:t>1</m:t>
                          </m:r>
                        </m:sub>
                        <m:sup>
                          <m:r>
                            <a:rPr lang="ar-AE" sz="2000" i="1">
                              <a:latin typeface="Cambria Math" panose="02040503050406030204" pitchFamily="18" charset="0"/>
                            </a:rPr>
                            <m:t>𝐵</m:t>
                          </m:r>
                        </m:sup>
                        <m:e>
                          <m:r>
                            <a:rPr lang="ar-AE" sz="2000">
                              <a:latin typeface="Cambria Math" panose="02040503050406030204" pitchFamily="18" charset="0"/>
                            </a:rPr>
                            <m:t>∥</m:t>
                          </m:r>
                        </m:e>
                      </m:nary>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r>
                        <a:rPr lang="ar-AE" sz="2000">
                          <a:latin typeface="Cambria Math" panose="02040503050406030204" pitchFamily="18" charset="0"/>
                        </a:rPr>
                        <m:t>−</m:t>
                      </m:r>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e>
                      </m:acc>
                      <m:sSup>
                        <m:sSupPr>
                          <m:ctrlPr>
                            <a:rPr lang="ar-AE" sz="2000" i="1">
                              <a:latin typeface="Cambria Math" panose="02040503050406030204" pitchFamily="18" charset="0"/>
                            </a:rPr>
                          </m:ctrlPr>
                        </m:sSupPr>
                        <m:e>
                          <m:r>
                            <a:rPr lang="ar-AE" sz="2000">
                              <a:latin typeface="Cambria Math" panose="02040503050406030204" pitchFamily="18" charset="0"/>
                            </a:rPr>
                            <m:t>∥</m:t>
                          </m:r>
                        </m:e>
                        <m:sup>
                          <m:r>
                            <a:rPr lang="ar-AE" sz="2000">
                              <a:latin typeface="Cambria Math" panose="02040503050406030204" pitchFamily="18" charset="0"/>
                            </a:rPr>
                            <m:t>2</m:t>
                          </m:r>
                        </m:sup>
                      </m:sSup>
                    </m:oMath>
                  </m:oMathPara>
                </a14:m>
                <a:endParaRPr lang="ar-AE" sz="2000" dirty="0"/>
              </a:p>
              <a:p>
                <a:r>
                  <a:rPr lang="en-IN" b="1" dirty="0"/>
                  <a:t>Step 14 — Content Matching Method (CMM)</a:t>
                </a:r>
              </a:p>
              <a:p>
                <a:r>
                  <a:rPr lang="en-IN" b="1" dirty="0"/>
                  <a:t>Find best match:</a:t>
                </a:r>
              </a:p>
              <a:p>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𝑣</m:t>
                          </m:r>
                        </m:sub>
                      </m:sSub>
                      <m:r>
                        <a:rPr lang="ar-AE" sz="2000">
                          <a:latin typeface="Cambria Math" panose="02040503050406030204" pitchFamily="18" charset="0"/>
                        </a:rPr>
                        <m:t>=</m:t>
                      </m:r>
                      <m:func>
                        <m:funcPr>
                          <m:ctrlPr>
                            <a:rPr lang="ar-AE" sz="2000" i="1">
                              <a:latin typeface="Cambria Math" panose="02040503050406030204" pitchFamily="18" charset="0"/>
                            </a:rPr>
                          </m:ctrlPr>
                        </m:funcPr>
                        <m:fName>
                          <m:func>
                            <m:funcPr>
                              <m:ctrlPr>
                                <a:rPr lang="ar-AE" sz="2000" i="1">
                                  <a:latin typeface="Cambria Math" panose="02040503050406030204" pitchFamily="18" charset="0"/>
                                </a:rPr>
                              </m:ctrlPr>
                            </m:funcPr>
                            <m:fName>
                              <m:r>
                                <m:rPr>
                                  <m:sty m:val="p"/>
                                </m:rPr>
                                <a:rPr lang="en-IN" sz="2000">
                                  <a:latin typeface="Cambria Math" panose="02040503050406030204" pitchFamily="18" charset="0"/>
                                </a:rPr>
                                <m:t>arg</m:t>
                              </m:r>
                            </m:fName>
                            <m:e>
                              <m:r>
                                <m:rPr>
                                  <m:sty m:val="p"/>
                                </m:rPr>
                                <a:rPr lang="en-IN" sz="2000">
                                  <a:latin typeface="Cambria Math" panose="02040503050406030204" pitchFamily="18" charset="0"/>
                                </a:rPr>
                                <m:t>min</m:t>
                              </m:r>
                            </m:e>
                          </m:func>
                        </m:fName>
                        <m:e>
                          <m:r>
                            <a:rPr lang="ar-AE" sz="2000">
                              <a:latin typeface="Cambria Math" panose="02040503050406030204" pitchFamily="18" charset="0"/>
                            </a:rPr>
                            <m:t>∣</m:t>
                          </m:r>
                        </m:e>
                      </m:func>
                      <m:r>
                        <a:rPr lang="ar-AE" sz="2000">
                          <a:latin typeface="Cambria Math" panose="02040503050406030204" pitchFamily="18" charset="0"/>
                        </a:rPr>
                        <m:t>∣</m:t>
                      </m:r>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e>
                      </m:acc>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𝑗</m:t>
                          </m:r>
                        </m:sub>
                      </m:sSub>
                      <m:r>
                        <a:rPr lang="ar-AE" sz="2000">
                          <a:latin typeface="Cambria Math" panose="02040503050406030204" pitchFamily="18" charset="0"/>
                        </a:rPr>
                        <m:t>∣∣</m:t>
                      </m:r>
                    </m:oMath>
                  </m:oMathPara>
                </a14:m>
                <a:endParaRPr lang="ar-AE" sz="2000" dirty="0"/>
              </a:p>
              <a:p>
                <a:endParaRPr lang="en-IN" b="0" dirty="0"/>
              </a:p>
              <a:p>
                <a:endParaRPr lang="ar-AE" b="0" dirty="0"/>
              </a:p>
            </p:txBody>
          </p:sp>
        </mc:Choice>
        <mc:Fallback xmlns="">
          <p:sp>
            <p:nvSpPr>
              <p:cNvPr id="3" name="TextBox 2">
                <a:extLst>
                  <a:ext uri="{FF2B5EF4-FFF2-40B4-BE49-F238E27FC236}">
                    <a16:creationId xmlns:a16="http://schemas.microsoft.com/office/drawing/2014/main" id="{418507AE-839B-C1E2-A6E3-DF508AB01DB4}"/>
                  </a:ext>
                </a:extLst>
              </p:cNvPr>
              <p:cNvSpPr txBox="1">
                <a:spLocks noRot="1" noChangeAspect="1" noMove="1" noResize="1" noEditPoints="1" noAdjustHandles="1" noChangeArrowheads="1" noChangeShapeType="1" noTextEdit="1"/>
              </p:cNvSpPr>
              <p:nvPr/>
            </p:nvSpPr>
            <p:spPr>
              <a:xfrm>
                <a:off x="0" y="0"/>
                <a:ext cx="12085320" cy="7267887"/>
              </a:xfrm>
              <a:prstGeom prst="rect">
                <a:avLst/>
              </a:prstGeom>
              <a:blipFill>
                <a:blip r:embed="rId2"/>
                <a:stretch>
                  <a:fillRect l="-403" t="-419"/>
                </a:stretch>
              </a:blipFill>
            </p:spPr>
            <p:txBody>
              <a:bodyPr/>
              <a:lstStyle/>
              <a:p>
                <a:r>
                  <a:rPr lang="en-IN">
                    <a:noFill/>
                  </a:rPr>
                  <a:t> </a:t>
                </a:r>
              </a:p>
            </p:txBody>
          </p:sp>
        </mc:Fallback>
      </mc:AlternateContent>
    </p:spTree>
    <p:extLst>
      <p:ext uri="{BB962C8B-B14F-4D97-AF65-F5344CB8AC3E}">
        <p14:creationId xmlns:p14="http://schemas.microsoft.com/office/powerpoint/2010/main" val="1983142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E87E1E3-B827-C3B1-4F71-5127A0E7118C}"/>
                  </a:ext>
                </a:extLst>
              </p:cNvPr>
              <p:cNvSpPr txBox="1"/>
              <p:nvPr/>
            </p:nvSpPr>
            <p:spPr>
              <a:xfrm>
                <a:off x="0" y="0"/>
                <a:ext cx="12192000" cy="6928563"/>
              </a:xfrm>
              <a:prstGeom prst="rect">
                <a:avLst/>
              </a:prstGeom>
              <a:noFill/>
            </p:spPr>
            <p:txBody>
              <a:bodyPr wrap="square" rtlCol="0">
                <a:spAutoFit/>
              </a:bodyPr>
              <a:lstStyle/>
              <a:p>
                <a:r>
                  <a:rPr lang="en-IN" b="1" dirty="0"/>
                  <a:t>Update gating:</a:t>
                </a:r>
              </a:p>
              <a:p>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𝑔</m:t>
                          </m:r>
                        </m:e>
                        <m:sub>
                          <m:r>
                            <a:rPr lang="ar-AE" sz="2000" i="1">
                              <a:latin typeface="Cambria Math" panose="02040503050406030204" pitchFamily="18" charset="0"/>
                            </a:rPr>
                            <m:t>𝑖</m:t>
                          </m:r>
                        </m:sub>
                      </m:sSub>
                      <m:r>
                        <a:rPr lang="ar-AE" sz="2000">
                          <a:latin typeface="Cambria Math" panose="02040503050406030204" pitchFamily="18" charset="0"/>
                        </a:rPr>
                        <m:t>=</m:t>
                      </m:r>
                      <m:d>
                        <m:dPr>
                          <m:begChr m:val="{"/>
                          <m:endChr m:val=""/>
                          <m:ctrlPr>
                            <a:rPr lang="ar-AE" sz="2000" i="1">
                              <a:latin typeface="Cambria Math" panose="02040503050406030204" pitchFamily="18" charset="0"/>
                            </a:rPr>
                          </m:ctrlPr>
                        </m:dPr>
                        <m:e>
                          <m:m>
                            <m:mPr>
                              <m:plcHide m:val="on"/>
                              <m:mcs>
                                <m:mc>
                                  <m:mcPr>
                                    <m:count m:val="2"/>
                                    <m:mcJc m:val="center"/>
                                  </m:mcPr>
                                </m:mc>
                              </m:mcs>
                              <m:ctrlPr>
                                <a:rPr lang="ar-AE" sz="2000" i="1">
                                  <a:latin typeface="Cambria Math" panose="02040503050406030204" pitchFamily="18" charset="0"/>
                                </a:rPr>
                              </m:ctrlPr>
                            </m:mPr>
                            <m:mr>
                              <m:e>
                                <m:r>
                                  <a:rPr lang="ar-AE" sz="2000">
                                    <a:latin typeface="Cambria Math" panose="02040503050406030204" pitchFamily="18" charset="0"/>
                                  </a:rPr>
                                  <m:t>1</m:t>
                                </m:r>
                                <m:r>
                                  <a:rPr lang="ar-AE" sz="2000">
                                    <a:latin typeface="Cambria Math" panose="02040503050406030204" pitchFamily="18" charset="0"/>
                                  </a:rPr>
                                  <m:t>,</m:t>
                                </m:r>
                              </m:e>
                              <m:e>
                                <m:r>
                                  <a:rPr lang="ar-AE" sz="2000" i="1">
                                    <a:latin typeface="Cambria Math" panose="02040503050406030204" pitchFamily="18" charset="0"/>
                                  </a:rPr>
                                  <m:t>𝑣</m:t>
                                </m:r>
                                <m:r>
                                  <a:rPr lang="ar-AE" sz="2000">
                                    <a:latin typeface="Cambria Math" panose="02040503050406030204" pitchFamily="18" charset="0"/>
                                  </a:rPr>
                                  <m:t>=</m:t>
                                </m:r>
                                <m:r>
                                  <a:rPr lang="ar-AE" sz="2000" i="1">
                                    <a:latin typeface="Cambria Math" panose="02040503050406030204" pitchFamily="18" charset="0"/>
                                  </a:rPr>
                                  <m:t>𝑖</m:t>
                                </m:r>
                                <m:r>
                                  <m:rPr>
                                    <m:nor/>
                                  </m:rPr>
                                  <a:rPr lang="ar-AE" sz="2000" i="1"/>
                                  <m:t> </m:t>
                                </m:r>
                                <m:d>
                                  <m:dPr>
                                    <m:ctrlPr>
                                      <a:rPr lang="ar-AE" sz="2000" i="1">
                                        <a:latin typeface="Cambria Math" panose="02040503050406030204" pitchFamily="18" charset="0"/>
                                      </a:rPr>
                                    </m:ctrlPr>
                                  </m:dPr>
                                  <m:e>
                                    <m:r>
                                      <m:rPr>
                                        <m:nor/>
                                      </m:rPr>
                                      <a:rPr lang="en-IN" sz="2000" i="1"/>
                                      <m:t>background</m:t>
                                    </m:r>
                                  </m:e>
                                </m:d>
                              </m:e>
                            </m:mr>
                            <m:mr>
                              <m:e>
                                <m:r>
                                  <a:rPr lang="ar-AE" sz="2000">
                                    <a:latin typeface="Cambria Math" panose="02040503050406030204" pitchFamily="18" charset="0"/>
                                  </a:rPr>
                                  <m:t>0</m:t>
                                </m:r>
                                <m:r>
                                  <a:rPr lang="ar-AE" sz="2000">
                                    <a:latin typeface="Cambria Math" panose="02040503050406030204" pitchFamily="18" charset="0"/>
                                  </a:rPr>
                                  <m:t>,</m:t>
                                </m:r>
                              </m:e>
                              <m:e>
                                <m:r>
                                  <a:rPr lang="ar-AE" sz="2000" i="1">
                                    <a:latin typeface="Cambria Math" panose="02040503050406030204" pitchFamily="18" charset="0"/>
                                  </a:rPr>
                                  <m:t>𝑣</m:t>
                                </m:r>
                                <m:r>
                                  <a:rPr lang="ar-AE" sz="2000">
                                    <a:latin typeface="Cambria Math" panose="02040503050406030204" pitchFamily="18" charset="0"/>
                                  </a:rPr>
                                  <m:t>≠</m:t>
                                </m:r>
                                <m:r>
                                  <a:rPr lang="ar-AE" sz="2000" i="1">
                                    <a:latin typeface="Cambria Math" panose="02040503050406030204" pitchFamily="18" charset="0"/>
                                  </a:rPr>
                                  <m:t>𝑖</m:t>
                                </m:r>
                                <m:r>
                                  <m:rPr>
                                    <m:nor/>
                                  </m:rPr>
                                  <a:rPr lang="ar-AE" sz="2000" i="1"/>
                                  <m:t> </m:t>
                                </m:r>
                                <m:d>
                                  <m:dPr>
                                    <m:ctrlPr>
                                      <a:rPr lang="ar-AE" sz="2000" i="1">
                                        <a:latin typeface="Cambria Math" panose="02040503050406030204" pitchFamily="18" charset="0"/>
                                      </a:rPr>
                                    </m:ctrlPr>
                                  </m:dPr>
                                  <m:e>
                                    <m:r>
                                      <m:rPr>
                                        <m:nor/>
                                      </m:rPr>
                                      <a:rPr lang="en-IN" sz="2000" i="1"/>
                                      <m:t>anomaly</m:t>
                                    </m:r>
                                  </m:e>
                                </m:d>
                              </m:e>
                            </m:mr>
                          </m:m>
                        </m:e>
                      </m:d>
                      <m:r>
                        <a:rPr lang="en-IN" sz="2000" i="1">
                          <a:latin typeface="Cambria Math" panose="02040503050406030204" pitchFamily="18" charset="0"/>
                        </a:rPr>
                        <m:t> </m:t>
                      </m:r>
                    </m:oMath>
                  </m:oMathPara>
                </a14:m>
                <a:endParaRPr lang="en-IN" sz="2000" dirty="0"/>
              </a:p>
              <a:p>
                <a:r>
                  <a:rPr lang="en-US" b="1" dirty="0"/>
                  <a:t>Step 15 — Backpropagation</a:t>
                </a:r>
              </a:p>
              <a:p>
                <a:r>
                  <a:rPr lang="en-US" dirty="0"/>
                  <a:t>Update weights </a:t>
                </a:r>
              </a:p>
              <a:p>
                <a:r>
                  <a:rPr lang="en-US" dirty="0"/>
                  <a:t>Update gating states</a:t>
                </a:r>
              </a:p>
              <a:p>
                <a:endParaRPr lang="en-IN" b="1" dirty="0"/>
              </a:p>
              <a:p>
                <a:r>
                  <a:rPr lang="en-IN" b="1" dirty="0"/>
                  <a:t>DETECTION STAGE</a:t>
                </a:r>
              </a:p>
              <a:p>
                <a:r>
                  <a:rPr lang="en-IN" b="1" dirty="0"/>
                  <a:t>Step 16 — Residual Computation</a:t>
                </a:r>
              </a:p>
              <a:p>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𝑟</m:t>
                          </m:r>
                        </m:e>
                        <m:sub>
                          <m:r>
                            <a:rPr lang="ar-AE" sz="2000" i="1">
                              <a:latin typeface="Cambria Math" panose="02040503050406030204" pitchFamily="18" charset="0"/>
                            </a:rPr>
                            <m:t>𝑖</m:t>
                          </m:r>
                        </m:sub>
                      </m:sSub>
                      <m:r>
                        <a:rPr lang="ar-AE" sz="2000">
                          <a:latin typeface="Cambria Math" panose="02040503050406030204" pitchFamily="18" charset="0"/>
                        </a:rPr>
                        <m:t>=</m:t>
                      </m:r>
                      <m:sSup>
                        <m:sSupPr>
                          <m:ctrlPr>
                            <a:rPr lang="ar-AE" sz="2000" i="1">
                              <a:latin typeface="Cambria Math" panose="02040503050406030204" pitchFamily="18" charset="0"/>
                            </a:rPr>
                          </m:ctrlPr>
                        </m:sSupPr>
                        <m:e>
                          <m:d>
                            <m:dPr>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r>
                                <a:rPr lang="ar-AE" sz="2000">
                                  <a:latin typeface="Cambria Math" panose="02040503050406030204" pitchFamily="18" charset="0"/>
                                </a:rPr>
                                <m:t>−</m:t>
                              </m:r>
                              <m:acc>
                                <m:accPr>
                                  <m:chr m:val="̂"/>
                                  <m:ctrlPr>
                                    <a:rPr lang="ar-AE" sz="2000" i="1">
                                      <a:latin typeface="Cambria Math" panose="02040503050406030204" pitchFamily="18" charset="0"/>
                                    </a:rPr>
                                  </m:ctrlPr>
                                </m:acc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e>
                              </m:acc>
                            </m:e>
                          </m:d>
                        </m:e>
                        <m:sup>
                          <m:r>
                            <a:rPr lang="ar-AE" sz="2000">
                              <a:latin typeface="Cambria Math" panose="02040503050406030204" pitchFamily="18" charset="0"/>
                            </a:rPr>
                            <m:t>2</m:t>
                          </m:r>
                        </m:sup>
                      </m:sSup>
                    </m:oMath>
                  </m:oMathPara>
                </a14:m>
                <a:endParaRPr lang="ar-AE" sz="2000" dirty="0"/>
              </a:p>
              <a:p>
                <a:br>
                  <a:rPr lang="ar-AE" dirty="0"/>
                </a:br>
                <a:r>
                  <a:rPr lang="en-IN" b="1" dirty="0"/>
                  <a:t>Step 17 — Residual Map</a:t>
                </a:r>
              </a:p>
              <a:p>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𝑚</m:t>
                          </m:r>
                        </m:e>
                        <m:sub>
                          <m:r>
                            <a:rPr lang="ar-AE" sz="2000" i="1">
                              <a:latin typeface="Cambria Math" panose="02040503050406030204" pitchFamily="18" charset="0"/>
                            </a:rPr>
                            <m:t>𝑖</m:t>
                          </m:r>
                        </m:sub>
                      </m:sSub>
                      <m:r>
                        <a:rPr lang="ar-AE" sz="2000">
                          <a:latin typeface="Cambria Math" panose="02040503050406030204" pitchFamily="18" charset="0"/>
                        </a:rPr>
                        <m:t>=</m:t>
                      </m:r>
                      <m:nary>
                        <m:naryPr>
                          <m:chr m:val="∑"/>
                          <m:grow m:val="on"/>
                          <m:supHide m:val="on"/>
                          <m:ctrlPr>
                            <a:rPr lang="ar-AE" sz="2000" i="1">
                              <a:latin typeface="Cambria Math" panose="02040503050406030204" pitchFamily="18" charset="0"/>
                            </a:rPr>
                          </m:ctrlPr>
                        </m:naryPr>
                        <m:sub>
                          <m:r>
                            <a:rPr lang="ar-AE" sz="2000" i="1">
                              <a:latin typeface="Cambria Math" panose="02040503050406030204" pitchFamily="18" charset="0"/>
                            </a:rPr>
                            <m:t>𝑏𝑎𝑛𝑑𝑠</m:t>
                          </m:r>
                        </m:sub>
                        <m:sup/>
                        <m:e>
                          <m:sSub>
                            <m:sSubPr>
                              <m:ctrlPr>
                                <a:rPr lang="ar-AE" sz="2000" i="1">
                                  <a:latin typeface="Cambria Math" panose="02040503050406030204" pitchFamily="18" charset="0"/>
                                </a:rPr>
                              </m:ctrlPr>
                            </m:sSubPr>
                            <m:e>
                              <m:r>
                                <a:rPr lang="ar-AE" sz="2000" i="1">
                                  <a:latin typeface="Cambria Math" panose="02040503050406030204" pitchFamily="18" charset="0"/>
                                </a:rPr>
                                <m:t>𝑟</m:t>
                              </m:r>
                            </m:e>
                            <m:sub>
                              <m:r>
                                <a:rPr lang="ar-AE" sz="2000" i="1">
                                  <a:latin typeface="Cambria Math" panose="02040503050406030204" pitchFamily="18" charset="0"/>
                                </a:rPr>
                                <m:t>𝑖</m:t>
                              </m:r>
                            </m:sub>
                          </m:sSub>
                        </m:e>
                      </m:nary>
                    </m:oMath>
                  </m:oMathPara>
                </a14:m>
                <a:endParaRPr lang="ar-AE" sz="2000" dirty="0"/>
              </a:p>
              <a:p>
                <a:br>
                  <a:rPr lang="ar-AE" dirty="0"/>
                </a:br>
                <a:r>
                  <a:rPr lang="en-IN" b="1" dirty="0"/>
                  <a:t> Step 18 — Aggregation</a:t>
                </a:r>
              </a:p>
              <a:p>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𝑀</m:t>
                      </m:r>
                      <m:r>
                        <a:rPr lang="en-IN" sz="2000">
                          <a:latin typeface="Cambria Math" panose="02040503050406030204" pitchFamily="18" charset="0"/>
                        </a:rPr>
                        <m:t>=</m:t>
                      </m:r>
                      <m:r>
                        <a:rPr lang="en-IN" sz="2000" i="1">
                          <a:latin typeface="Cambria Math" panose="02040503050406030204" pitchFamily="18" charset="0"/>
                        </a:rPr>
                        <m:t>𝐹</m:t>
                      </m:r>
                      <m:d>
                        <m:dPr>
                          <m:ctrlPr>
                            <a:rPr lang="ar-AE" sz="2000" i="1">
                              <a:latin typeface="Cambria Math" panose="02040503050406030204" pitchFamily="18" charset="0"/>
                            </a:rPr>
                          </m:ctrlPr>
                        </m:dPr>
                        <m:e>
                          <m:d>
                            <m:dPr>
                              <m:begChr m:val="{"/>
                              <m:end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𝑚</m:t>
                                  </m:r>
                                </m:e>
                                <m:sub>
                                  <m:r>
                                    <a:rPr lang="ar-AE" sz="2000" i="1">
                                      <a:latin typeface="Cambria Math" panose="02040503050406030204" pitchFamily="18" charset="0"/>
                                    </a:rPr>
                                    <m:t>𝑖</m:t>
                                  </m:r>
                                </m:sub>
                              </m:sSub>
                            </m:e>
                          </m:d>
                        </m:e>
                      </m:d>
                    </m:oMath>
                  </m:oMathPara>
                </a14:m>
                <a:endParaRPr lang="ar-AE" sz="2000" dirty="0"/>
              </a:p>
              <a:p>
                <a:br>
                  <a:rPr lang="ar-AE" dirty="0"/>
                </a:br>
                <a:r>
                  <a:rPr lang="en-IN" b="1" dirty="0"/>
                  <a:t>Step 19 — Residual Diffusion</a:t>
                </a:r>
              </a:p>
              <a:p>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𝑒</m:t>
                          </m:r>
                        </m:e>
                        <m:sub>
                          <m:r>
                            <a:rPr lang="ar-AE" sz="2000" i="1">
                              <a:latin typeface="Cambria Math" panose="02040503050406030204" pitchFamily="18" charset="0"/>
                            </a:rPr>
                            <m:t>𝑖</m:t>
                          </m:r>
                        </m:sub>
                      </m:sSub>
                      <m:r>
                        <a:rPr lang="ar-AE" sz="2000">
                          <a:latin typeface="Cambria Math" panose="02040503050406030204" pitchFamily="18" charset="0"/>
                        </a:rPr>
                        <m:t>=</m:t>
                      </m:r>
                      <m:r>
                        <a:rPr lang="ar-AE" sz="2000" i="1">
                          <a:latin typeface="Cambria Math" panose="02040503050406030204" pitchFamily="18" charset="0"/>
                        </a:rPr>
                        <m:t>𝐴𝑣𝑔𝑃𝑜𝑜𝑙</m:t>
                      </m:r>
                      <m:r>
                        <a:rPr lang="ar-AE" sz="2000">
                          <a:latin typeface="Cambria Math" panose="02040503050406030204" pitchFamily="18" charset="0"/>
                        </a:rPr>
                        <m:t>3</m:t>
                      </m:r>
                      <m:r>
                        <a:rPr lang="ar-AE" sz="2000" i="1">
                          <a:latin typeface="Cambria Math" panose="02040503050406030204" pitchFamily="18" charset="0"/>
                        </a:rPr>
                        <m:t>𝐷</m:t>
                      </m:r>
                      <m:d>
                        <m:dPr>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𝑟</m:t>
                              </m:r>
                            </m:e>
                            <m:sub>
                              <m:r>
                                <a:rPr lang="ar-AE" sz="2000" i="1">
                                  <a:latin typeface="Cambria Math" panose="02040503050406030204" pitchFamily="18" charset="0"/>
                                </a:rPr>
                                <m:t>𝑖</m:t>
                              </m:r>
                            </m:sub>
                          </m:sSub>
                        </m:e>
                      </m:d>
                    </m:oMath>
                  </m:oMathPara>
                </a14:m>
                <a:endParaRPr lang="ar-AE" sz="2000" dirty="0"/>
              </a:p>
              <a:p>
                <a:endParaRPr lang="ar-AE" dirty="0"/>
              </a:p>
              <a:p>
                <a:r>
                  <a:rPr lang="en-IN" b="1" dirty="0"/>
                  <a:t>FINAL OUTPUT</a:t>
                </a:r>
              </a:p>
              <a:p>
                <a:pPr/>
                <a14:m>
                  <m:oMathPara xmlns:m="http://schemas.openxmlformats.org/officeDocument/2006/math">
                    <m:oMathParaPr>
                      <m:jc m:val="centerGroup"/>
                    </m:oMathParaPr>
                    <m:oMath xmlns:m="http://schemas.openxmlformats.org/officeDocument/2006/math">
                      <m:r>
                        <m:rPr>
                          <m:nor/>
                        </m:rPr>
                        <a:rPr lang="en-IN" sz="2000" b="0"/>
                        <m:t>Anomaly</m:t>
                      </m:r>
                      <m:r>
                        <m:rPr>
                          <m:nor/>
                        </m:rPr>
                        <a:rPr lang="en-IN" sz="2000" b="0" i="1"/>
                        <m:t> </m:t>
                      </m:r>
                      <m:r>
                        <m:rPr>
                          <m:nor/>
                        </m:rPr>
                        <a:rPr lang="en-IN" sz="2000" b="0" i="1"/>
                        <m:t>Map</m:t>
                      </m:r>
                      <m:r>
                        <m:rPr>
                          <m:nor/>
                        </m:rPr>
                        <a:rPr lang="en-IN" sz="2000" b="0" i="1"/>
                        <m:t> </m:t>
                      </m:r>
                      <m:r>
                        <a:rPr lang="en-IN" sz="2000" b="0" i="1">
                          <a:latin typeface="Cambria Math" panose="02040503050406030204" pitchFamily="18" charset="0"/>
                        </a:rPr>
                        <m:t>𝑀</m:t>
                      </m:r>
                    </m:oMath>
                  </m:oMathPara>
                </a14:m>
                <a:endParaRPr lang="en-IN" sz="2000" b="0" dirty="0"/>
              </a:p>
            </p:txBody>
          </p:sp>
        </mc:Choice>
        <mc:Fallback xmlns="">
          <p:sp>
            <p:nvSpPr>
              <p:cNvPr id="4" name="TextBox 3">
                <a:extLst>
                  <a:ext uri="{FF2B5EF4-FFF2-40B4-BE49-F238E27FC236}">
                    <a16:creationId xmlns:a16="http://schemas.microsoft.com/office/drawing/2014/main" id="{EE87E1E3-B827-C3B1-4F71-5127A0E7118C}"/>
                  </a:ext>
                </a:extLst>
              </p:cNvPr>
              <p:cNvSpPr txBox="1">
                <a:spLocks noRot="1" noChangeAspect="1" noMove="1" noResize="1" noEditPoints="1" noAdjustHandles="1" noChangeArrowheads="1" noChangeShapeType="1" noTextEdit="1"/>
              </p:cNvSpPr>
              <p:nvPr/>
            </p:nvSpPr>
            <p:spPr>
              <a:xfrm>
                <a:off x="0" y="0"/>
                <a:ext cx="12192000" cy="6928563"/>
              </a:xfrm>
              <a:prstGeom prst="rect">
                <a:avLst/>
              </a:prstGeom>
              <a:blipFill>
                <a:blip r:embed="rId2"/>
                <a:stretch>
                  <a:fillRect l="-400" t="-440"/>
                </a:stretch>
              </a:blipFill>
            </p:spPr>
            <p:txBody>
              <a:bodyPr/>
              <a:lstStyle/>
              <a:p>
                <a:r>
                  <a:rPr lang="en-IN">
                    <a:noFill/>
                  </a:rPr>
                  <a:t> </a:t>
                </a:r>
              </a:p>
            </p:txBody>
          </p:sp>
        </mc:Fallback>
      </mc:AlternateContent>
    </p:spTree>
    <p:extLst>
      <p:ext uri="{BB962C8B-B14F-4D97-AF65-F5344CB8AC3E}">
        <p14:creationId xmlns:p14="http://schemas.microsoft.com/office/powerpoint/2010/main" val="3288419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2FF2834-06B7-E020-565F-0667E6930036}"/>
              </a:ext>
            </a:extLst>
          </p:cNvPr>
          <p:cNvSpPr txBox="1">
            <a:spLocks/>
          </p:cNvSpPr>
          <p:nvPr/>
        </p:nvSpPr>
        <p:spPr>
          <a:xfrm>
            <a:off x="5002926" y="101927"/>
            <a:ext cx="6674067"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sz="12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26E3C93-C7E4-D8C0-DA47-4E0F518CF1E3}"/>
                  </a:ext>
                </a:extLst>
              </p:cNvPr>
              <p:cNvSpPr txBox="1"/>
              <p:nvPr/>
            </p:nvSpPr>
            <p:spPr>
              <a:xfrm>
                <a:off x="0" y="0"/>
                <a:ext cx="12192000" cy="6984861"/>
              </a:xfrm>
              <a:prstGeom prst="rect">
                <a:avLst/>
              </a:prstGeom>
              <a:noFill/>
            </p:spPr>
            <p:txBody>
              <a:bodyPr wrap="square" rtlCol="0">
                <a:spAutoFit/>
              </a:bodyPr>
              <a:lstStyle/>
              <a:p>
                <a:r>
                  <a:rPr lang="en-IN" sz="2400" b="1" dirty="0"/>
                  <a:t>Algorithm: Auto-HAD model</a:t>
                </a:r>
              </a:p>
              <a:p>
                <a:r>
                  <a:rPr lang="en-IN" sz="2400" b="1" dirty="0"/>
                  <a:t>Input</a:t>
                </a:r>
              </a:p>
              <a:p>
                <a:r>
                  <a:rPr lang="en-IN" sz="2400" dirty="0"/>
                  <a:t>Hyperspectral Image:                                       </a:t>
                </a:r>
                <a14:m>
                  <m:oMath xmlns:m="http://schemas.openxmlformats.org/officeDocument/2006/math">
                    <m:r>
                      <a:rPr lang="en-IN" sz="2000" i="1">
                        <a:latin typeface="Cambria Math" panose="02040503050406030204" pitchFamily="18" charset="0"/>
                      </a:rPr>
                      <m:t>𝑋</m:t>
                    </m:r>
                    <m:r>
                      <a:rPr lang="en-IN" sz="2000">
                        <a:latin typeface="Cambria Math" panose="02040503050406030204" pitchFamily="18" charset="0"/>
                      </a:rPr>
                      <m:t>∈</m:t>
                    </m:r>
                    <m:sSup>
                      <m:sSupPr>
                        <m:ctrlPr>
                          <a:rPr lang="ar-AE" sz="2000" i="1">
                            <a:latin typeface="Cambria Math" panose="02040503050406030204" pitchFamily="18" charset="0"/>
                          </a:rPr>
                        </m:ctrlPr>
                      </m:sSupPr>
                      <m:e>
                        <m:r>
                          <a:rPr lang="ar-AE" sz="2000">
                            <a:latin typeface="Cambria Math" panose="02040503050406030204" pitchFamily="18" charset="0"/>
                          </a:rPr>
                          <m:t>ℝ</m:t>
                        </m:r>
                      </m:e>
                      <m:sup>
                        <m:r>
                          <a:rPr lang="ar-AE" sz="2000" i="1">
                            <a:latin typeface="Cambria Math" panose="02040503050406030204" pitchFamily="18" charset="0"/>
                          </a:rPr>
                          <m:t>𝐻</m:t>
                        </m:r>
                        <m:r>
                          <a:rPr lang="ar-AE" sz="2000">
                            <a:latin typeface="Cambria Math" panose="02040503050406030204" pitchFamily="18" charset="0"/>
                          </a:rPr>
                          <m:t>×</m:t>
                        </m:r>
                        <m:r>
                          <a:rPr lang="ar-AE" sz="2000" i="1">
                            <a:latin typeface="Cambria Math" panose="02040503050406030204" pitchFamily="18" charset="0"/>
                          </a:rPr>
                          <m:t>𝑊</m:t>
                        </m:r>
                        <m:r>
                          <a:rPr lang="ar-AE" sz="2000">
                            <a:latin typeface="Cambria Math" panose="02040503050406030204" pitchFamily="18" charset="0"/>
                          </a:rPr>
                          <m:t>×</m:t>
                        </m:r>
                        <m:r>
                          <a:rPr lang="ar-AE" sz="2000" i="1">
                            <a:latin typeface="Cambria Math" panose="02040503050406030204" pitchFamily="18" charset="0"/>
                          </a:rPr>
                          <m:t>𝐷</m:t>
                        </m:r>
                      </m:sup>
                    </m:sSup>
                  </m:oMath>
                </a14:m>
                <a:endParaRPr lang="ar-AE" sz="2000" dirty="0"/>
              </a:p>
              <a:p>
                <a:pPr/>
                <a:r>
                  <a:rPr lang="en-IN" sz="2400" dirty="0"/>
                  <a:t>Network Input (Noise Tensor):</a:t>
                </a:r>
                <a:br>
                  <a:rPr lang="en-IN" sz="2400" dirty="0"/>
                </a:b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𝑍</m:t>
                      </m:r>
                      <m:r>
                        <a:rPr lang="en-IN" sz="2000">
                          <a:latin typeface="Cambria Math" panose="02040503050406030204" pitchFamily="18" charset="0"/>
                        </a:rPr>
                        <m:t>∈</m:t>
                      </m:r>
                      <m:sSup>
                        <m:sSupPr>
                          <m:ctrlPr>
                            <a:rPr lang="ar-AE" sz="2000" i="1">
                              <a:latin typeface="Cambria Math" panose="02040503050406030204" pitchFamily="18" charset="0"/>
                            </a:rPr>
                          </m:ctrlPr>
                        </m:sSupPr>
                        <m:e>
                          <m:r>
                            <a:rPr lang="ar-AE" sz="2000">
                              <a:latin typeface="Cambria Math" panose="02040503050406030204" pitchFamily="18" charset="0"/>
                            </a:rPr>
                            <m:t>ℝ</m:t>
                          </m:r>
                        </m:e>
                        <m:sup>
                          <m:r>
                            <a:rPr lang="ar-AE" sz="2000" i="1">
                              <a:latin typeface="Cambria Math" panose="02040503050406030204" pitchFamily="18" charset="0"/>
                            </a:rPr>
                            <m:t>𝐻</m:t>
                          </m:r>
                          <m:r>
                            <a:rPr lang="ar-AE" sz="2000">
                              <a:latin typeface="Cambria Math" panose="02040503050406030204" pitchFamily="18" charset="0"/>
                            </a:rPr>
                            <m:t>×</m:t>
                          </m:r>
                          <m:r>
                            <a:rPr lang="ar-AE" sz="2000" i="1">
                              <a:latin typeface="Cambria Math" panose="02040503050406030204" pitchFamily="18" charset="0"/>
                            </a:rPr>
                            <m:t>𝑊</m:t>
                          </m:r>
                          <m:r>
                            <a:rPr lang="ar-AE" sz="2000">
                              <a:latin typeface="Cambria Math" panose="02040503050406030204" pitchFamily="18" charset="0"/>
                            </a:rPr>
                            <m:t>×</m:t>
                          </m:r>
                          <m:r>
                            <a:rPr lang="ar-AE" sz="2000" i="1">
                              <a:latin typeface="Cambria Math" panose="02040503050406030204" pitchFamily="18" charset="0"/>
                            </a:rPr>
                            <m:t>𝐷</m:t>
                          </m:r>
                        </m:sup>
                      </m:sSup>
                    </m:oMath>
                  </m:oMathPara>
                </a14:m>
                <a:endParaRPr lang="en-IN" sz="2000" dirty="0"/>
              </a:p>
              <a:p>
                <a:r>
                  <a:rPr lang="en-IN" sz="2400" b="1" dirty="0"/>
                  <a:t>Initialization</a:t>
                </a:r>
              </a:p>
              <a:p>
                <a:r>
                  <a:rPr lang="en-IN" sz="2400" dirty="0"/>
                  <a:t>Weight Mask:</a:t>
                </a:r>
                <a:br>
                  <a:rPr lang="en-IN" sz="2400" dirty="0"/>
                </a:br>
                <a14:m>
                  <m:oMath xmlns:m="http://schemas.openxmlformats.org/officeDocument/2006/math">
                    <m:r>
                      <a:rPr lang="en-IN" i="1">
                        <a:latin typeface="Cambria Math" panose="02040503050406030204" pitchFamily="18" charset="0"/>
                      </a:rPr>
                      <m:t>𝑊</m:t>
                    </m:r>
                    <m:r>
                      <a:rPr lang="en-IN">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ℝ</m:t>
                        </m:r>
                      </m:e>
                      <m:sup>
                        <m:r>
                          <a:rPr lang="ar-AE" i="1">
                            <a:latin typeface="Cambria Math" panose="02040503050406030204" pitchFamily="18" charset="0"/>
                          </a:rPr>
                          <m:t>𝐻</m:t>
                        </m:r>
                        <m:r>
                          <a:rPr lang="ar-AE">
                            <a:latin typeface="Cambria Math" panose="02040503050406030204" pitchFamily="18" charset="0"/>
                          </a:rPr>
                          <m:t>×</m:t>
                        </m:r>
                        <m:r>
                          <a:rPr lang="ar-AE" i="1">
                            <a:latin typeface="Cambria Math" panose="02040503050406030204" pitchFamily="18" charset="0"/>
                          </a:rPr>
                          <m:t>𝑊</m:t>
                        </m:r>
                      </m:sup>
                    </m:sSup>
                  </m:oMath>
                </a14:m>
                <a:r>
                  <a:rPr lang="en-IN" sz="2400" dirty="0"/>
                  <a:t>initialized to 1 (equal importance for all pixels).</a:t>
                </a:r>
              </a:p>
              <a:p>
                <a:r>
                  <a:rPr lang="en-IN" sz="2400" dirty="0"/>
                  <a:t>Parameters:</a:t>
                </a:r>
                <a:br>
                  <a:rPr lang="en-IN" sz="2400" dirty="0"/>
                </a:br>
                <a:r>
                  <a:rPr lang="en-IN" sz="2400" dirty="0"/>
                  <a:t>Network weights </a:t>
                </a:r>
                <a14:m>
                  <m:oMath xmlns:m="http://schemas.openxmlformats.org/officeDocument/2006/math">
                    <m:r>
                      <a:rPr lang="en-IN" i="1">
                        <a:latin typeface="Cambria Math" panose="02040503050406030204" pitchFamily="18" charset="0"/>
                      </a:rPr>
                      <m:t>𝜃</m:t>
                    </m:r>
                  </m:oMath>
                </a14:m>
                <a:r>
                  <a:rPr lang="en-IN" sz="2400" dirty="0"/>
                  <a:t>for the Fully Convolutional Skip-Net.</a:t>
                </a:r>
              </a:p>
              <a:p>
                <a:r>
                  <a:rPr lang="en-IN" sz="2400" b="1" dirty="0"/>
                  <a:t>TRAINING STAGE (Self-Supervised)</a:t>
                </a:r>
              </a:p>
              <a:p>
                <a:r>
                  <a:rPr lang="en-IN" sz="2400" b="1" dirty="0"/>
                  <a:t>Step 1 — Noise Propagation</a:t>
                </a:r>
              </a:p>
              <a:p>
                <a:pPr/>
                <a:r>
                  <a:rPr lang="en-IN" sz="2400" dirty="0"/>
                  <a:t>Generate the reconstruction from the noise input </a:t>
                </a:r>
                <a14:m>
                  <m:oMath xmlns:m="http://schemas.openxmlformats.org/officeDocument/2006/math">
                    <m:r>
                      <a:rPr lang="en-IN" i="1">
                        <a:latin typeface="Cambria Math" panose="02040503050406030204" pitchFamily="18" charset="0"/>
                      </a:rPr>
                      <m:t>𝑍</m:t>
                    </m:r>
                  </m:oMath>
                </a14:m>
                <a:r>
                  <a:rPr lang="en-IN" sz="2400" dirty="0"/>
                  <a:t>through the Autoencoder:</a:t>
                </a:r>
                <a:br>
                  <a:rPr lang="en-IN" sz="2400" dirty="0"/>
                </a:br>
                <a14:m>
                  <m:oMathPara xmlns:m="http://schemas.openxmlformats.org/officeDocument/2006/math">
                    <m:oMathParaPr>
                      <m:jc m:val="centerGroup"/>
                    </m:oMathParaPr>
                    <m:oMath xmlns:m="http://schemas.openxmlformats.org/officeDocument/2006/math">
                      <m:acc>
                        <m:accPr>
                          <m:chr m:val="̂"/>
                          <m:ctrlPr>
                            <a:rPr lang="ar-AE" sz="2000" i="1">
                              <a:latin typeface="Cambria Math" panose="02040503050406030204" pitchFamily="18" charset="0"/>
                            </a:rPr>
                          </m:ctrlPr>
                        </m:accPr>
                        <m:e>
                          <m:r>
                            <a:rPr lang="ar-AE" sz="2000" i="1">
                              <a:latin typeface="Cambria Math" panose="02040503050406030204" pitchFamily="18" charset="0"/>
                            </a:rPr>
                            <m:t>𝑋</m:t>
                          </m:r>
                        </m:e>
                      </m:acc>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𝜃</m:t>
                          </m:r>
                        </m:sub>
                      </m:sSub>
                      <m:d>
                        <m:dPr>
                          <m:ctrlPr>
                            <a:rPr lang="ar-AE" sz="2000" i="1">
                              <a:latin typeface="Cambria Math" panose="02040503050406030204" pitchFamily="18" charset="0"/>
                            </a:rPr>
                          </m:ctrlPr>
                        </m:dPr>
                        <m:e>
                          <m:r>
                            <a:rPr lang="ar-AE" sz="2000" i="1">
                              <a:latin typeface="Cambria Math" panose="02040503050406030204" pitchFamily="18" charset="0"/>
                            </a:rPr>
                            <m:t>𝑍</m:t>
                          </m:r>
                        </m:e>
                      </m:d>
                    </m:oMath>
                  </m:oMathPara>
                </a14:m>
                <a:endParaRPr lang="ar-AE" sz="2000" dirty="0"/>
              </a:p>
              <a:p>
                <a:r>
                  <a:rPr lang="en-IN" sz="2400" b="1" dirty="0"/>
                  <a:t>Step 2 — Feature Extraction &amp; </a:t>
                </a:r>
              </a:p>
              <a:p>
                <a:pPr/>
                <a:r>
                  <a:rPr lang="en-IN" sz="2400" dirty="0"/>
                  <a:t>The encoder extracts hierarchical spatial-spectral features, while skip-connections preserve fine-grained structural details:</a:t>
                </a:r>
                <a:br>
                  <a:rPr lang="en-IN" sz="2400" dirty="0"/>
                </a:br>
                <a14:m>
                  <m:oMathPara xmlns:m="http://schemas.openxmlformats.org/officeDocument/2006/math">
                    <m:oMathParaPr>
                      <m:jc m:val="centerGroup"/>
                    </m:oMathParaPr>
                    <m:oMath xmlns:m="http://schemas.openxmlformats.org/officeDocument/2006/math">
                      <m:acc>
                        <m:accPr>
                          <m:chr m:val="̂"/>
                          <m:ctrlPr>
                            <a:rPr lang="ar-AE" sz="2000" i="1">
                              <a:latin typeface="Cambria Math" panose="02040503050406030204" pitchFamily="18" charset="0"/>
                            </a:rPr>
                          </m:ctrlPr>
                        </m:accPr>
                        <m:e>
                          <m:r>
                            <a:rPr lang="ar-AE" sz="2000" i="1">
                              <a:latin typeface="Cambria Math" panose="02040503050406030204" pitchFamily="18" charset="0"/>
                            </a:rPr>
                            <m:t>𝑋</m:t>
                          </m:r>
                        </m:e>
                      </m:acc>
                      <m:r>
                        <a:rPr lang="ar-AE" sz="2000">
                          <a:latin typeface="Cambria Math" panose="02040503050406030204" pitchFamily="18" charset="0"/>
                        </a:rPr>
                        <m:t>=</m:t>
                      </m:r>
                      <m:r>
                        <m:rPr>
                          <m:nor/>
                        </m:rPr>
                        <a:rPr lang="en-IN" sz="2000" i="1"/>
                        <m:t>SkipNet</m:t>
                      </m:r>
                      <m:d>
                        <m:dPr>
                          <m:sepChr m:val=","/>
                          <m:ctrlPr>
                            <a:rPr lang="ar-AE" sz="2000" i="1">
                              <a:latin typeface="Cambria Math" panose="02040503050406030204" pitchFamily="18" charset="0"/>
                            </a:rPr>
                          </m:ctrlPr>
                        </m:dPr>
                        <m:e>
                          <m:r>
                            <a:rPr lang="ar-AE" sz="2000" i="1">
                              <a:latin typeface="Cambria Math" panose="02040503050406030204" pitchFamily="18" charset="0"/>
                            </a:rPr>
                            <m:t>𝑍</m:t>
                          </m:r>
                        </m:e>
                        <m:e>
                          <m:r>
                            <a:rPr lang="ar-AE" sz="2000" i="1">
                              <a:latin typeface="Cambria Math" panose="02040503050406030204" pitchFamily="18" charset="0"/>
                            </a:rPr>
                            <m:t>𝜃</m:t>
                          </m:r>
                        </m:e>
                      </m:d>
                    </m:oMath>
                  </m:oMathPara>
                </a14:m>
                <a:endParaRPr lang="ar-AE" sz="2000" dirty="0"/>
              </a:p>
              <a:p>
                <a:endParaRPr lang="en-IN" dirty="0"/>
              </a:p>
            </p:txBody>
          </p:sp>
        </mc:Choice>
        <mc:Fallback xmlns="">
          <p:sp>
            <p:nvSpPr>
              <p:cNvPr id="8" name="TextBox 7">
                <a:extLst>
                  <a:ext uri="{FF2B5EF4-FFF2-40B4-BE49-F238E27FC236}">
                    <a16:creationId xmlns:a16="http://schemas.microsoft.com/office/drawing/2014/main" id="{726E3C93-C7E4-D8C0-DA47-4E0F518CF1E3}"/>
                  </a:ext>
                </a:extLst>
              </p:cNvPr>
              <p:cNvSpPr txBox="1">
                <a:spLocks noRot="1" noChangeAspect="1" noMove="1" noResize="1" noEditPoints="1" noAdjustHandles="1" noChangeArrowheads="1" noChangeShapeType="1" noTextEdit="1"/>
              </p:cNvSpPr>
              <p:nvPr/>
            </p:nvSpPr>
            <p:spPr>
              <a:xfrm>
                <a:off x="0" y="0"/>
                <a:ext cx="12192000" cy="6984861"/>
              </a:xfrm>
              <a:prstGeom prst="rect">
                <a:avLst/>
              </a:prstGeom>
              <a:blipFill>
                <a:blip r:embed="rId2"/>
                <a:stretch>
                  <a:fillRect l="-750" t="-698"/>
                </a:stretch>
              </a:blipFill>
            </p:spPr>
            <p:txBody>
              <a:bodyPr/>
              <a:lstStyle/>
              <a:p>
                <a:r>
                  <a:rPr lang="en-IN">
                    <a:noFill/>
                  </a:rPr>
                  <a:t> </a:t>
                </a:r>
              </a:p>
            </p:txBody>
          </p:sp>
        </mc:Fallback>
      </mc:AlternateContent>
    </p:spTree>
    <p:extLst>
      <p:ext uri="{BB962C8B-B14F-4D97-AF65-F5344CB8AC3E}">
        <p14:creationId xmlns:p14="http://schemas.microsoft.com/office/powerpoint/2010/main" val="4258818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A60898-D7A9-EB62-C519-31E7FD1E4C70}"/>
                  </a:ext>
                </a:extLst>
              </p:cNvPr>
              <p:cNvSpPr txBox="1"/>
              <p:nvPr/>
            </p:nvSpPr>
            <p:spPr>
              <a:xfrm>
                <a:off x="0" y="0"/>
                <a:ext cx="12192000" cy="7345281"/>
              </a:xfrm>
              <a:prstGeom prst="rect">
                <a:avLst/>
              </a:prstGeom>
              <a:noFill/>
            </p:spPr>
            <p:txBody>
              <a:bodyPr wrap="square" rtlCol="0">
                <a:spAutoFit/>
              </a:bodyPr>
              <a:lstStyle/>
              <a:p>
                <a:r>
                  <a:rPr lang="en-IN" b="1" dirty="0"/>
                  <a:t>Step 3 — Adaptive Weighting (Adaptive Weighted Loss)</a:t>
                </a:r>
              </a:p>
              <a:p>
                <a:r>
                  <a:rPr lang="en-IN" dirty="0"/>
                  <a:t>Every </a:t>
                </a:r>
                <a14:m>
                  <m:oMath xmlns:m="http://schemas.openxmlformats.org/officeDocument/2006/math">
                    <m:r>
                      <a:rPr lang="en-IN" i="1">
                        <a:latin typeface="Cambria Math" panose="02040503050406030204" pitchFamily="18" charset="0"/>
                      </a:rPr>
                      <m:t>𝑘</m:t>
                    </m:r>
                  </m:oMath>
                </a14:m>
                <a:r>
                  <a:rPr lang="en-IN" dirty="0"/>
                  <a:t>iterations (e.g., 100), update the importance of each pixel:</a:t>
                </a:r>
              </a:p>
              <a:p>
                <a:pPr/>
                <a:r>
                  <a:rPr lang="en-IN" dirty="0"/>
                  <a:t>Pixel-wise Residual:</a:t>
                </a:r>
                <a:br>
                  <a:rPr lang="en-IN" dirty="0"/>
                </a:b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𝑅</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r>
                        <a:rPr lang="ar-AE">
                          <a:latin typeface="Cambria Math" panose="02040503050406030204" pitchFamily="18" charset="0"/>
                        </a:rPr>
                        <m:t>=∣</m:t>
                      </m:r>
                      <m:r>
                        <a:rPr lang="ar-AE" i="1">
                          <a:latin typeface="Cambria Math" panose="02040503050406030204" pitchFamily="18" charset="0"/>
                        </a:rPr>
                        <m:t>𝑋</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𝑋</m:t>
                          </m:r>
                        </m:e>
                      </m:acc>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sSubSup>
                        <m:sSubSupPr>
                          <m:ctrlPr>
                            <a:rPr lang="ar-AE" i="1">
                              <a:latin typeface="Cambria Math" panose="02040503050406030204" pitchFamily="18" charset="0"/>
                            </a:rPr>
                          </m:ctrlPr>
                        </m:sSubSupPr>
                        <m:e>
                          <m:r>
                            <a:rPr lang="ar-AE">
                              <a:latin typeface="Cambria Math" panose="02040503050406030204" pitchFamily="18" charset="0"/>
                            </a:rPr>
                            <m:t>∣</m:t>
                          </m:r>
                        </m:e>
                        <m:sub>
                          <m:r>
                            <a:rPr lang="ar-AE">
                              <a:latin typeface="Cambria Math" panose="02040503050406030204" pitchFamily="18" charset="0"/>
                            </a:rPr>
                            <m:t>2</m:t>
                          </m:r>
                        </m:sub>
                        <m:sup>
                          <m:r>
                            <a:rPr lang="ar-AE">
                              <a:latin typeface="Cambria Math" panose="02040503050406030204" pitchFamily="18" charset="0"/>
                            </a:rPr>
                            <m:t>2</m:t>
                          </m:r>
                        </m:sup>
                      </m:sSubSup>
                    </m:oMath>
                  </m:oMathPara>
                </a14:m>
                <a:endParaRPr lang="ar-AE" dirty="0"/>
              </a:p>
              <a:p>
                <a:pPr/>
                <a:r>
                  <a:rPr lang="en-IN" dirty="0"/>
                  <a:t>Foreground Suppressing Weight:</a:t>
                </a:r>
                <a:br>
                  <a:rPr lang="en-IN" dirty="0"/>
                </a:b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r>
                        <a:rPr lang="ar-AE">
                          <a:latin typeface="Cambria Math" panose="02040503050406030204" pitchFamily="18" charset="0"/>
                        </a:rPr>
                        <m:t>=</m:t>
                      </m:r>
                      <m:r>
                        <m:rPr>
                          <m:sty m:val="p"/>
                        </m:rPr>
                        <a:rPr lang="en-IN">
                          <a:latin typeface="Cambria Math" panose="02040503050406030204" pitchFamily="18" charset="0"/>
                        </a:rPr>
                        <m:t>max</m:t>
                      </m:r>
                      <m:r>
                        <a:rPr lang="en-IN">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𝑅</m:t>
                          </m:r>
                        </m:e>
                      </m:d>
                      <m:r>
                        <a:rPr lang="ar-AE">
                          <a:latin typeface="Cambria Math" panose="02040503050406030204" pitchFamily="18" charset="0"/>
                        </a:rPr>
                        <m:t>−</m:t>
                      </m:r>
                      <m:r>
                        <a:rPr lang="ar-AE" i="1">
                          <a:latin typeface="Cambria Math" panose="02040503050406030204" pitchFamily="18" charset="0"/>
                        </a:rPr>
                        <m:t>𝑅</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oMath>
                  </m:oMathPara>
                </a14:m>
                <a:endParaRPr lang="ar-AE" dirty="0"/>
              </a:p>
              <a:p>
                <a:pPr/>
                <a:r>
                  <a:rPr lang="en-IN" dirty="0"/>
                  <a:t>Normalization:</a:t>
                </a:r>
                <a:br>
                  <a:rPr lang="en-IN" dirty="0"/>
                </a:b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𝑊</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r>
                        <a:rPr lang="ar-AE">
                          <a:latin typeface="Cambria Math" panose="02040503050406030204" pitchFamily="18" charset="0"/>
                        </a:rPr>
                        <m:t>=</m:t>
                      </m:r>
                      <m:f>
                        <m:fPr>
                          <m:ctrlPr>
                            <a:rPr lang="ar-AE" i="1">
                              <a:latin typeface="Cambria Math" panose="02040503050406030204" pitchFamily="18" charset="0"/>
                            </a:rPr>
                          </m:ctrlPr>
                        </m:fPr>
                        <m:num>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r>
                            <a:rPr lang="ar-AE">
                              <a:latin typeface="Cambria Math" panose="02040503050406030204" pitchFamily="18" charset="0"/>
                            </a:rPr>
                            <m:t>−</m:t>
                          </m:r>
                          <m:r>
                            <m:rPr>
                              <m:sty m:val="p"/>
                            </m:rPr>
                            <a:rPr lang="en-IN">
                              <a:latin typeface="Cambria Math" panose="02040503050406030204" pitchFamily="18" charset="0"/>
                            </a:rPr>
                            <m:t>min</m:t>
                          </m:r>
                          <m:r>
                            <a:rPr lang="en-IN">
                              <a:latin typeface="Cambria Math" panose="02040503050406030204" pitchFamily="18" charset="0"/>
                            </a:rPr>
                            <m:t>⁡</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e>
                          </m:d>
                        </m:num>
                        <m:den>
                          <m:r>
                            <m:rPr>
                              <m:sty m:val="p"/>
                            </m:rPr>
                            <a:rPr lang="en-IN">
                              <a:latin typeface="Cambria Math" panose="02040503050406030204" pitchFamily="18" charset="0"/>
                            </a:rPr>
                            <m:t>max</m:t>
                          </m:r>
                          <m:r>
                            <a:rPr lang="en-IN">
                              <a:latin typeface="Cambria Math" panose="02040503050406030204" pitchFamily="18" charset="0"/>
                            </a:rPr>
                            <m:t>⁡</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e>
                          </m:d>
                          <m:r>
                            <a:rPr lang="ar-AE">
                              <a:latin typeface="Cambria Math" panose="02040503050406030204" pitchFamily="18" charset="0"/>
                            </a:rPr>
                            <m:t>−</m:t>
                          </m:r>
                          <m:r>
                            <m:rPr>
                              <m:sty m:val="p"/>
                            </m:rPr>
                            <a:rPr lang="en-IN">
                              <a:latin typeface="Cambria Math" panose="02040503050406030204" pitchFamily="18" charset="0"/>
                            </a:rPr>
                            <m:t>min</m:t>
                          </m:r>
                          <m:r>
                            <a:rPr lang="en-IN">
                              <a:latin typeface="Cambria Math" panose="02040503050406030204" pitchFamily="18" charset="0"/>
                            </a:rPr>
                            <m:t>⁡</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e>
                          </m:d>
                        </m:den>
                      </m:f>
                    </m:oMath>
                  </m:oMathPara>
                </a14:m>
                <a:endParaRPr lang="ar-AE" dirty="0"/>
              </a:p>
              <a:p>
                <a:r>
                  <a:rPr lang="en-IN" dirty="0"/>
                  <a:t>This assigns high weights to background (low error) and low weights to anomalies (high error).</a:t>
                </a:r>
              </a:p>
              <a:p>
                <a:r>
                  <a:rPr lang="en-IN" b="1" dirty="0"/>
                  <a:t> Step 4 — Weighted Loss Function</a:t>
                </a:r>
              </a:p>
              <a:p>
                <a:pPr/>
                <a:r>
                  <a:rPr lang="en-IN" dirty="0"/>
                  <a:t>Optimize the network to reconstruct the background specifically by masking out anomalous regions:</a:t>
                </a:r>
                <a:br>
                  <a:rPr lang="en-IN" dirty="0"/>
                </a:b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ℒ</m:t>
                      </m:r>
                      <m:d>
                        <m:dPr>
                          <m:ctrlPr>
                            <a:rPr lang="ar-AE" i="1">
                              <a:latin typeface="Cambria Math" panose="02040503050406030204" pitchFamily="18" charset="0"/>
                            </a:rPr>
                          </m:ctrlPr>
                        </m:dPr>
                        <m:e>
                          <m:r>
                            <a:rPr lang="ar-AE" i="1">
                              <a:latin typeface="Cambria Math" panose="02040503050406030204" pitchFamily="18" charset="0"/>
                            </a:rPr>
                            <m:t>𝜃</m:t>
                          </m:r>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i="1">
                              <a:latin typeface="Cambria Math" panose="02040503050406030204" pitchFamily="18" charset="0"/>
                            </a:rPr>
                            <m:t>𝐵</m:t>
                          </m:r>
                        </m:den>
                      </m:f>
                      <m:nary>
                        <m:naryPr>
                          <m:chr m:val="∑"/>
                          <m:limLoc m:val="subSup"/>
                          <m:grow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𝐵</m:t>
                          </m:r>
                        </m:sup>
                        <m:e>
                          <m:r>
                            <a:rPr lang="ar-AE">
                              <a:latin typeface="Cambria Math" panose="02040503050406030204" pitchFamily="18" charset="0"/>
                            </a:rPr>
                            <m:t>∣</m:t>
                          </m:r>
                        </m:e>
                      </m:nary>
                      <m:d>
                        <m:dPr>
                          <m:ctrlPr>
                            <a:rPr lang="ar-AE" i="1">
                              <a:latin typeface="Cambria Math" panose="02040503050406030204" pitchFamily="18" charset="0"/>
                            </a:rPr>
                          </m:ctrlPr>
                        </m:dPr>
                        <m:e>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𝑋</m:t>
                                  </m:r>
                                </m:e>
                              </m:acc>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𝑋</m:t>
                              </m:r>
                            </m:e>
                            <m:sub>
                              <m:r>
                                <a:rPr lang="ar-AE" i="1">
                                  <a:latin typeface="Cambria Math" panose="02040503050406030204" pitchFamily="18" charset="0"/>
                                </a:rPr>
                                <m:t>𝑖</m:t>
                              </m:r>
                            </m:sub>
                          </m:sSub>
                        </m:e>
                      </m:d>
                      <m:r>
                        <a:rPr lang="ar-AE">
                          <a:latin typeface="Cambria Math" panose="02040503050406030204" pitchFamily="18" charset="0"/>
                        </a:rPr>
                        <m:t>⊙</m:t>
                      </m:r>
                      <m:r>
                        <a:rPr lang="ar-AE" i="1">
                          <a:latin typeface="Cambria Math" panose="02040503050406030204" pitchFamily="18" charset="0"/>
                        </a:rPr>
                        <m:t>𝑊</m:t>
                      </m:r>
                      <m:sSubSup>
                        <m:sSubSupPr>
                          <m:ctrlPr>
                            <a:rPr lang="ar-AE" i="1">
                              <a:latin typeface="Cambria Math" panose="02040503050406030204" pitchFamily="18" charset="0"/>
                            </a:rPr>
                          </m:ctrlPr>
                        </m:sSubSupPr>
                        <m:e>
                          <m:r>
                            <a:rPr lang="ar-AE">
                              <a:latin typeface="Cambria Math" panose="02040503050406030204" pitchFamily="18" charset="0"/>
                            </a:rPr>
                            <m:t>∣</m:t>
                          </m:r>
                        </m:e>
                        <m:sub>
                          <m:r>
                            <a:rPr lang="ar-AE">
                              <a:latin typeface="Cambria Math" panose="02040503050406030204" pitchFamily="18" charset="0"/>
                            </a:rPr>
                            <m:t>2</m:t>
                          </m:r>
                        </m:sub>
                        <m:sup>
                          <m:r>
                            <a:rPr lang="ar-AE">
                              <a:latin typeface="Cambria Math" panose="02040503050406030204" pitchFamily="18" charset="0"/>
                            </a:rPr>
                            <m:t>2</m:t>
                          </m:r>
                        </m:sup>
                      </m:sSubSup>
                    </m:oMath>
                  </m:oMathPara>
                </a14:m>
                <a:endParaRPr lang="ar-AE" dirty="0"/>
              </a:p>
              <a:p>
                <a:r>
                  <a:rPr lang="en-IN" dirty="0"/>
                  <a:t>(where </a:t>
                </a:r>
                <a14:m>
                  <m:oMath xmlns:m="http://schemas.openxmlformats.org/officeDocument/2006/math">
                    <m:r>
                      <a:rPr lang="en-IN">
                        <a:latin typeface="Cambria Math" panose="02040503050406030204" pitchFamily="18" charset="0"/>
                      </a:rPr>
                      <m:t>⊙</m:t>
                    </m:r>
                  </m:oMath>
                </a14:m>
                <a:r>
                  <a:rPr lang="en-IN" dirty="0"/>
                  <a:t>is the element-wise multiplication)</a:t>
                </a:r>
              </a:p>
              <a:p>
                <a:r>
                  <a:rPr lang="en-IN" b="1" dirty="0"/>
                  <a:t>Step 5 — Backpropagation</a:t>
                </a:r>
              </a:p>
              <a:p>
                <a:r>
                  <a:rPr lang="en-IN" dirty="0"/>
                  <a:t>Update parameters </a:t>
                </a:r>
                <a14:m>
                  <m:oMath xmlns:m="http://schemas.openxmlformats.org/officeDocument/2006/math">
                    <m:r>
                      <a:rPr lang="en-IN" i="1">
                        <a:latin typeface="Cambria Math" panose="02040503050406030204" pitchFamily="18" charset="0"/>
                      </a:rPr>
                      <m:t>𝜃</m:t>
                    </m:r>
                  </m:oMath>
                </a14:m>
                <a:r>
                  <a:rPr lang="en-IN" dirty="0"/>
                  <a:t>using the Adam optimizer to minimize </a:t>
                </a:r>
                <a14:m>
                  <m:oMath xmlns:m="http://schemas.openxmlformats.org/officeDocument/2006/math">
                    <m:r>
                      <a:rPr lang="en-IN">
                        <a:latin typeface="Cambria Math" panose="02040503050406030204" pitchFamily="18" charset="0"/>
                      </a:rPr>
                      <m:t>ℒ</m:t>
                    </m:r>
                    <m:d>
                      <m:dPr>
                        <m:ctrlPr>
                          <a:rPr lang="ar-AE" i="1">
                            <a:latin typeface="Cambria Math" panose="02040503050406030204" pitchFamily="18" charset="0"/>
                          </a:rPr>
                        </m:ctrlPr>
                      </m:dPr>
                      <m:e>
                        <m:r>
                          <a:rPr lang="ar-AE" i="1">
                            <a:latin typeface="Cambria Math" panose="02040503050406030204" pitchFamily="18" charset="0"/>
                          </a:rPr>
                          <m:t>𝜃</m:t>
                        </m:r>
                      </m:e>
                    </m:d>
                  </m:oMath>
                </a14:m>
                <a:r>
                  <a:rPr lang="ar-AE" dirty="0"/>
                  <a:t>.</a:t>
                </a:r>
              </a:p>
              <a:p>
                <a:r>
                  <a:rPr lang="en-IN" b="1" dirty="0"/>
                  <a:t>DETECTION STAGE</a:t>
                </a:r>
              </a:p>
              <a:p>
                <a:r>
                  <a:rPr lang="en-IN" b="1" dirty="0"/>
                  <a:t>Step 6 — Final Residual Generation</a:t>
                </a:r>
              </a:p>
              <a:p>
                <a:pPr/>
                <a:r>
                  <a:rPr lang="en-IN" dirty="0"/>
                  <a:t>Once training converges, compute the final difference between the original and reconstructed images:</a:t>
                </a:r>
                <a:br>
                  <a:rPr lang="en-IN" dirty="0"/>
                </a:b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𝜖</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r>
                        <a:rPr lang="ar-AE">
                          <a:latin typeface="Cambria Math" panose="02040503050406030204" pitchFamily="18" charset="0"/>
                        </a:rPr>
                        <m:t>=∣</m:t>
                      </m:r>
                      <m:r>
                        <a:rPr lang="ar-AE" i="1">
                          <a:latin typeface="Cambria Math" panose="02040503050406030204" pitchFamily="18" charset="0"/>
                        </a:rPr>
                        <m:t>𝑋</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𝑋</m:t>
                          </m:r>
                        </m:e>
                      </m:acc>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sSubSup>
                        <m:sSubSupPr>
                          <m:ctrlPr>
                            <a:rPr lang="ar-AE" i="1">
                              <a:latin typeface="Cambria Math" panose="02040503050406030204" pitchFamily="18" charset="0"/>
                            </a:rPr>
                          </m:ctrlPr>
                        </m:sSubSupPr>
                        <m:e>
                          <m:r>
                            <a:rPr lang="ar-AE">
                              <a:latin typeface="Cambria Math" panose="02040503050406030204" pitchFamily="18" charset="0"/>
                            </a:rPr>
                            <m:t>∣</m:t>
                          </m:r>
                        </m:e>
                        <m:sub>
                          <m:r>
                            <a:rPr lang="ar-AE">
                              <a:latin typeface="Cambria Math" panose="02040503050406030204" pitchFamily="18" charset="0"/>
                            </a:rPr>
                            <m:t>2</m:t>
                          </m:r>
                        </m:sub>
                        <m:sup>
                          <m:r>
                            <a:rPr lang="ar-AE">
                              <a:latin typeface="Cambria Math" panose="02040503050406030204" pitchFamily="18" charset="0"/>
                            </a:rPr>
                            <m:t>2</m:t>
                          </m:r>
                        </m:sup>
                      </m:sSubSup>
                    </m:oMath>
                  </m:oMathPara>
                </a14:m>
                <a:endParaRPr lang="ar-AE" dirty="0"/>
              </a:p>
              <a:p>
                <a:r>
                  <a:rPr lang="en-IN" b="1" dirty="0"/>
                  <a:t>Step 7 — Anomaly Scoring</a:t>
                </a:r>
              </a:p>
              <a:p>
                <a:r>
                  <a:rPr lang="en-IN" dirty="0"/>
                  <a:t>Sum the squared residuals across all spectral bands to get the spatial anomaly map.</a:t>
                </a:r>
              </a:p>
              <a:p>
                <a:r>
                  <a:rPr lang="en-IN" b="1" dirty="0"/>
                  <a:t>FINAL OUTPUT                                                                            </a:t>
                </a:r>
                <a14:m>
                  <m:oMath xmlns:m="http://schemas.openxmlformats.org/officeDocument/2006/math">
                    <m:r>
                      <m:rPr>
                        <m:nor/>
                      </m:rPr>
                      <a:rPr lang="en-IN"/>
                      <m:t>Anomaly</m:t>
                    </m:r>
                    <m:r>
                      <m:rPr>
                        <m:nor/>
                      </m:rPr>
                      <a:rPr lang="en-IN" i="1"/>
                      <m:t> </m:t>
                    </m:r>
                    <m:r>
                      <m:rPr>
                        <m:nor/>
                      </m:rPr>
                      <a:rPr lang="en-IN" i="1"/>
                      <m:t>Map</m:t>
                    </m:r>
                    <m:r>
                      <m:rPr>
                        <m:nor/>
                      </m:rPr>
                      <a:rPr lang="en-IN" i="1"/>
                      <m:t> </m:t>
                    </m:r>
                    <m:r>
                      <a:rPr lang="en-IN" i="1">
                        <a:latin typeface="Cambria Math" panose="02040503050406030204" pitchFamily="18" charset="0"/>
                      </a:rPr>
                      <m:t>𝑀</m:t>
                    </m:r>
                  </m:oMath>
                </a14:m>
                <a:endParaRPr lang="en-IN" dirty="0"/>
              </a:p>
              <a:p>
                <a:endParaRPr lang="en-IN" dirty="0"/>
              </a:p>
            </p:txBody>
          </p:sp>
        </mc:Choice>
        <mc:Fallback xmlns="">
          <p:sp>
            <p:nvSpPr>
              <p:cNvPr id="4" name="TextBox 3">
                <a:extLst>
                  <a:ext uri="{FF2B5EF4-FFF2-40B4-BE49-F238E27FC236}">
                    <a16:creationId xmlns:a16="http://schemas.microsoft.com/office/drawing/2014/main" id="{7CA60898-D7A9-EB62-C519-31E7FD1E4C70}"/>
                  </a:ext>
                </a:extLst>
              </p:cNvPr>
              <p:cNvSpPr txBox="1">
                <a:spLocks noRot="1" noChangeAspect="1" noMove="1" noResize="1" noEditPoints="1" noAdjustHandles="1" noChangeArrowheads="1" noChangeShapeType="1" noTextEdit="1"/>
              </p:cNvSpPr>
              <p:nvPr/>
            </p:nvSpPr>
            <p:spPr>
              <a:xfrm>
                <a:off x="0" y="0"/>
                <a:ext cx="12192000" cy="7345281"/>
              </a:xfrm>
              <a:prstGeom prst="rect">
                <a:avLst/>
              </a:prstGeom>
              <a:blipFill>
                <a:blip r:embed="rId2"/>
                <a:stretch>
                  <a:fillRect l="-400" t="-415"/>
                </a:stretch>
              </a:blipFill>
            </p:spPr>
            <p:txBody>
              <a:bodyPr/>
              <a:lstStyle/>
              <a:p>
                <a:r>
                  <a:rPr lang="en-IN">
                    <a:noFill/>
                  </a:rPr>
                  <a:t> </a:t>
                </a:r>
              </a:p>
            </p:txBody>
          </p:sp>
        </mc:Fallback>
      </mc:AlternateContent>
    </p:spTree>
    <p:extLst>
      <p:ext uri="{BB962C8B-B14F-4D97-AF65-F5344CB8AC3E}">
        <p14:creationId xmlns:p14="http://schemas.microsoft.com/office/powerpoint/2010/main" val="3246652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4BC149-3D18-35F8-702B-97DFD96061A6}"/>
              </a:ext>
            </a:extLst>
          </p:cNvPr>
          <p:cNvSpPr>
            <a:spLocks noGrp="1"/>
          </p:cNvSpPr>
          <p:nvPr>
            <p:ph type="subTitle" idx="1"/>
          </p:nvPr>
        </p:nvSpPr>
        <p:spPr>
          <a:xfrm rot="10800000" flipV="1">
            <a:off x="1602657" y="117986"/>
            <a:ext cx="9144000" cy="481781"/>
          </a:xfrm>
        </p:spPr>
        <p:txBody>
          <a:bodyPr>
            <a:noAutofit/>
          </a:bodyPr>
          <a:lstStyle/>
          <a:p>
            <a:r>
              <a:rPr lang="en-US" sz="3600" dirty="0"/>
              <a:t>Architecture Diagram</a:t>
            </a:r>
            <a:endParaRPr lang="en-IN" sz="3600" dirty="0"/>
          </a:p>
        </p:txBody>
      </p:sp>
      <p:pic>
        <p:nvPicPr>
          <p:cNvPr id="5" name="Picture 4">
            <a:extLst>
              <a:ext uri="{FF2B5EF4-FFF2-40B4-BE49-F238E27FC236}">
                <a16:creationId xmlns:a16="http://schemas.microsoft.com/office/drawing/2014/main" id="{EAF37640-F583-309B-AB5F-1640882108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819" y="696191"/>
            <a:ext cx="11617036" cy="6043824"/>
          </a:xfrm>
          <a:prstGeom prst="rect">
            <a:avLst/>
          </a:prstGeom>
        </p:spPr>
      </p:pic>
    </p:spTree>
    <p:extLst>
      <p:ext uri="{BB962C8B-B14F-4D97-AF65-F5344CB8AC3E}">
        <p14:creationId xmlns:p14="http://schemas.microsoft.com/office/powerpoint/2010/main" val="3704077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F20E1-EA3F-91BE-95BA-85249438B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A518D-336E-01B1-F45C-96B84272F485}"/>
              </a:ext>
            </a:extLst>
          </p:cNvPr>
          <p:cNvSpPr>
            <a:spLocks noGrp="1"/>
          </p:cNvSpPr>
          <p:nvPr>
            <p:ph type="title"/>
          </p:nvPr>
        </p:nvSpPr>
        <p:spPr>
          <a:xfrm>
            <a:off x="239830" y="0"/>
            <a:ext cx="10515600" cy="1097915"/>
          </a:xfrm>
        </p:spPr>
        <p:txBody>
          <a:bodyPr>
            <a:normAutofit/>
          </a:bodyPr>
          <a:lstStyle/>
          <a:p>
            <a:r>
              <a:rPr lang="en-US" b="1" dirty="0">
                <a:latin typeface="+mn-lt"/>
              </a:rPr>
              <a:t>Implementation steps and Execution</a:t>
            </a:r>
            <a:endParaRPr lang="en-IN" dirty="0"/>
          </a:p>
        </p:txBody>
      </p:sp>
      <p:sp>
        <p:nvSpPr>
          <p:cNvPr id="3" name="Content Placeholder 2">
            <a:extLst>
              <a:ext uri="{FF2B5EF4-FFF2-40B4-BE49-F238E27FC236}">
                <a16:creationId xmlns:a16="http://schemas.microsoft.com/office/drawing/2014/main" id="{DD51B5A9-F3FE-1651-67D2-A4A07EAAC336}"/>
              </a:ext>
            </a:extLst>
          </p:cNvPr>
          <p:cNvSpPr>
            <a:spLocks noGrp="1"/>
          </p:cNvSpPr>
          <p:nvPr>
            <p:ph idx="1"/>
          </p:nvPr>
        </p:nvSpPr>
        <p:spPr>
          <a:xfrm>
            <a:off x="239830" y="819099"/>
            <a:ext cx="11369039" cy="5623264"/>
          </a:xfrm>
        </p:spPr>
        <p:txBody>
          <a:bodyPr>
            <a:noAutofit/>
          </a:bodyPr>
          <a:lstStyle/>
          <a:p>
            <a:r>
              <a:rPr lang="en-IN" b="1" dirty="0"/>
              <a:t>Data Preparation:</a:t>
            </a:r>
            <a:r>
              <a:rPr lang="en-US" dirty="0"/>
              <a:t>Load hyperspectral datasets (Los Angeles, Pavia, etc.) and normalize pixel values for stable processing.</a:t>
            </a:r>
          </a:p>
          <a:p>
            <a:pPr marL="0" indent="0">
              <a:buNone/>
            </a:pPr>
            <a:r>
              <a:rPr lang="en-US" dirty="0"/>
              <a:t>   Prepare inputs for both models:</a:t>
            </a:r>
          </a:p>
          <a:p>
            <a:pPr marL="0" indent="0">
              <a:buNone/>
            </a:pPr>
            <a:r>
              <a:rPr lang="en-US" dirty="0"/>
              <a:t>      1. GT-HAD, divide the image into overlapping patches </a:t>
            </a:r>
          </a:p>
          <a:p>
            <a:pPr marL="0" indent="0">
              <a:buNone/>
            </a:pPr>
            <a:r>
              <a:rPr lang="en-US" dirty="0"/>
              <a:t>      2. For Auto-HAD, generate a noise tensor of the same size as the image </a:t>
            </a:r>
          </a:p>
          <a:p>
            <a:pPr marL="0" indent="0">
              <a:buNone/>
            </a:pPr>
            <a:r>
              <a:rPr lang="en-US" dirty="0"/>
              <a:t>   Process the data using two independent models:</a:t>
            </a:r>
          </a:p>
          <a:p>
            <a:pPr algn="just"/>
            <a:r>
              <a:rPr lang="en-US" b="1" dirty="0"/>
              <a:t>GT-HAD Model: </a:t>
            </a:r>
            <a:r>
              <a:rPr lang="en-US" dirty="0"/>
              <a:t>Patches are passed through convolution layers to extract features, followed by transformer blocks to capture spatial relationships. A gating mechanism is used to separate background and anomaly features during processing.</a:t>
            </a:r>
          </a:p>
          <a:p>
            <a:pPr algn="just"/>
            <a:r>
              <a:rPr lang="en-US" b="1" dirty="0"/>
              <a:t>Auto-HAD Model: </a:t>
            </a:r>
            <a:r>
              <a:rPr lang="en-US" dirty="0"/>
              <a:t>Noise input is passed through an encoder–decoder (Skip-Net)   network, which gradually reconstructs the hyperspectral image while   preserving important structural details.</a:t>
            </a:r>
          </a:p>
          <a:p>
            <a:pPr algn="just"/>
            <a:endParaRPr lang="en-US" dirty="0"/>
          </a:p>
          <a:p>
            <a:pPr marL="0" indent="0" eaLnBrk="0" fontAlgn="base" hangingPunct="0">
              <a:lnSpc>
                <a:spcPct val="100000"/>
              </a:lnSpc>
              <a:spcBef>
                <a:spcPct val="0"/>
              </a:spcBef>
              <a:spcAft>
                <a:spcPct val="0"/>
              </a:spcAft>
              <a:buNone/>
            </a:pPr>
            <a:endParaRPr lang="en-IN" sz="2400" b="1" dirty="0"/>
          </a:p>
          <a:p>
            <a:pPr marL="0" indent="0" algn="just">
              <a:buNone/>
            </a:pPr>
            <a:endParaRPr lang="en-IN" sz="2400" dirty="0"/>
          </a:p>
          <a:p>
            <a:pPr marL="0" indent="0" algn="just">
              <a:buNone/>
            </a:pPr>
            <a:endParaRPr lang="en-US" sz="2400" dirty="0"/>
          </a:p>
          <a:p>
            <a:pPr algn="just"/>
            <a:endParaRPr lang="en-IN" sz="2400" dirty="0"/>
          </a:p>
        </p:txBody>
      </p:sp>
    </p:spTree>
    <p:extLst>
      <p:ext uri="{BB962C8B-B14F-4D97-AF65-F5344CB8AC3E}">
        <p14:creationId xmlns:p14="http://schemas.microsoft.com/office/powerpoint/2010/main" val="1178704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BE4099-C6BF-4702-2D4A-CD6D62B6763D}"/>
              </a:ext>
            </a:extLst>
          </p:cNvPr>
          <p:cNvSpPr>
            <a:spLocks noGrp="1"/>
          </p:cNvSpPr>
          <p:nvPr>
            <p:ph idx="1"/>
          </p:nvPr>
        </p:nvSpPr>
        <p:spPr>
          <a:xfrm>
            <a:off x="464492" y="457746"/>
            <a:ext cx="11079808" cy="6136105"/>
          </a:xfrm>
        </p:spPr>
        <p:txBody>
          <a:bodyPr>
            <a:normAutofit/>
          </a:bodyPr>
          <a:lstStyle/>
          <a:p>
            <a:pPr algn="just"/>
            <a:r>
              <a:rPr lang="en-US" dirty="0"/>
              <a:t>Both models are trained independently to learn background patterns by minimizing reconstruction error.</a:t>
            </a:r>
          </a:p>
          <a:p>
            <a:pPr algn="just"/>
            <a:r>
              <a:rPr lang="en-US" dirty="0"/>
              <a:t>After training, the reconstructed output is compared with the original image to calculate reconstruction error.</a:t>
            </a:r>
          </a:p>
          <a:p>
            <a:pPr algn="just"/>
            <a:r>
              <a:rPr lang="en-US" dirty="0"/>
              <a:t>Regions with high reconstruction error are identified as anomalies, while low-error regions correspond to normal background.</a:t>
            </a:r>
          </a:p>
          <a:p>
            <a:pPr algn="just"/>
            <a:r>
              <a:rPr lang="en-US" dirty="0"/>
              <a:t>Anomaly maps are generated for both GT-HAD and Auto-HAD based on the error values.</a:t>
            </a:r>
          </a:p>
          <a:p>
            <a:pPr algn="just"/>
            <a:r>
              <a:rPr lang="en-US" dirty="0"/>
              <a:t>Finally, the performance of both models is evaluated and compared using ROC curves and AUC scores across different datasets.</a:t>
            </a:r>
          </a:p>
          <a:p>
            <a:pPr marL="0" indent="0">
              <a:buNone/>
            </a:pPr>
            <a:endParaRPr lang="en-IN" dirty="0"/>
          </a:p>
        </p:txBody>
      </p:sp>
    </p:spTree>
    <p:extLst>
      <p:ext uri="{BB962C8B-B14F-4D97-AF65-F5344CB8AC3E}">
        <p14:creationId xmlns:p14="http://schemas.microsoft.com/office/powerpoint/2010/main" val="3099304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6AF9FE-408E-59B8-04CD-C99CB992D9C0}"/>
              </a:ext>
            </a:extLst>
          </p:cNvPr>
          <p:cNvSpPr txBox="1"/>
          <p:nvPr/>
        </p:nvSpPr>
        <p:spPr>
          <a:xfrm>
            <a:off x="208547" y="208547"/>
            <a:ext cx="5021179" cy="523220"/>
          </a:xfrm>
          <a:prstGeom prst="rect">
            <a:avLst/>
          </a:prstGeom>
          <a:noFill/>
        </p:spPr>
        <p:txBody>
          <a:bodyPr wrap="square" rtlCol="0">
            <a:spAutoFit/>
          </a:bodyPr>
          <a:lstStyle/>
          <a:p>
            <a:r>
              <a:rPr lang="en-IN" sz="2800" b="1" dirty="0"/>
              <a:t>RESULTS: Residual Maps</a:t>
            </a:r>
          </a:p>
        </p:txBody>
      </p:sp>
      <p:pic>
        <p:nvPicPr>
          <p:cNvPr id="10" name="Picture 9">
            <a:extLst>
              <a:ext uri="{FF2B5EF4-FFF2-40B4-BE49-F238E27FC236}">
                <a16:creationId xmlns:a16="http://schemas.microsoft.com/office/drawing/2014/main" id="{30E36F18-5846-CAA9-8869-A96365D673A3}"/>
              </a:ext>
            </a:extLst>
          </p:cNvPr>
          <p:cNvPicPr>
            <a:picLocks noChangeAspect="1"/>
          </p:cNvPicPr>
          <p:nvPr/>
        </p:nvPicPr>
        <p:blipFill>
          <a:blip r:embed="rId2"/>
          <a:stretch>
            <a:fillRect/>
          </a:stretch>
        </p:blipFill>
        <p:spPr>
          <a:xfrm>
            <a:off x="0" y="731766"/>
            <a:ext cx="11983453" cy="2891109"/>
          </a:xfrm>
          <a:prstGeom prst="rect">
            <a:avLst/>
          </a:prstGeom>
        </p:spPr>
      </p:pic>
      <p:pic>
        <p:nvPicPr>
          <p:cNvPr id="12" name="Picture 11">
            <a:extLst>
              <a:ext uri="{FF2B5EF4-FFF2-40B4-BE49-F238E27FC236}">
                <a16:creationId xmlns:a16="http://schemas.microsoft.com/office/drawing/2014/main" id="{7043D9D1-CEF8-B07B-FFBD-B493B4DC23B6}"/>
              </a:ext>
            </a:extLst>
          </p:cNvPr>
          <p:cNvPicPr>
            <a:picLocks noChangeAspect="1"/>
          </p:cNvPicPr>
          <p:nvPr/>
        </p:nvPicPr>
        <p:blipFill>
          <a:blip r:embed="rId3"/>
          <a:stretch>
            <a:fillRect/>
          </a:stretch>
        </p:blipFill>
        <p:spPr>
          <a:xfrm>
            <a:off x="150572" y="3704712"/>
            <a:ext cx="11890856" cy="3072064"/>
          </a:xfrm>
          <a:prstGeom prst="rect">
            <a:avLst/>
          </a:prstGeom>
        </p:spPr>
      </p:pic>
    </p:spTree>
    <p:extLst>
      <p:ext uri="{BB962C8B-B14F-4D97-AF65-F5344CB8AC3E}">
        <p14:creationId xmlns:p14="http://schemas.microsoft.com/office/powerpoint/2010/main" val="296238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C03F55-6DAA-A78A-9512-EB382B2F3805}"/>
              </a:ext>
            </a:extLst>
          </p:cNvPr>
          <p:cNvPicPr>
            <a:picLocks noChangeAspect="1"/>
          </p:cNvPicPr>
          <p:nvPr/>
        </p:nvPicPr>
        <p:blipFill>
          <a:blip r:embed="rId2"/>
          <a:stretch>
            <a:fillRect/>
          </a:stretch>
        </p:blipFill>
        <p:spPr>
          <a:xfrm>
            <a:off x="0" y="0"/>
            <a:ext cx="11991372" cy="3429000"/>
          </a:xfrm>
          <a:prstGeom prst="rect">
            <a:avLst/>
          </a:prstGeom>
        </p:spPr>
      </p:pic>
      <p:pic>
        <p:nvPicPr>
          <p:cNvPr id="7" name="Picture 6">
            <a:extLst>
              <a:ext uri="{FF2B5EF4-FFF2-40B4-BE49-F238E27FC236}">
                <a16:creationId xmlns:a16="http://schemas.microsoft.com/office/drawing/2014/main" id="{3163BBA2-C101-5F50-DE66-D5347104A537}"/>
              </a:ext>
            </a:extLst>
          </p:cNvPr>
          <p:cNvPicPr>
            <a:picLocks noChangeAspect="1"/>
          </p:cNvPicPr>
          <p:nvPr/>
        </p:nvPicPr>
        <p:blipFill>
          <a:blip r:embed="rId3"/>
          <a:stretch>
            <a:fillRect/>
          </a:stretch>
        </p:blipFill>
        <p:spPr>
          <a:xfrm>
            <a:off x="0" y="3429000"/>
            <a:ext cx="11991372" cy="3342189"/>
          </a:xfrm>
          <a:prstGeom prst="rect">
            <a:avLst/>
          </a:prstGeom>
        </p:spPr>
      </p:pic>
    </p:spTree>
    <p:extLst>
      <p:ext uri="{BB962C8B-B14F-4D97-AF65-F5344CB8AC3E}">
        <p14:creationId xmlns:p14="http://schemas.microsoft.com/office/powerpoint/2010/main" val="3966910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AF4678-B9A5-536B-BDA3-AB681B2230A4}"/>
              </a:ext>
            </a:extLst>
          </p:cNvPr>
          <p:cNvPicPr>
            <a:picLocks noChangeAspect="1"/>
          </p:cNvPicPr>
          <p:nvPr/>
        </p:nvPicPr>
        <p:blipFill>
          <a:blip r:embed="rId2"/>
          <a:stretch>
            <a:fillRect/>
          </a:stretch>
        </p:blipFill>
        <p:spPr>
          <a:xfrm>
            <a:off x="0" y="111874"/>
            <a:ext cx="12192000" cy="3140612"/>
          </a:xfrm>
          <a:prstGeom prst="rect">
            <a:avLst/>
          </a:prstGeom>
        </p:spPr>
      </p:pic>
      <p:pic>
        <p:nvPicPr>
          <p:cNvPr id="7" name="Picture 6">
            <a:extLst>
              <a:ext uri="{FF2B5EF4-FFF2-40B4-BE49-F238E27FC236}">
                <a16:creationId xmlns:a16="http://schemas.microsoft.com/office/drawing/2014/main" id="{75B603AC-B686-12F2-78DC-046980E709E5}"/>
              </a:ext>
            </a:extLst>
          </p:cNvPr>
          <p:cNvPicPr>
            <a:picLocks noChangeAspect="1"/>
          </p:cNvPicPr>
          <p:nvPr/>
        </p:nvPicPr>
        <p:blipFill>
          <a:blip r:embed="rId3"/>
          <a:stretch>
            <a:fillRect/>
          </a:stretch>
        </p:blipFill>
        <p:spPr>
          <a:xfrm>
            <a:off x="0" y="3429000"/>
            <a:ext cx="12192000" cy="3317125"/>
          </a:xfrm>
          <a:prstGeom prst="rect">
            <a:avLst/>
          </a:prstGeom>
        </p:spPr>
      </p:pic>
    </p:spTree>
    <p:extLst>
      <p:ext uri="{BB962C8B-B14F-4D97-AF65-F5344CB8AC3E}">
        <p14:creationId xmlns:p14="http://schemas.microsoft.com/office/powerpoint/2010/main" val="2868715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98876AAE-F147-C780-6346-B45C920E7614}"/>
              </a:ext>
            </a:extLst>
          </p:cNvPr>
          <p:cNvSpPr txBox="1"/>
          <p:nvPr/>
        </p:nvSpPr>
        <p:spPr>
          <a:xfrm>
            <a:off x="3048000" y="6396335"/>
            <a:ext cx="6096000" cy="461665"/>
          </a:xfrm>
          <a:prstGeom prst="rect">
            <a:avLst/>
          </a:prstGeom>
          <a:noFill/>
        </p:spPr>
        <p:txBody>
          <a:bodyPr wrap="square">
            <a:spAutoFit/>
          </a:bodyPr>
          <a:lstStyle/>
          <a:p>
            <a:pPr algn="ctr"/>
            <a:r>
              <a:rPr lang="en-IN" sz="2400" b="1" dirty="0"/>
              <a:t>DATASET AOC CURVES</a:t>
            </a:r>
          </a:p>
        </p:txBody>
      </p:sp>
      <p:graphicFrame>
        <p:nvGraphicFramePr>
          <p:cNvPr id="13" name="Table 12">
            <a:extLst>
              <a:ext uri="{FF2B5EF4-FFF2-40B4-BE49-F238E27FC236}">
                <a16:creationId xmlns:a16="http://schemas.microsoft.com/office/drawing/2014/main" id="{798A5062-C044-6DC1-1F89-3FA9FCA48FF6}"/>
              </a:ext>
            </a:extLst>
          </p:cNvPr>
          <p:cNvGraphicFramePr>
            <a:graphicFrameLocks noGrp="1"/>
          </p:cNvGraphicFramePr>
          <p:nvPr>
            <p:extLst>
              <p:ext uri="{D42A27DB-BD31-4B8C-83A1-F6EECF244321}">
                <p14:modId xmlns:p14="http://schemas.microsoft.com/office/powerpoint/2010/main" val="2434396941"/>
              </p:ext>
            </p:extLst>
          </p:nvPr>
        </p:nvGraphicFramePr>
        <p:xfrm>
          <a:off x="0" y="573614"/>
          <a:ext cx="12192000" cy="5972382"/>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830463820"/>
                    </a:ext>
                  </a:extLst>
                </a:gridCol>
                <a:gridCol w="4064000">
                  <a:extLst>
                    <a:ext uri="{9D8B030D-6E8A-4147-A177-3AD203B41FA5}">
                      <a16:colId xmlns:a16="http://schemas.microsoft.com/office/drawing/2014/main" val="3592214115"/>
                    </a:ext>
                  </a:extLst>
                </a:gridCol>
                <a:gridCol w="4064000">
                  <a:extLst>
                    <a:ext uri="{9D8B030D-6E8A-4147-A177-3AD203B41FA5}">
                      <a16:colId xmlns:a16="http://schemas.microsoft.com/office/drawing/2014/main" val="2054250571"/>
                    </a:ext>
                  </a:extLst>
                </a:gridCol>
              </a:tblGrid>
              <a:tr h="2986191">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351591995"/>
                  </a:ext>
                </a:extLst>
              </a:tr>
              <a:tr h="2986191">
                <a:tc>
                  <a:txBody>
                    <a:bodyPr/>
                    <a:lstStyle/>
                    <a:p>
                      <a:pPr algn="ct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488792779"/>
                  </a:ext>
                </a:extLst>
              </a:tr>
            </a:tbl>
          </a:graphicData>
        </a:graphic>
      </p:graphicFrame>
      <p:pic>
        <p:nvPicPr>
          <p:cNvPr id="29" name="Picture 28">
            <a:extLst>
              <a:ext uri="{FF2B5EF4-FFF2-40B4-BE49-F238E27FC236}">
                <a16:creationId xmlns:a16="http://schemas.microsoft.com/office/drawing/2014/main" id="{83D33309-684B-9813-0AFD-A974D17638F8}"/>
              </a:ext>
            </a:extLst>
          </p:cNvPr>
          <p:cNvPicPr>
            <a:picLocks noChangeAspect="1"/>
          </p:cNvPicPr>
          <p:nvPr/>
        </p:nvPicPr>
        <p:blipFill>
          <a:blip r:embed="rId2"/>
          <a:stretch>
            <a:fillRect/>
          </a:stretch>
        </p:blipFill>
        <p:spPr>
          <a:xfrm>
            <a:off x="127816" y="194480"/>
            <a:ext cx="3691829" cy="3234519"/>
          </a:xfrm>
          <a:prstGeom prst="rect">
            <a:avLst/>
          </a:prstGeom>
        </p:spPr>
      </p:pic>
      <p:pic>
        <p:nvPicPr>
          <p:cNvPr id="31" name="Picture 30">
            <a:extLst>
              <a:ext uri="{FF2B5EF4-FFF2-40B4-BE49-F238E27FC236}">
                <a16:creationId xmlns:a16="http://schemas.microsoft.com/office/drawing/2014/main" id="{DCC0A1C7-A5E0-98E2-F8A1-5A01D31B51EB}"/>
              </a:ext>
            </a:extLst>
          </p:cNvPr>
          <p:cNvPicPr>
            <a:picLocks noChangeAspect="1"/>
          </p:cNvPicPr>
          <p:nvPr/>
        </p:nvPicPr>
        <p:blipFill>
          <a:blip r:embed="rId3"/>
          <a:stretch>
            <a:fillRect/>
          </a:stretch>
        </p:blipFill>
        <p:spPr>
          <a:xfrm>
            <a:off x="4019718" y="204898"/>
            <a:ext cx="3967132" cy="3224102"/>
          </a:xfrm>
          <a:prstGeom prst="rect">
            <a:avLst/>
          </a:prstGeom>
        </p:spPr>
      </p:pic>
      <p:pic>
        <p:nvPicPr>
          <p:cNvPr id="33" name="Picture 32">
            <a:extLst>
              <a:ext uri="{FF2B5EF4-FFF2-40B4-BE49-F238E27FC236}">
                <a16:creationId xmlns:a16="http://schemas.microsoft.com/office/drawing/2014/main" id="{416B3436-EFBF-5258-9AE7-08B833A33FDA}"/>
              </a:ext>
            </a:extLst>
          </p:cNvPr>
          <p:cNvPicPr>
            <a:picLocks noChangeAspect="1"/>
          </p:cNvPicPr>
          <p:nvPr/>
        </p:nvPicPr>
        <p:blipFill>
          <a:blip r:embed="rId4"/>
          <a:stretch>
            <a:fillRect/>
          </a:stretch>
        </p:blipFill>
        <p:spPr>
          <a:xfrm>
            <a:off x="7982017" y="26042"/>
            <a:ext cx="3769094" cy="3402957"/>
          </a:xfrm>
          <a:prstGeom prst="rect">
            <a:avLst/>
          </a:prstGeom>
        </p:spPr>
      </p:pic>
      <p:pic>
        <p:nvPicPr>
          <p:cNvPr id="35" name="Picture 34">
            <a:extLst>
              <a:ext uri="{FF2B5EF4-FFF2-40B4-BE49-F238E27FC236}">
                <a16:creationId xmlns:a16="http://schemas.microsoft.com/office/drawing/2014/main" id="{E8C6A63D-C323-CA8A-ACC9-FF155DC694C3}"/>
              </a:ext>
            </a:extLst>
          </p:cNvPr>
          <p:cNvPicPr>
            <a:picLocks noChangeAspect="1"/>
          </p:cNvPicPr>
          <p:nvPr/>
        </p:nvPicPr>
        <p:blipFill>
          <a:blip r:embed="rId5"/>
          <a:stretch>
            <a:fillRect/>
          </a:stretch>
        </p:blipFill>
        <p:spPr>
          <a:xfrm>
            <a:off x="127816" y="3509974"/>
            <a:ext cx="3731150" cy="2886360"/>
          </a:xfrm>
          <a:prstGeom prst="rect">
            <a:avLst/>
          </a:prstGeom>
        </p:spPr>
      </p:pic>
      <p:pic>
        <p:nvPicPr>
          <p:cNvPr id="37" name="Picture 36">
            <a:extLst>
              <a:ext uri="{FF2B5EF4-FFF2-40B4-BE49-F238E27FC236}">
                <a16:creationId xmlns:a16="http://schemas.microsoft.com/office/drawing/2014/main" id="{C578C66C-63DF-D85A-8AAC-38AB819888FE}"/>
              </a:ext>
            </a:extLst>
          </p:cNvPr>
          <p:cNvPicPr>
            <a:picLocks noChangeAspect="1"/>
          </p:cNvPicPr>
          <p:nvPr/>
        </p:nvPicPr>
        <p:blipFill>
          <a:blip r:embed="rId6"/>
          <a:stretch>
            <a:fillRect/>
          </a:stretch>
        </p:blipFill>
        <p:spPr>
          <a:xfrm>
            <a:off x="4014885" y="3540949"/>
            <a:ext cx="3967132" cy="2855386"/>
          </a:xfrm>
          <a:prstGeom prst="rect">
            <a:avLst/>
          </a:prstGeom>
        </p:spPr>
      </p:pic>
      <p:pic>
        <p:nvPicPr>
          <p:cNvPr id="39" name="Picture 38">
            <a:extLst>
              <a:ext uri="{FF2B5EF4-FFF2-40B4-BE49-F238E27FC236}">
                <a16:creationId xmlns:a16="http://schemas.microsoft.com/office/drawing/2014/main" id="{29FAF5C2-99F2-E1BA-FA66-CE093B8276A7}"/>
              </a:ext>
            </a:extLst>
          </p:cNvPr>
          <p:cNvPicPr>
            <a:picLocks noChangeAspect="1"/>
          </p:cNvPicPr>
          <p:nvPr/>
        </p:nvPicPr>
        <p:blipFill>
          <a:blip r:embed="rId7"/>
          <a:stretch>
            <a:fillRect/>
          </a:stretch>
        </p:blipFill>
        <p:spPr>
          <a:xfrm>
            <a:off x="8062359" y="3587699"/>
            <a:ext cx="3769094" cy="2808635"/>
          </a:xfrm>
          <a:prstGeom prst="rect">
            <a:avLst/>
          </a:prstGeom>
        </p:spPr>
      </p:pic>
    </p:spTree>
    <p:extLst>
      <p:ext uri="{BB962C8B-B14F-4D97-AF65-F5344CB8AC3E}">
        <p14:creationId xmlns:p14="http://schemas.microsoft.com/office/powerpoint/2010/main" val="1308592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31481D-AC6A-0F4D-4232-21FACDAB1543}"/>
              </a:ext>
            </a:extLst>
          </p:cNvPr>
          <p:cNvSpPr txBox="1"/>
          <p:nvPr/>
        </p:nvSpPr>
        <p:spPr>
          <a:xfrm>
            <a:off x="457200" y="394454"/>
            <a:ext cx="6096000" cy="523220"/>
          </a:xfrm>
          <a:prstGeom prst="rect">
            <a:avLst/>
          </a:prstGeom>
          <a:noFill/>
        </p:spPr>
        <p:txBody>
          <a:bodyPr wrap="square">
            <a:spAutoFit/>
          </a:bodyPr>
          <a:lstStyle/>
          <a:p>
            <a:r>
              <a:rPr lang="en-IN" sz="2800" b="1" dirty="0"/>
              <a:t>RESULT ANALYSIS AND OBSERVATIONS</a:t>
            </a:r>
          </a:p>
        </p:txBody>
      </p:sp>
      <p:sp>
        <p:nvSpPr>
          <p:cNvPr id="8" name="TextBox 7">
            <a:extLst>
              <a:ext uri="{FF2B5EF4-FFF2-40B4-BE49-F238E27FC236}">
                <a16:creationId xmlns:a16="http://schemas.microsoft.com/office/drawing/2014/main" id="{0F315FD0-3BB0-F08A-7D4B-C3665BA5F35B}"/>
              </a:ext>
            </a:extLst>
          </p:cNvPr>
          <p:cNvSpPr txBox="1"/>
          <p:nvPr/>
        </p:nvSpPr>
        <p:spPr>
          <a:xfrm>
            <a:off x="4472785" y="1179284"/>
            <a:ext cx="2697790" cy="461665"/>
          </a:xfrm>
          <a:prstGeom prst="rect">
            <a:avLst/>
          </a:prstGeom>
          <a:noFill/>
        </p:spPr>
        <p:txBody>
          <a:bodyPr wrap="none" rtlCol="0">
            <a:spAutoFit/>
          </a:bodyPr>
          <a:lstStyle/>
          <a:p>
            <a:pPr algn="ctr"/>
            <a:r>
              <a:rPr lang="en-IN" sz="2400" b="1" dirty="0"/>
              <a:t>Dataset AOC Values</a:t>
            </a:r>
          </a:p>
        </p:txBody>
      </p:sp>
      <p:graphicFrame>
        <p:nvGraphicFramePr>
          <p:cNvPr id="12" name="Table 11">
            <a:extLst>
              <a:ext uri="{FF2B5EF4-FFF2-40B4-BE49-F238E27FC236}">
                <a16:creationId xmlns:a16="http://schemas.microsoft.com/office/drawing/2014/main" id="{CCC5C3C6-2652-A042-93F3-996BE8C6CC24}"/>
              </a:ext>
            </a:extLst>
          </p:cNvPr>
          <p:cNvGraphicFramePr>
            <a:graphicFrameLocks noGrp="1"/>
          </p:cNvGraphicFramePr>
          <p:nvPr>
            <p:extLst>
              <p:ext uri="{D42A27DB-BD31-4B8C-83A1-F6EECF244321}">
                <p14:modId xmlns:p14="http://schemas.microsoft.com/office/powerpoint/2010/main" val="3874738381"/>
              </p:ext>
            </p:extLst>
          </p:nvPr>
        </p:nvGraphicFramePr>
        <p:xfrm>
          <a:off x="1888285" y="1774738"/>
          <a:ext cx="8940800" cy="4071522"/>
        </p:xfrm>
        <a:graphic>
          <a:graphicData uri="http://schemas.openxmlformats.org/drawingml/2006/table">
            <a:tbl>
              <a:tblPr firstRow="1" bandRow="1">
                <a:tableStyleId>{5C22544A-7EE6-4342-B048-85BDC9FD1C3A}</a:tableStyleId>
              </a:tblPr>
              <a:tblGrid>
                <a:gridCol w="2235200">
                  <a:extLst>
                    <a:ext uri="{9D8B030D-6E8A-4147-A177-3AD203B41FA5}">
                      <a16:colId xmlns:a16="http://schemas.microsoft.com/office/drawing/2014/main" val="720888650"/>
                    </a:ext>
                  </a:extLst>
                </a:gridCol>
                <a:gridCol w="2235200">
                  <a:extLst>
                    <a:ext uri="{9D8B030D-6E8A-4147-A177-3AD203B41FA5}">
                      <a16:colId xmlns:a16="http://schemas.microsoft.com/office/drawing/2014/main" val="410024105"/>
                    </a:ext>
                  </a:extLst>
                </a:gridCol>
                <a:gridCol w="2235200">
                  <a:extLst>
                    <a:ext uri="{9D8B030D-6E8A-4147-A177-3AD203B41FA5}">
                      <a16:colId xmlns:a16="http://schemas.microsoft.com/office/drawing/2014/main" val="1557817921"/>
                    </a:ext>
                  </a:extLst>
                </a:gridCol>
                <a:gridCol w="2235200">
                  <a:extLst>
                    <a:ext uri="{9D8B030D-6E8A-4147-A177-3AD203B41FA5}">
                      <a16:colId xmlns:a16="http://schemas.microsoft.com/office/drawing/2014/main" val="431489556"/>
                    </a:ext>
                  </a:extLst>
                </a:gridCol>
              </a:tblGrid>
              <a:tr h="5816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i="0" kern="1200" dirty="0">
                          <a:solidFill>
                            <a:schemeClr val="lt1"/>
                          </a:solidFill>
                          <a:effectLst/>
                          <a:latin typeface="+mn-lt"/>
                          <a:ea typeface="+mn-ea"/>
                          <a:cs typeface="+mn-cs"/>
                        </a:rPr>
                        <a:t>Dataset</a:t>
                      </a:r>
                      <a:r>
                        <a:rPr lang="en-IN" sz="2400" b="0" i="0" kern="1200" dirty="0">
                          <a:solidFill>
                            <a:schemeClr val="lt1"/>
                          </a:solidFill>
                          <a:effectLst/>
                          <a:latin typeface="+mn-lt"/>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i="0" kern="1200" dirty="0">
                          <a:solidFill>
                            <a:schemeClr val="lt1"/>
                          </a:solidFill>
                          <a:effectLst/>
                          <a:latin typeface="+mn-lt"/>
                          <a:ea typeface="+mn-ea"/>
                          <a:cs typeface="+mn-cs"/>
                        </a:rPr>
                        <a:t>GT-HAD AUC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i="0" kern="1200">
                          <a:solidFill>
                            <a:schemeClr val="lt1"/>
                          </a:solidFill>
                          <a:effectLst/>
                          <a:latin typeface="+mn-lt"/>
                          <a:ea typeface="+mn-ea"/>
                          <a:cs typeface="+mn-cs"/>
                        </a:rPr>
                        <a:t>Auto-HAD AUC </a:t>
                      </a:r>
                    </a:p>
                  </a:txBody>
                  <a:tcPr/>
                </a:tc>
                <a:tc>
                  <a:txBody>
                    <a:bodyPr/>
                    <a:lstStyle/>
                    <a:p>
                      <a:pPr algn="ctr"/>
                      <a:r>
                        <a:rPr lang="en-IN" sz="2400"/>
                        <a:t>Winner</a:t>
                      </a:r>
                      <a:endParaRPr lang="en-IN" sz="2400" dirty="0"/>
                    </a:p>
                  </a:txBody>
                  <a:tcPr/>
                </a:tc>
                <a:extLst>
                  <a:ext uri="{0D108BD9-81ED-4DB2-BD59-A6C34878D82A}">
                    <a16:rowId xmlns:a16="http://schemas.microsoft.com/office/drawing/2014/main" val="291680062"/>
                  </a:ext>
                </a:extLst>
              </a:tr>
              <a:tr h="5816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los-angeles-1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 0.9506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dirty="0">
                          <a:solidFill>
                            <a:schemeClr val="dk1"/>
                          </a:solidFill>
                          <a:effectLst/>
                          <a:latin typeface="+mn-lt"/>
                          <a:ea typeface="+mn-ea"/>
                          <a:cs typeface="+mn-cs"/>
                        </a:rPr>
                        <a:t> 0.9202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GT-HAD </a:t>
                      </a:r>
                    </a:p>
                  </a:txBody>
                  <a:tcPr/>
                </a:tc>
                <a:extLst>
                  <a:ext uri="{0D108BD9-81ED-4DB2-BD59-A6C34878D82A}">
                    <a16:rowId xmlns:a16="http://schemas.microsoft.com/office/drawing/2014/main" val="80333875"/>
                  </a:ext>
                </a:extLst>
              </a:tr>
              <a:tr h="5816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los-angeles-2 </a:t>
                      </a:r>
                    </a:p>
                  </a:txBody>
                  <a:tcPr/>
                </a:tc>
                <a:tc>
                  <a:txBody>
                    <a:bodyPr/>
                    <a:lstStyle/>
                    <a:p>
                      <a:pPr algn="ctr"/>
                      <a:r>
                        <a:rPr lang="en-IN" sz="2400"/>
                        <a:t>0.9894</a:t>
                      </a:r>
                      <a:endParaRPr lang="en-IN"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dirty="0">
                          <a:solidFill>
                            <a:schemeClr val="dk1"/>
                          </a:solidFill>
                          <a:effectLst/>
                          <a:latin typeface="+mn-lt"/>
                          <a:ea typeface="+mn-ea"/>
                          <a:cs typeface="+mn-cs"/>
                        </a:rPr>
                        <a:t> 0.8889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GT-HAD </a:t>
                      </a:r>
                    </a:p>
                  </a:txBody>
                  <a:tcPr/>
                </a:tc>
                <a:extLst>
                  <a:ext uri="{0D108BD9-81ED-4DB2-BD59-A6C34878D82A}">
                    <a16:rowId xmlns:a16="http://schemas.microsoft.com/office/drawing/2014/main" val="2028726837"/>
                  </a:ext>
                </a:extLst>
              </a:tr>
              <a:tr h="5816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gulfport </a:t>
                      </a:r>
                    </a:p>
                  </a:txBody>
                  <a:tcPr/>
                </a:tc>
                <a:tc>
                  <a:txBody>
                    <a:bodyPr/>
                    <a:lstStyle/>
                    <a:p>
                      <a:pPr algn="ctr"/>
                      <a:r>
                        <a:rPr lang="en-IN" sz="2400"/>
                        <a:t>0.9939</a:t>
                      </a:r>
                      <a:endParaRPr lang="en-IN"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 0.9739</a:t>
                      </a:r>
                      <a:endParaRPr lang="en-IN" sz="2400" b="0" i="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GT-HAD </a:t>
                      </a:r>
                    </a:p>
                  </a:txBody>
                  <a:tcPr/>
                </a:tc>
                <a:extLst>
                  <a:ext uri="{0D108BD9-81ED-4DB2-BD59-A6C34878D82A}">
                    <a16:rowId xmlns:a16="http://schemas.microsoft.com/office/drawing/2014/main" val="3063422869"/>
                  </a:ext>
                </a:extLst>
              </a:tr>
              <a:tr h="5816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texas-goast    </a:t>
                      </a:r>
                    </a:p>
                  </a:txBody>
                  <a:tcPr/>
                </a:tc>
                <a:tc>
                  <a:txBody>
                    <a:bodyPr/>
                    <a:lstStyle/>
                    <a:p>
                      <a:pPr algn="ctr"/>
                      <a:r>
                        <a:rPr lang="en-IN" sz="2400"/>
                        <a:t>0.9976</a:t>
                      </a:r>
                      <a:endParaRPr lang="en-IN"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 0.9927</a:t>
                      </a:r>
                      <a:endParaRPr lang="en-IN" sz="2400" b="0" i="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GT-HAD </a:t>
                      </a:r>
                    </a:p>
                  </a:txBody>
                  <a:tcPr/>
                </a:tc>
                <a:extLst>
                  <a:ext uri="{0D108BD9-81ED-4DB2-BD59-A6C34878D82A}">
                    <a16:rowId xmlns:a16="http://schemas.microsoft.com/office/drawing/2014/main" val="407519166"/>
                  </a:ext>
                </a:extLst>
              </a:tr>
              <a:tr h="5816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cat-island  </a:t>
                      </a:r>
                    </a:p>
                  </a:txBody>
                  <a:tcPr/>
                </a:tc>
                <a:tc>
                  <a:txBody>
                    <a:bodyPr/>
                    <a:lstStyle/>
                    <a:p>
                      <a:pPr algn="ctr"/>
                      <a:r>
                        <a:rPr lang="en-IN" sz="2400"/>
                        <a:t>0.9984</a:t>
                      </a:r>
                      <a:endParaRPr lang="en-IN"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 0.9504</a:t>
                      </a:r>
                      <a:endParaRPr lang="en-IN" sz="2400" b="0" i="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GT-HAD </a:t>
                      </a:r>
                    </a:p>
                  </a:txBody>
                  <a:tcPr/>
                </a:tc>
                <a:extLst>
                  <a:ext uri="{0D108BD9-81ED-4DB2-BD59-A6C34878D82A}">
                    <a16:rowId xmlns:a16="http://schemas.microsoft.com/office/drawing/2014/main" val="1466836787"/>
                  </a:ext>
                </a:extLst>
              </a:tr>
              <a:tr h="5816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a:solidFill>
                            <a:schemeClr val="dk1"/>
                          </a:solidFill>
                          <a:effectLst/>
                          <a:latin typeface="+mn-lt"/>
                          <a:ea typeface="+mn-ea"/>
                          <a:cs typeface="+mn-cs"/>
                        </a:rPr>
                        <a:t>pavia  </a:t>
                      </a:r>
                    </a:p>
                  </a:txBody>
                  <a:tcPr/>
                </a:tc>
                <a:tc>
                  <a:txBody>
                    <a:bodyPr/>
                    <a:lstStyle/>
                    <a:p>
                      <a:pPr algn="ctr"/>
                      <a:r>
                        <a:rPr lang="en-IN" sz="2400"/>
                        <a:t>0.9995</a:t>
                      </a:r>
                      <a:endParaRPr lang="en-IN" sz="2400" dirty="0"/>
                    </a:p>
                  </a:txBody>
                  <a:tcPr/>
                </a:tc>
                <a:tc>
                  <a:txBody>
                    <a:bodyPr/>
                    <a:lstStyle/>
                    <a:p>
                      <a:pPr algn="ctr"/>
                      <a:r>
                        <a:rPr lang="en-IN" sz="2400"/>
                        <a:t>0.9900</a:t>
                      </a:r>
                      <a:endParaRPr lang="en-IN"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0" i="0" kern="1200" dirty="0">
                          <a:solidFill>
                            <a:schemeClr val="dk1"/>
                          </a:solidFill>
                          <a:effectLst/>
                          <a:latin typeface="+mn-lt"/>
                          <a:ea typeface="+mn-ea"/>
                          <a:cs typeface="+mn-cs"/>
                        </a:rPr>
                        <a:t>GT-HAD </a:t>
                      </a:r>
                    </a:p>
                  </a:txBody>
                  <a:tcPr/>
                </a:tc>
                <a:extLst>
                  <a:ext uri="{0D108BD9-81ED-4DB2-BD59-A6C34878D82A}">
                    <a16:rowId xmlns:a16="http://schemas.microsoft.com/office/drawing/2014/main" val="2374872398"/>
                  </a:ext>
                </a:extLst>
              </a:tr>
            </a:tbl>
          </a:graphicData>
        </a:graphic>
      </p:graphicFrame>
    </p:spTree>
    <p:extLst>
      <p:ext uri="{BB962C8B-B14F-4D97-AF65-F5344CB8AC3E}">
        <p14:creationId xmlns:p14="http://schemas.microsoft.com/office/powerpoint/2010/main" val="3284517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898E9F-D594-6C8E-EF04-A2E3C17E3555}"/>
              </a:ext>
            </a:extLst>
          </p:cNvPr>
          <p:cNvSpPr txBox="1"/>
          <p:nvPr/>
        </p:nvSpPr>
        <p:spPr>
          <a:xfrm>
            <a:off x="265472" y="285135"/>
            <a:ext cx="11572567" cy="7109639"/>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t>Consistent Superiority of GT-HAD</a:t>
            </a:r>
            <a:r>
              <a:rPr lang="en-US" sz="2400" dirty="0"/>
              <a:t>: Across all six benchmark datasets, </a:t>
            </a:r>
            <a:r>
              <a:rPr lang="en-US" sz="2400" b="1" dirty="0"/>
              <a:t>GT-HAD</a:t>
            </a:r>
            <a:r>
              <a:rPr lang="en-US" sz="2400" dirty="0"/>
              <a:t> consistently outperforms Auto-HAD, maintaining a 100% win rate in this comparative study.</a:t>
            </a:r>
          </a:p>
          <a:p>
            <a:pPr marL="342900" indent="-342900" algn="just">
              <a:buFont typeface="Arial" panose="020B0604020202020204" pitchFamily="34" charset="0"/>
              <a:buChar char="•"/>
            </a:pPr>
            <a:r>
              <a:rPr lang="en-US" sz="2400" b="1" dirty="0"/>
              <a:t>Near-Perfect Detection Accuracy</a:t>
            </a:r>
            <a:r>
              <a:rPr lang="en-US" sz="2400" dirty="0"/>
              <a:t>: GT-HAD achieves exceptional performance on the </a:t>
            </a:r>
            <a:r>
              <a:rPr lang="en-US" sz="2400" b="1" dirty="0"/>
              <a:t>Pavia</a:t>
            </a:r>
            <a:r>
              <a:rPr lang="en-US" sz="2400" dirty="0"/>
              <a:t> (0.9995) and </a:t>
            </a:r>
            <a:r>
              <a:rPr lang="en-US" sz="2400" b="1" dirty="0"/>
              <a:t>Cat Island</a:t>
            </a:r>
            <a:r>
              <a:rPr lang="en-US" sz="2400" dirty="0"/>
              <a:t> (0.9984) datasets, indicating near-perfect separation between high-altitude anomalies and background signatures.</a:t>
            </a:r>
          </a:p>
          <a:p>
            <a:pPr marL="342900" indent="-342900" algn="just">
              <a:buFont typeface="Arial" panose="020B0604020202020204" pitchFamily="34" charset="0"/>
              <a:buChar char="•"/>
            </a:pPr>
            <a:r>
              <a:rPr lang="en-US" sz="2400" b="1" dirty="0"/>
              <a:t>Performance Stability</a:t>
            </a:r>
            <a:r>
              <a:rPr lang="en-US" sz="2400" dirty="0"/>
              <a:t>: While </a:t>
            </a:r>
            <a:r>
              <a:rPr lang="en-US" sz="2400" b="1" dirty="0"/>
              <a:t>Auto-HAD</a:t>
            </a:r>
            <a:r>
              <a:rPr lang="en-US" sz="2400" dirty="0"/>
              <a:t> performs competitively (surpassing 0.99 in the Texas Coast dataset), it exhibits more performance variability, such as the dip to 0.8889 in the </a:t>
            </a:r>
            <a:r>
              <a:rPr lang="en-US" sz="2400" b="1" dirty="0"/>
              <a:t>Los Angeles-2</a:t>
            </a:r>
            <a:r>
              <a:rPr lang="en-US" sz="2400" dirty="0"/>
              <a:t> scene, whereas GT-HAD remains robust.</a:t>
            </a:r>
          </a:p>
          <a:p>
            <a:pPr marL="342900" indent="-342900" algn="just">
              <a:buFont typeface="Arial" panose="020B0604020202020204" pitchFamily="34" charset="0"/>
              <a:buChar char="•"/>
            </a:pPr>
            <a:r>
              <a:rPr lang="en-US" sz="2400" b="1" dirty="0"/>
              <a:t>Dimensionality Management</a:t>
            </a:r>
            <a:r>
              <a:rPr lang="en-US" sz="2400" dirty="0"/>
              <a:t>: Both models effectively managed the </a:t>
            </a:r>
            <a:r>
              <a:rPr lang="en-US" sz="2400" b="1" dirty="0"/>
              <a:t>"curse of dimensionality"</a:t>
            </a:r>
            <a:r>
              <a:rPr lang="en-US" sz="2400" dirty="0"/>
              <a:t> inherent in HSI by utilizing deep convolutional layers to compress hundreds of spectral bands into meaningful feature maps, ensuring that critical diagnostic information was preserved while minimizing computational noise.</a:t>
            </a:r>
            <a:endParaRPr lang="en-US" sz="2400" b="1" dirty="0"/>
          </a:p>
          <a:p>
            <a:pPr marL="342900" indent="-342900" algn="just">
              <a:buFont typeface="Arial" panose="020B0604020202020204" pitchFamily="34" charset="0"/>
              <a:buChar char="•"/>
            </a:pPr>
            <a:r>
              <a:rPr lang="en-US" sz="2400" b="1" dirty="0"/>
              <a:t>Effective Spectral-Spatial Fusion</a:t>
            </a:r>
            <a:r>
              <a:rPr lang="en-US" sz="2400" dirty="0"/>
              <a:t>: GT-HAD’s patch-based processing successfully captured the complex </a:t>
            </a:r>
            <a:r>
              <a:rPr lang="en-US" sz="2400" b="1" dirty="0"/>
              <a:t>spectral-spatial correlations</a:t>
            </a:r>
            <a:r>
              <a:rPr lang="en-US" sz="2400" dirty="0"/>
              <a:t> within the HSI cubes, allowing the model to distinguish subtle aircraft signatures from highly similar atmospheric and terrestrial background pixels.</a:t>
            </a:r>
          </a:p>
          <a:p>
            <a:pPr algn="just"/>
            <a:br>
              <a:rPr lang="en-US" sz="2400" dirty="0"/>
            </a:br>
            <a:endParaRPr lang="en-IN" sz="2400" b="1" dirty="0"/>
          </a:p>
        </p:txBody>
      </p:sp>
    </p:spTree>
    <p:extLst>
      <p:ext uri="{BB962C8B-B14F-4D97-AF65-F5344CB8AC3E}">
        <p14:creationId xmlns:p14="http://schemas.microsoft.com/office/powerpoint/2010/main" val="2626697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4BFEA-1CF5-F0B7-C39A-F8FCA50B935D}"/>
              </a:ext>
            </a:extLst>
          </p:cNvPr>
          <p:cNvSpPr txBox="1">
            <a:spLocks/>
          </p:cNvSpPr>
          <p:nvPr/>
        </p:nvSpPr>
        <p:spPr>
          <a:xfrm>
            <a:off x="838200" y="365125"/>
            <a:ext cx="10515600" cy="6627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1" dirty="0"/>
              <a:t>Conclusion </a:t>
            </a:r>
            <a:br>
              <a:rPr lang="en-IN" sz="3600" b="1" dirty="0"/>
            </a:br>
            <a:endParaRPr lang="en-IN" sz="3600" b="1" dirty="0"/>
          </a:p>
        </p:txBody>
      </p:sp>
      <p:sp>
        <p:nvSpPr>
          <p:cNvPr id="3" name="Content Placeholder 10">
            <a:extLst>
              <a:ext uri="{FF2B5EF4-FFF2-40B4-BE49-F238E27FC236}">
                <a16:creationId xmlns:a16="http://schemas.microsoft.com/office/drawing/2014/main" id="{94F43F09-5DE9-DFBE-73CB-32B1660BAD27}"/>
              </a:ext>
            </a:extLst>
          </p:cNvPr>
          <p:cNvSpPr txBox="1">
            <a:spLocks/>
          </p:cNvSpPr>
          <p:nvPr/>
        </p:nvSpPr>
        <p:spPr>
          <a:xfrm>
            <a:off x="709863" y="947873"/>
            <a:ext cx="10515600" cy="265657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The GT-HAD model effectively resolved the "pixel mixing" challenge at high altitudes by using a dual-branch system to separate anomalous targets from complex backgrounds.</a:t>
            </a:r>
          </a:p>
          <a:p>
            <a:pPr algn="just"/>
            <a:r>
              <a:rPr lang="en-US" dirty="0"/>
              <a:t>The Auto-HAD framework demonstrated superior performance in background reconstruction through its Adaptive Weighted Loss, eliminating the need for prior ground-truth or labeled data.</a:t>
            </a:r>
            <a:endParaRPr lang="en-IN"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109B9D0D-3A56-F0DB-D5E4-9DABF50DF5D4}"/>
              </a:ext>
            </a:extLst>
          </p:cNvPr>
          <p:cNvSpPr txBox="1">
            <a:spLocks/>
          </p:cNvSpPr>
          <p:nvPr/>
        </p:nvSpPr>
        <p:spPr>
          <a:xfrm>
            <a:off x="838200" y="3416216"/>
            <a:ext cx="10515600" cy="57302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1" dirty="0"/>
              <a:t>Future Work</a:t>
            </a:r>
          </a:p>
        </p:txBody>
      </p:sp>
      <p:sp>
        <p:nvSpPr>
          <p:cNvPr id="9" name="Content Placeholder 10">
            <a:extLst>
              <a:ext uri="{FF2B5EF4-FFF2-40B4-BE49-F238E27FC236}">
                <a16:creationId xmlns:a16="http://schemas.microsoft.com/office/drawing/2014/main" id="{2B52DDE3-A01E-E626-4673-49906E87E0FC}"/>
              </a:ext>
            </a:extLst>
          </p:cNvPr>
          <p:cNvSpPr txBox="1">
            <a:spLocks/>
          </p:cNvSpPr>
          <p:nvPr/>
        </p:nvSpPr>
        <p:spPr>
          <a:xfrm>
            <a:off x="709863" y="3989244"/>
            <a:ext cx="10515600" cy="265657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Multi-Sensor Data Fusion: Incorporate and fuse hyperspectral data with SAR (Synthetic Aperture Radar) or thermal imaging to enable detection through clouds, smoke, or night-time conditions.</a:t>
            </a:r>
          </a:p>
          <a:p>
            <a:pPr algn="just"/>
            <a:r>
              <a:rPr lang="en-US" dirty="0"/>
              <a:t>Explainable AI (XAI) in HAD: Develop visualization modules to interpret </a:t>
            </a:r>
            <a:r>
              <a:rPr lang="en-US" i="1" dirty="0"/>
              <a:t>why</a:t>
            </a:r>
            <a:r>
              <a:rPr lang="en-US" dirty="0"/>
              <a:t> a specific pixel was flagged as an anomaly, identifying which specific spectral bands contributed most to the detection.</a:t>
            </a:r>
          </a:p>
          <a:p>
            <a:pPr algn="just"/>
            <a:endParaRPr lang="en-US" dirty="0"/>
          </a:p>
        </p:txBody>
      </p:sp>
    </p:spTree>
    <p:extLst>
      <p:ext uri="{BB962C8B-B14F-4D97-AF65-F5344CB8AC3E}">
        <p14:creationId xmlns:p14="http://schemas.microsoft.com/office/powerpoint/2010/main" val="2248707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D06F0-79E9-A90F-9015-EC69EF1251CE}"/>
              </a:ext>
            </a:extLst>
          </p:cNvPr>
          <p:cNvSpPr>
            <a:spLocks noGrp="1"/>
          </p:cNvSpPr>
          <p:nvPr>
            <p:ph type="title"/>
          </p:nvPr>
        </p:nvSpPr>
        <p:spPr>
          <a:xfrm>
            <a:off x="0" y="0"/>
            <a:ext cx="10515600" cy="1325563"/>
          </a:xfrm>
        </p:spPr>
        <p:txBody>
          <a:bodyPr/>
          <a:lstStyle/>
          <a:p>
            <a:pPr algn="ctr"/>
            <a:r>
              <a:rPr lang="en-US" b="1" dirty="0"/>
              <a:t>References</a:t>
            </a:r>
            <a:endParaRPr lang="en-IN" b="1" dirty="0"/>
          </a:p>
        </p:txBody>
      </p:sp>
      <p:sp>
        <p:nvSpPr>
          <p:cNvPr id="3" name="Content Placeholder 2">
            <a:extLst>
              <a:ext uri="{FF2B5EF4-FFF2-40B4-BE49-F238E27FC236}">
                <a16:creationId xmlns:a16="http://schemas.microsoft.com/office/drawing/2014/main" id="{01839EB7-9E1D-F3FC-A1BF-D2CCD7821344}"/>
              </a:ext>
            </a:extLst>
          </p:cNvPr>
          <p:cNvSpPr>
            <a:spLocks noGrp="1"/>
          </p:cNvSpPr>
          <p:nvPr>
            <p:ph idx="1"/>
          </p:nvPr>
        </p:nvSpPr>
        <p:spPr>
          <a:xfrm>
            <a:off x="691055" y="943823"/>
            <a:ext cx="10515600" cy="5433828"/>
          </a:xfrm>
        </p:spPr>
        <p:txBody>
          <a:bodyPr>
            <a:noAutofit/>
          </a:bodyPr>
          <a:lstStyle/>
          <a:p>
            <a:pPr marL="0" indent="0" algn="just">
              <a:buNone/>
            </a:pPr>
            <a:r>
              <a:rPr lang="en-IN" sz="1800" dirty="0"/>
              <a:t>[1] J. Xiang, T. Wang, P. Wang, C. Chen, N. Wang, J. Cao, and Q. Wang, “Synergistic Kolmogorov–Arnold Networks and Fidelity-Gated Transformer for Hyperspectral Anomaly Detection,” Remote Sens., vol. 17, Art. no. 3981, 2025, </a:t>
            </a:r>
            <a:r>
              <a:rPr lang="en-IN" sz="1800" dirty="0" err="1"/>
              <a:t>doi</a:t>
            </a:r>
            <a:r>
              <a:rPr lang="en-IN" sz="1800" dirty="0"/>
              <a:t>: 10.3390/rs17033981.</a:t>
            </a:r>
          </a:p>
          <a:p>
            <a:pPr marL="0" indent="0" algn="just">
              <a:buNone/>
            </a:pPr>
            <a:r>
              <a:rPr lang="en-IN" sz="1800" dirty="0"/>
              <a:t>[2] J. Zhang, P. Xiang, X. Teng, D. Zhao, H. Li, J. Song, H. Zhou, and W. Tan, “Enhancing hyperspectral anomaly detection with a novel differential network approach for precision and robust background suppression,” Remote Sens., vol. 16, no. 3, Art. no. 434, 2024, </a:t>
            </a:r>
            <a:r>
              <a:rPr lang="en-IN" sz="1800" dirty="0" err="1"/>
              <a:t>doi</a:t>
            </a:r>
            <a:r>
              <a:rPr lang="en-IN" sz="1800" dirty="0"/>
              <a:t>: 10.3390/rs16030434.</a:t>
            </a:r>
          </a:p>
          <a:p>
            <a:pPr marL="0" indent="0" algn="just">
              <a:buNone/>
            </a:pPr>
            <a:r>
              <a:rPr lang="en-IN" sz="1800" dirty="0"/>
              <a:t>[3] Q. Guo, Y. Cen, L. Zhang, Y. Zhang, S. Hu, and X. Liu, “Robust multi-stage progressive autoencoder for hyperspectral anomaly detection,” Int. J. Appl. Earth Obs. </a:t>
            </a:r>
            <a:r>
              <a:rPr lang="en-IN" sz="1800" dirty="0" err="1"/>
              <a:t>Geoinf</a:t>
            </a:r>
            <a:r>
              <a:rPr lang="en-IN" sz="1800" dirty="0"/>
              <a:t>., vol. 134, Art. no. 104200, 2024. </a:t>
            </a:r>
            <a:r>
              <a:rPr lang="en-IN" sz="1800" dirty="0" err="1"/>
              <a:t>idhi</a:t>
            </a:r>
            <a:r>
              <a:rPr lang="en-IN" sz="1800" dirty="0"/>
              <a:t> correct one</a:t>
            </a:r>
          </a:p>
          <a:p>
            <a:pPr marL="0" indent="0" algn="just">
              <a:buNone/>
            </a:pPr>
            <a:r>
              <a:rPr lang="en-US" sz="1800" dirty="0"/>
              <a:t>[4]S. Chen, X. Li, and Y. Yan, “Hyperspectral anomaly detection with auto-encoder and independent target,” Remote Sensing, vol. 15, no. 22, p. 5266, 2023.</a:t>
            </a:r>
            <a:endParaRPr lang="en-IN" sz="1800" dirty="0"/>
          </a:p>
          <a:p>
            <a:pPr marL="0" indent="0" algn="just">
              <a:buNone/>
            </a:pPr>
            <a:r>
              <a:rPr lang="en-IN" sz="1800" dirty="0"/>
              <a:t>[5] Z. Wu and B. Wang, “Background Reconstruction via 3D-Transformer Network for Hyperspectral Anomaly Detection,” Remote Sens., vol. 15, Art. no. 4592, 2023, </a:t>
            </a:r>
            <a:r>
              <a:rPr lang="en-IN" sz="1800" dirty="0" err="1"/>
              <a:t>doi</a:t>
            </a:r>
            <a:r>
              <a:rPr lang="en-IN" sz="1800" dirty="0"/>
              <a:t>: 10.3390/rs15194592.</a:t>
            </a:r>
          </a:p>
          <a:p>
            <a:pPr marL="0" indent="0" algn="just">
              <a:buNone/>
            </a:pPr>
            <a:r>
              <a:rPr lang="en-IN" sz="1800" dirty="0"/>
              <a:t>[6] S. Sun, J. Liu, Z. Zhang, and W. Li, “Hyperspectral anomaly detection based on adaptive low-rank transformed tensor,” IEEE Trans. Neural </a:t>
            </a:r>
            <a:r>
              <a:rPr lang="en-IN" sz="1800" dirty="0" err="1"/>
              <a:t>Netw</a:t>
            </a:r>
            <a:r>
              <a:rPr lang="en-IN" sz="1800" dirty="0"/>
              <a:t>. Learn. Syst., early access, Jan. 24, 2023, </a:t>
            </a:r>
            <a:r>
              <a:rPr lang="en-IN" sz="1800" dirty="0" err="1"/>
              <a:t>doi</a:t>
            </a:r>
            <a:r>
              <a:rPr lang="en-IN" sz="1800" dirty="0"/>
              <a:t>: 10.1109/TNNLS.2023.3236641.</a:t>
            </a:r>
          </a:p>
          <a:p>
            <a:pPr marL="0" indent="0" algn="just">
              <a:buNone/>
            </a:pPr>
            <a:r>
              <a:rPr lang="en-US" sz="1800" dirty="0"/>
              <a:t>[7] L. Gao, D. Wang, L. Zhuang, X. Sun, M. Huang, and A. Plaza, “BS³LNet: A new blind-spot self-supervised learning network for hyperspectral anomaly detection,” IEEE Trans. </a:t>
            </a:r>
            <a:r>
              <a:rPr lang="en-US" sz="1800" dirty="0" err="1"/>
              <a:t>Geosci</a:t>
            </a:r>
            <a:r>
              <a:rPr lang="en-US" sz="1800" dirty="0"/>
              <a:t>. Remote Sens., vol. 61, 2023, Art. no. 5504218.</a:t>
            </a:r>
          </a:p>
          <a:p>
            <a:pPr marL="0" indent="0" algn="just">
              <a:buNone/>
            </a:pPr>
            <a:endParaRPr lang="en-IN" sz="1800" b="1" dirty="0"/>
          </a:p>
        </p:txBody>
      </p:sp>
    </p:spTree>
    <p:extLst>
      <p:ext uri="{BB962C8B-B14F-4D97-AF65-F5344CB8AC3E}">
        <p14:creationId xmlns:p14="http://schemas.microsoft.com/office/powerpoint/2010/main" val="1988906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9C364-F20B-DD8D-714B-D98651385F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327B87-66BC-B051-8D68-51D26F15B104}"/>
              </a:ext>
            </a:extLst>
          </p:cNvPr>
          <p:cNvSpPr>
            <a:spLocks noGrp="1"/>
          </p:cNvSpPr>
          <p:nvPr>
            <p:ph idx="1"/>
          </p:nvPr>
        </p:nvSpPr>
        <p:spPr>
          <a:xfrm>
            <a:off x="658970" y="712086"/>
            <a:ext cx="10618629" cy="5433828"/>
          </a:xfrm>
        </p:spPr>
        <p:txBody>
          <a:bodyPr>
            <a:noAutofit/>
          </a:bodyPr>
          <a:lstStyle/>
          <a:p>
            <a:pPr marL="0" indent="0" algn="just">
              <a:buNone/>
            </a:pPr>
            <a:r>
              <a:rPr lang="en-IN" sz="1800" dirty="0"/>
              <a:t>[8] </a:t>
            </a:r>
            <a:r>
              <a:rPr lang="en-US" sz="1800" dirty="0"/>
              <a:t>A. Pant et al., “Hyperspectral Anomaly Detection Methods: A Survey and Comparative Study,” </a:t>
            </a:r>
            <a:r>
              <a:rPr lang="en-US" sz="1800" dirty="0" err="1"/>
              <a:t>arXiv</a:t>
            </a:r>
            <a:r>
              <a:rPr lang="en-US" sz="1800" dirty="0"/>
              <a:t> preprint, arXiv:2507.05730, 2025.</a:t>
            </a:r>
            <a:endParaRPr lang="en-IN" sz="1800" dirty="0"/>
          </a:p>
          <a:p>
            <a:pPr marL="0" indent="0" algn="just">
              <a:buNone/>
            </a:pPr>
            <a:r>
              <a:rPr lang="en-IN" sz="1800" dirty="0"/>
              <a:t>[9] </a:t>
            </a:r>
            <a:r>
              <a:rPr lang="en-US" sz="1800" dirty="0"/>
              <a:t>Y. Liu et al., “Hyperspectral Anomaly Detection with Self-Supervised Anomaly Prior,” </a:t>
            </a:r>
            <a:r>
              <a:rPr lang="en-US" sz="1800" dirty="0" err="1"/>
              <a:t>arXiv</a:t>
            </a:r>
            <a:r>
              <a:rPr lang="en-US" sz="1800" dirty="0"/>
              <a:t> preprint, arXiv:2404.13342, 2024.</a:t>
            </a:r>
            <a:endParaRPr lang="en-IN" sz="1800" dirty="0"/>
          </a:p>
          <a:p>
            <a:pPr marL="0" indent="0" algn="just">
              <a:buNone/>
            </a:pPr>
            <a:r>
              <a:rPr lang="en-IN" sz="1800" dirty="0"/>
              <a:t>[10] </a:t>
            </a:r>
            <a:r>
              <a:rPr lang="en-US" sz="1800" dirty="0"/>
              <a:t>M. Wang et al., “Learning tensor low-rank representation for hyperspectral anomaly detection,” IEEE Trans. Cybernetics, vol. 53, no. 1, pp. 679–691, Jan. 2023.</a:t>
            </a:r>
            <a:endParaRPr lang="en-IN" sz="1800" dirty="0"/>
          </a:p>
          <a:p>
            <a:pPr marL="0" indent="0" algn="just">
              <a:buNone/>
            </a:pPr>
            <a:r>
              <a:rPr lang="en-US" sz="1800" dirty="0"/>
              <a:t>[11] B. Tu et al., “Hyperspectral anomaly detection using reconstruction fusion of quaternion frequency domain analysis,” IEEE Trans. Neural </a:t>
            </a:r>
            <a:r>
              <a:rPr lang="en-US" sz="1800" dirty="0" err="1"/>
              <a:t>Netw</a:t>
            </a:r>
            <a:r>
              <a:rPr lang="en-US" sz="1800" dirty="0"/>
              <a:t>. Learn. Syst., 2023, </a:t>
            </a:r>
            <a:r>
              <a:rPr lang="en-US" sz="1800" dirty="0" err="1"/>
              <a:t>doi</a:t>
            </a:r>
            <a:r>
              <a:rPr lang="en-US" sz="1800" dirty="0"/>
              <a:t>: 10.1109/TNNLS.2022.322716</a:t>
            </a:r>
          </a:p>
          <a:p>
            <a:pPr marL="0" indent="0" algn="just">
              <a:buNone/>
            </a:pPr>
            <a:r>
              <a:rPr lang="en-IN" sz="1800" dirty="0"/>
              <a:t>[12] </a:t>
            </a:r>
            <a:r>
              <a:rPr lang="en-US" sz="1800" dirty="0"/>
              <a:t> Y. Ma, S. Cai, and J. Zhou, “Adaptive reference-related graph embedding for hyperspectral anomaly detection,” IEEE Trans. </a:t>
            </a:r>
            <a:r>
              <a:rPr lang="en-US" sz="1800" dirty="0" err="1"/>
              <a:t>Geosci</a:t>
            </a:r>
            <a:r>
              <a:rPr lang="en-US" sz="1800" dirty="0"/>
              <a:t>. Remote Sens., vol. 61, Art. no. 5504514, 2023.</a:t>
            </a:r>
            <a:endParaRPr lang="en-IN" sz="1800" dirty="0"/>
          </a:p>
          <a:p>
            <a:pPr marL="0" indent="0" algn="just">
              <a:buNone/>
            </a:pPr>
            <a:r>
              <a:rPr lang="en-IN" sz="1800" dirty="0"/>
              <a:t>[13] </a:t>
            </a:r>
            <a:r>
              <a:rPr lang="en-US" sz="1800" dirty="0"/>
              <a:t>L. Li et al., “Prior-based tensor approximation for anomaly detection in hyperspectral imagery,” IEEE Trans. Neural </a:t>
            </a:r>
            <a:r>
              <a:rPr lang="en-US" sz="1800" dirty="0" err="1"/>
              <a:t>Netw</a:t>
            </a:r>
            <a:r>
              <a:rPr lang="en-US" sz="1800" dirty="0"/>
              <a:t>. Learn. Syst., vol. 33, no. 3, pp. 1037–1050, Mar. 2022.</a:t>
            </a:r>
            <a:endParaRPr lang="en-IN" sz="1800" dirty="0"/>
          </a:p>
          <a:p>
            <a:pPr marL="0" indent="0" algn="just">
              <a:buNone/>
            </a:pPr>
            <a:r>
              <a:rPr lang="en-US" sz="1800" dirty="0"/>
              <a:t>[14] J. Liu et al., “Multipixel anomaly detection with unknown patterns for hyperspectral imagery,” IEEE Trans. Neural </a:t>
            </a:r>
            <a:r>
              <a:rPr lang="en-US" sz="1800" dirty="0" err="1"/>
              <a:t>Netw</a:t>
            </a:r>
            <a:r>
              <a:rPr lang="en-US" sz="1800" dirty="0"/>
              <a:t>. Learn. Syst., vol. 33, no. 10, pp. 5557–5567, Oct. 2022.</a:t>
            </a:r>
          </a:p>
          <a:p>
            <a:pPr marL="0" indent="0" algn="just">
              <a:buNone/>
            </a:pPr>
            <a:r>
              <a:rPr lang="en-US" sz="1800" dirty="0"/>
              <a:t>[15] H. Chen, G. Yang, and H. Zhang, “Hider: A hyperspectral image denoising transformer with spatial–spectral constraints,” IEEE Trans. Neural </a:t>
            </a:r>
            <a:r>
              <a:rPr lang="en-US" sz="1800" dirty="0" err="1"/>
              <a:t>Netw</a:t>
            </a:r>
            <a:r>
              <a:rPr lang="en-US" sz="1800" dirty="0"/>
              <a:t>. Learn. Syst., 2022.</a:t>
            </a:r>
            <a:endParaRPr lang="en-IN" sz="1800" dirty="0"/>
          </a:p>
          <a:p>
            <a:pPr marL="0" indent="0" algn="just">
              <a:buNone/>
            </a:pPr>
            <a:r>
              <a:rPr lang="en-US" sz="1800" dirty="0"/>
              <a:t>[16] L. Fang et al., “Context enhancing representation for semantic segmentation in remote sensing images,” IEEE Trans. Neural </a:t>
            </a:r>
            <a:r>
              <a:rPr lang="en-US" sz="1800" dirty="0" err="1"/>
              <a:t>Netw</a:t>
            </a:r>
            <a:r>
              <a:rPr lang="en-US" sz="1800" dirty="0"/>
              <a:t>. Learn. Syst., 2022.</a:t>
            </a:r>
            <a:endParaRPr lang="en-IN" sz="1800" dirty="0"/>
          </a:p>
          <a:p>
            <a:pPr marL="0" indent="0">
              <a:buNone/>
            </a:pPr>
            <a:endParaRPr lang="en-IN" sz="1800" dirty="0"/>
          </a:p>
          <a:p>
            <a:pPr marL="0" indent="0" algn="just">
              <a:buNone/>
            </a:pPr>
            <a:endParaRPr lang="en-IN" sz="1800" b="1" dirty="0"/>
          </a:p>
        </p:txBody>
      </p:sp>
    </p:spTree>
    <p:extLst>
      <p:ext uri="{BB962C8B-B14F-4D97-AF65-F5344CB8AC3E}">
        <p14:creationId xmlns:p14="http://schemas.microsoft.com/office/powerpoint/2010/main" val="1399682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TotalTime>
  <Words>2910</Words>
  <Application>Microsoft Office PowerPoint</Application>
  <PresentationFormat>Widescreen</PresentationFormat>
  <Paragraphs>314</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AngsanaUPC</vt:lpstr>
      <vt:lpstr>Arial</vt:lpstr>
      <vt:lpstr>Calibri</vt:lpstr>
      <vt:lpstr>Calibri Light</vt:lpstr>
      <vt:lpstr>Cambria Math</vt:lpstr>
      <vt:lpstr>Times New Roman</vt:lpstr>
      <vt:lpstr>Office Theme</vt:lpstr>
      <vt:lpstr>PowerPoint Presentation</vt:lpstr>
      <vt:lpstr>Agenda</vt:lpstr>
      <vt:lpstr>MINI-2 Introduction and Motivation</vt:lpstr>
      <vt:lpstr>Problem Statement</vt:lpstr>
      <vt:lpstr>Objectives and Outcomes</vt:lpstr>
      <vt:lpstr>PowerPoint Presentation</vt:lpstr>
      <vt:lpstr>PowerPoint Presentation</vt:lpstr>
      <vt:lpstr>PowerPoint Presentation</vt:lpstr>
      <vt:lpstr>Datasets and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steps and Execution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228w1a12e4@vrsec.ac.in</dc:creator>
  <cp:lastModifiedBy>228w1a12e4@vrsec.ac.in</cp:lastModifiedBy>
  <cp:revision>6</cp:revision>
  <dcterms:created xsi:type="dcterms:W3CDTF">2026-04-12T11:29:58Z</dcterms:created>
  <dcterms:modified xsi:type="dcterms:W3CDTF">2026-04-18T16:19:17Z</dcterms:modified>
</cp:coreProperties>
</file>